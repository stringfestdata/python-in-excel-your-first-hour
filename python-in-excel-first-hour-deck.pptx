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2A4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WORKSHOP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737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A43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Python in Excel: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457200" y="26060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First Hour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a real dataset · Explore it with pandas · Build a chart Excel can't touch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4526280"/>
            <a:ext cx="1463040" cy="73152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is for you if…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8046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You've heard the words "Python in Excel" but haven't typed </a:t>
            </a:r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=PY(</a:t>
            </a:r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yet.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You're comfortable in Excel — formulas, tables, PivotTables — but the next step feels intimidating.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want to leave the next hour having </a:t>
            </a:r>
            <a:pPr indent="0" marL="0">
              <a:spcAft>
                <a:spcPts val="600"/>
              </a:spcAft>
              <a:buNone/>
            </a:pPr>
            <a:r>
              <a:rPr lang="en-US" sz="2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done it</a:t>
            </a:r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just watched a demo.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43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By minute 60, you will have…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554480"/>
            <a:ext cx="26974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A43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your first PY() cell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Hello-world inside Excel — and you'll know exactly why your A1 reference broke.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1554480"/>
            <a:ext cx="26974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6120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A43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3429000" y="2468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Profiled a real dataset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429000" y="306324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sales orders, six pandas moves, fewer formulas than you'd guess.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554480"/>
            <a:ext cx="26974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645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2A43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6309360" y="2468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 chart that earns gasps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309360" y="306324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correlation heatmap in one line of code. Try doing that natively.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Python in Excel exists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…and when to reach for it instead of formulas or Power Query.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minutes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Where formulas start to feel cumbersome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Excel's grid is brilliant. Some tasks just don't fit on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664208"/>
            <a:ext cx="137160" cy="13716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Counting missing values across every column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Excel: nested COUNTBLANK per column.</a:t>
            </a:r>
            <a:pPr indent="0" marL="0">
              <a:buNone/>
            </a:pPr>
            <a:r>
              <a:rPr lang="en-US" sz="1300" b="1" dirty="0">
                <a:solidFill>
                  <a:srgbClr val="2A4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|   </a:t>
            </a:r>
            <a:pPr indent="0" marL="0">
              <a:buNone/>
            </a:pPr>
            <a:r>
              <a:rPr lang="en-US" sz="1300" i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pandas: sales_df.isna().sum()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441448"/>
            <a:ext cx="137160" cy="13716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3317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Resampling and rolling-window time series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Excel: heroic helper columns.</a:t>
            </a:r>
            <a:pPr indent="0" marL="0">
              <a:buNone/>
            </a:pPr>
            <a:r>
              <a:rPr lang="en-US" sz="1300" b="1" dirty="0">
                <a:solidFill>
                  <a:srgbClr val="2A4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|   </a:t>
            </a:r>
            <a:pPr indent="0" marL="0">
              <a:buNone/>
            </a:pPr>
            <a:r>
              <a:rPr lang="en-US" sz="1300" i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pandas: one .resample() call.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218688"/>
            <a:ext cx="137160" cy="13716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108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multiples, jitter plots, heatmaps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Excel: not really.</a:t>
            </a:r>
            <a:pPr indent="0" marL="0">
              <a:buNone/>
            </a:pPr>
            <a:r>
              <a:rPr lang="en-US" sz="1300" b="1" dirty="0">
                <a:solidFill>
                  <a:srgbClr val="2A4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|   </a:t>
            </a:r>
            <a:pPr indent="0" marL="0">
              <a:buNone/>
            </a:pPr>
            <a:r>
              <a:rPr lang="en-US" sz="1300" i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seaborn: one line.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95928"/>
            <a:ext cx="137160" cy="13716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8862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Multi-variable descriptive statistics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Excel: Analysis ToolPak round-trip.</a:t>
            </a:r>
            <a:pPr indent="0" marL="0">
              <a:buNone/>
            </a:pPr>
            <a:r>
              <a:rPr lang="en-US" sz="1300" b="1" dirty="0">
                <a:solidFill>
                  <a:srgbClr val="2A4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|   </a:t>
            </a:r>
            <a:pPr indent="0" marL="0">
              <a:buNone/>
            </a:pPr>
            <a:r>
              <a:rPr lang="en-US" sz="1300" i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pandas: .describe()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to reach for what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tools, three jobs. They are not competitors.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2697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2697480" cy="109728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7830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Formulas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lookups, references, ad-hoc math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6517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when the answer lives in nearby cells.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XLOOKUP, IF, SUMIFS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Cell-anchored logic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Volatile recalc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554480"/>
            <a:ext cx="2697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6120" y="1554480"/>
            <a:ext cx="2697480" cy="109728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17830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Query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8328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 data prep &amp; connections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83280" y="26517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when the same prep runs again next month.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29000" y="32918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Connect &amp; combine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Clean &amp; shape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Refresh on demand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554480"/>
            <a:ext cx="2697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1554480"/>
            <a:ext cx="2697480" cy="109728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178308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Python in Excel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26364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Analysis, stats, custom viz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63640" y="26517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when you need pandas, seaborn, or statsmodels.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9360" y="329184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DataFrames &amp; groupby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Heatmaps, pairplots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One-line summaries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Hello, world — in a cell.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PY() cell works · output modes · the calc-order gotcha.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minutes  •  open ch_01.xlsx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insert a PY() cell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whichever feels least like work.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6916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A43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02920" y="26060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Ribbon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30175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Formulas tab → Insert Python.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931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discoverable one.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6120" y="16916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A43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6400" dirty="0"/>
          </a:p>
        </p:txBody>
      </p:sp>
      <p:sp>
        <p:nvSpPr>
          <p:cNvPr id="11" name="Text 9"/>
          <p:cNvSpPr/>
          <p:nvPr/>
        </p:nvSpPr>
        <p:spPr>
          <a:xfrm>
            <a:off x="3383280" y="26060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Type it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383280" y="30175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=PY(  in any cell.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83280" y="3931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you trust it.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2648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16916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2A43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6400" dirty="0"/>
          </a:p>
        </p:txBody>
      </p:sp>
      <p:sp>
        <p:nvSpPr>
          <p:cNvPr id="16" name="Text 14"/>
          <p:cNvSpPr/>
          <p:nvPr/>
        </p:nvSpPr>
        <p:spPr>
          <a:xfrm>
            <a:off x="6263640" y="260604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Keyboard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263640" y="3017520"/>
            <a:ext cx="2423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 + Alt + Shift + P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393192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you're showing off.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for the green PY badge in the cell + formula bar — that's your confirmation.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ways to see your output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Toggle: Ctrl + Alt + Shift + M  (or click the icon left of the formula bar)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4023360" cy="41148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5727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Python Object  (default)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a card icon, dimensions, preview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Stays in one cell — no spill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mid-analysis: chain operations on it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like a linked data type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554480"/>
            <a:ext cx="4023360" cy="411480"/>
          </a:xfrm>
          <a:prstGeom prst="rect">
            <a:avLst/>
          </a:prstGeom>
          <a:solidFill>
            <a:srgbClr val="1A202C"/>
          </a:solidFill>
          <a:ln w="12700">
            <a:solidFill>
              <a:srgbClr val="1A202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5727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Excel Value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6320" y="2057400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Spills into the grid as a dynamic array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with normal Excel tools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at the end: hand-off to formulas / charts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it like any spilled range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43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one gotcha that will trip you 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in Excel runs cells left-to-right, top-to-bottom — like reading a page.</a:t>
            </a:r>
            <a:endParaRPr lang="en-US" sz="1500" dirty="0"/>
          </a:p>
        </p:txBody>
      </p:sp>
      <p:pic>
        <p:nvPicPr>
          <p:cNvPr id="4" name="Image 0" descr="/sessions/festive-gallant-bohr/mnt/outputs/images/calc-or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5029200" cy="3108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0" y="1554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define my_object in B2, you can reference it in: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669280" y="196596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cell to the right of B2 in row 2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cell in rows 3, 4, 5, …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 row 1 — A1 throws #PYTHON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669280" y="3383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move: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669280" y="36576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your imports and variables in the top-left. Build down and right.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Exploring a real dataset with pandas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orders. Six methods. Zero pivot tables.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25 minutes  •  switch to ch_02.xlsx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1: Get the data into a DataFrame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the range to an Excel Table first (Insert → Table). Name 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137160" cy="137160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91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 = xl("sales[#All]", headers=True)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to notice: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xl() is the bridge from a worksheet range/table into Python.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headers=True is auto-added when you point it at a table — keep it.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Returning the DataFrame on its own line shows the data card preview.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Profile in 30 seconds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moves before you do anything serious.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2918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45920"/>
            <a:ext cx="91440" cy="50292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45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sales_df.head()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931920" y="16459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5 rows. Sanity check that it loaded.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359152"/>
            <a:ext cx="32918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59152"/>
            <a:ext cx="91440" cy="50292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3591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sales_df.tail()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235915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5. Sanity check the bottom (often messier).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072384"/>
            <a:ext cx="32918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3072384"/>
            <a:ext cx="91440" cy="50292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072384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sales_df.sample(5)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931920" y="3072384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5. Catches issues a head/tail can hide.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32918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785616"/>
            <a:ext cx="91440" cy="50292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78561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sales_df.shape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931920" y="3785616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 × columns. Mine for today: (200, 7).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more profiling wins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4023360" cy="41148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describe()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stats in one shot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3749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sales_df.describe()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sales_df.describe(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percentiles=[.1, .5, .9])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sales_df.describe(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exclude='number')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3434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Numeric by default. exclude='number' for text columns.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188720"/>
            <a:ext cx="4023360" cy="41148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2161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isna().sum()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values per column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2148840"/>
            <a:ext cx="3749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sales_df.isna().sum()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as a 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sales_df.isna().sum() / len(sales_df)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sort &amp; chain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(sales_df.isna().sum()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.sort_values(ascending=False))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4160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customer_age has six gaps — perfect teaching moment.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Counting categories: value_counts()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PivotTable replacement for frequency.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40233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137160" cy="301752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sales_df['country']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.value_counts()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proportions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sales_df['category']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.value_counts(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normalize=True)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554480"/>
            <a:ext cx="40233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16276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output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0" y="20116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States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0" y="2011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43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77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37760" y="24231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498080" y="24231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43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28346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98080" y="2834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43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32461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Canada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98080" y="32461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43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937760" y="3657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498080" y="3657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436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groupby() — the PivotTable, in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→ apply → combine.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82296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137160" cy="265176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7680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Average price by country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sales_df.groupby('country')['unit_price'].mean()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Multiple stats at once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sales_df.groupby('country')['unit_price'].agg(['mean','min','max'])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Group by two columns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sales_df.groupby(['country','category'])['unit_price'].mean()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an Excel PivotTable — except you can chain it, filter it, and feed it into a chart.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Stitching it together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average price by category — but only in the US — sorted high to low?"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82296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45920"/>
            <a:ext cx="137160" cy="274320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74520"/>
            <a:ext cx="7680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 = sales_df[sales_df['country'] == 'United States']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by_cat = us.groupby('category')['unit_price'].mean()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by_cat.sort_values(ascending=False)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→ group → sort. Same shape as an Excel workflow, just spelled in code.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274320" y="2011680"/>
            <a:ext cx="8595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chart that earns gasps.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correlation heatmap. In one line of code.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 minutes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whole recipe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6576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137160" cy="329184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25880"/>
            <a:ext cx="32461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seaborn as sns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sales_df['revenue'] = 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sales_df['unit_price']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sales_df['quantity']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sns.heatmap(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sales_df.corr(numeric_only=True),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annot=True,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cmap='RdBu_r',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center=0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200" dirty="0"/>
          </a:p>
        </p:txBody>
      </p:sp>
      <p:pic>
        <p:nvPicPr>
          <p:cNvPr id="6" name="Image 0" descr="/sessions/festive-gallant-bohr/mnt/outputs/images/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188720"/>
            <a:ext cx="4572000" cy="3291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2A4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lines. A chart you'd lose 20 minutes to in native Excel.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Bonus flourish, if we have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554480"/>
            <a:ext cx="137160" cy="128016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0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sns.pairplot(sales_df, hue='category')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line. Every numeric variable plotted against every other one, color-coded by category.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pairplots render slowly in cloud-backed PY() cells. Show, don't dwell.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4206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2A4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Excel charts feel ceremonial, seaborn one-liners feel like cheating.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63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5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Where to go from here.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list · my book · the cheat sheet you'll get.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 this further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2697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71600"/>
            <a:ext cx="2697480" cy="36576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3990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DOCS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874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Microsoft's Python in Excel docs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source of truth for available packages, version requirements, and the latest features. The platform is still moving fast — bookmark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4389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A4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learn.microsoft.com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46120" y="1371600"/>
            <a:ext cx="2697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371600"/>
            <a:ext cx="2697480" cy="36576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13990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29000" y="1874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Today's workbooks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429000" y="278892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 files from this workshop are yours to keep. Re-run the demos in your own time, then point xl() at one of your own tables and see what falls out.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29000" y="4389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A4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your inbox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371600"/>
            <a:ext cx="269748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1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1371600"/>
            <a:ext cx="2697480" cy="365760"/>
          </a:xfrm>
          <a:prstGeom prst="rect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3990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DEEPER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09360" y="1874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Python in Excel for Data Analytics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309360" y="278892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Packt book this workshop is built from. Chapters 1–2 cover today's material; later chapters take it through EDA, regression, and time series.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309360" y="4389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A43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Packt, 2026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02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things to remember tomorrow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yourself the support ticket.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640080" cy="640080"/>
          </a:xfrm>
          <a:prstGeom prst="ellipse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Cells run top-left to bottom-right.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80160" y="19202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reference a variable in a cell above or to the left of where it's defined, you'll get #PYTHON. Put your imports in the top-left and build down.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560320"/>
            <a:ext cx="640080" cy="640080"/>
          </a:xfrm>
          <a:prstGeom prst="ellipse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80160" y="25603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runs in the cloud.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80160" y="29260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internet, no PY(). And don't expect web-scraping or local file I/O — you can only pull data from inside the workbook.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66160"/>
            <a:ext cx="640080" cy="640080"/>
          </a:xfrm>
          <a:prstGeom prst="ellipse">
            <a:avLst/>
          </a:prstGeom>
          <a:solidFill>
            <a:srgbClr val="2A4365"/>
          </a:solidFill>
          <a:ln w="12700">
            <a:solidFill>
              <a:srgbClr val="2A436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80160" y="35661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is Python Object, not Excel Value.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80160" y="39319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want the data to spill into the grid, toggle: Ctrl + Alt + Shift + M. Otherwise you'll think nothing happened.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2A436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Questions?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them in chat — we'll work through as many as we can.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Cheat sheet + sample files in your inbox after we wrap.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in Excel: Your First Hour</dc:title>
  <dc:subject>PptxGenJS Presentation</dc:subject>
  <dc:creator>PptxGenJS</dc:creator>
  <cp:lastModifiedBy>PptxGenJS</cp:lastModifiedBy>
  <cp:revision>1</cp:revision>
  <dcterms:created xsi:type="dcterms:W3CDTF">2026-05-18T13:45:11Z</dcterms:created>
  <dcterms:modified xsi:type="dcterms:W3CDTF">2026-05-18T13:45:11Z</dcterms:modified>
</cp:coreProperties>
</file>