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80" r:id="rId2"/>
    <p:sldId id="281" r:id="rId3"/>
    <p:sldId id="282" r:id="rId4"/>
    <p:sldId id="283" r:id="rId5"/>
    <p:sldId id="284" r:id="rId6"/>
    <p:sldId id="285" r:id="rId7"/>
    <p:sldId id="286" r:id="rId8"/>
    <p:sldId id="287" r:id="rId9"/>
    <p:sldId id="288" r:id="rId10"/>
    <p:sldId id="289" r:id="rId11"/>
    <p:sldId id="290" r:id="rId12"/>
    <p:sldId id="291" r:id="rId13"/>
    <p:sldId id="292" r:id="rId14"/>
    <p:sldId id="293" r:id="rId15"/>
    <p:sldId id="294" r:id="rId16"/>
    <p:sldId id="295" r:id="rId17"/>
    <p:sldId id="296" r:id="rId18"/>
    <p:sldId id="297" r:id="rId19"/>
    <p:sldId id="298" r:id="rId20"/>
    <p:sldId id="299" r:id="rId21"/>
    <p:sldId id="300" r:id="rId22"/>
    <p:sldId id="301" r:id="rId23"/>
    <p:sldId id="302" r:id="rId24"/>
    <p:sldId id="303"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6391" autoAdjust="0"/>
  </p:normalViewPr>
  <p:slideViewPr>
    <p:cSldViewPr snapToGrid="0" snapToObjects="1">
      <p:cViewPr varScale="1">
        <p:scale>
          <a:sx n="64" d="100"/>
          <a:sy n="64" d="100"/>
        </p:scale>
        <p:origin x="912" y="3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312784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 glad you're here.</a:t>
            </a:r>
          </a:p>
          <a:p>
            <a:r>
              <a:rPr lang="en-US" dirty="0"/>
              <a:t>Over the next hour, we're going to do three things together. Load a real dataset into Excel. Explore it with pandas. And build a chart that honestly, Excel can't touch on its own.</a:t>
            </a:r>
          </a:p>
          <a:p>
            <a:r>
              <a:rPr lang="en-US" dirty="0"/>
              <a:t>This is a working session, not a lecture. By the end, you'll have actually written Python inside Excel — not just watched me do it.</a:t>
            </a:r>
          </a:p>
          <a:p>
            <a:r>
              <a:rPr lang="en-US" dirty="0"/>
              <a:t>Quick housekeeping before we start. Drop questions in the chat as we go. I'll batch them at the end of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sure you're in the right room.</a:t>
            </a:r>
          </a:p>
          <a:p>
            <a:r>
              <a:rPr lang="en-US" dirty="0"/>
              <a:t>If you've heard the words "Python in Excel" but you haven't actually typed equals P-Y open-paren yet — you're in the right room.</a:t>
            </a:r>
          </a:p>
          <a:p>
            <a:r>
              <a:rPr lang="en-US" dirty="0"/>
              <a:t>If you're comfortable in Excel — you know your way around formulas, tables, PivotTables — but that next step into Python feels intimidating — you're in the right room.</a:t>
            </a:r>
          </a:p>
          <a:p>
            <a:r>
              <a:rPr lang="en-US" dirty="0"/>
              <a:t>And if you want to leave this hour having actually done it, not just watched a demo — you are very much in the right room.</a:t>
            </a:r>
          </a:p>
          <a:p>
            <a:r>
              <a:rPr lang="en-US" dirty="0"/>
              <a:t>If none of those describe you, no judgment, but the next hour might be a little slow. For everyone else: let's 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success looks like at minute sixty.</a:t>
            </a:r>
          </a:p>
          <a:p>
            <a:r>
              <a:rPr lang="en-US" dirty="0"/>
              <a:t>First — you'll have written your first P-Y cell. Hello world, inside Excel. And just as importantly, you'll know why your A1 reference threw an error, because it will, and that surprises everyone the first time.</a:t>
            </a:r>
          </a:p>
          <a:p>
            <a:r>
              <a:rPr lang="en-US" dirty="0"/>
              <a:t>Second — you'll have profiled a real dataset. Two hundred sales orders, six pandas moves. Fewer formulas than you'd guess.</a:t>
            </a:r>
          </a:p>
          <a:p>
            <a:r>
              <a:rPr lang="en-US" dirty="0"/>
              <a:t>And third — you'll have built a chart that earns gasps. A correlation heatmap. One line of code. Try doing that natively in Excel — I'll wait.</a:t>
            </a:r>
          </a:p>
          <a:p>
            <a:r>
              <a:rPr lang="en-US" dirty="0"/>
              <a:t>Three concrete wins. Let's earn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About ten minutes.</a:t>
            </a:r>
          </a:p>
          <a:p>
            <a:r>
              <a:rPr lang="en-US" dirty="0"/>
              <a:t>Before we touch a single P-Y cell, I want to answer the obvious question — why does this thing even exist?</a:t>
            </a:r>
          </a:p>
          <a:p>
            <a:r>
              <a:rPr lang="en-US" dirty="0"/>
              <a:t>Excel already has formulas. It already has Power Query. So when does Python earn its place on the grid, and when is it the wrong tool? That's what the next few slides are about.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start by acknowledging something. The Excel grid is brilliant. I've made a career on it. I'm not here to bury Excel — I'm here to tell you where it starts to feel cumbersome.</a:t>
            </a:r>
          </a:p>
          <a:p>
            <a:r>
              <a:rPr lang="en-US" dirty="0"/>
              <a:t>Counting missing values across every column. In native Excel, that's a nested COUNTBLANK per column. In pandas, it's one line — sales-df dot is-na dot sum.</a:t>
            </a:r>
          </a:p>
          <a:p>
            <a:r>
              <a:rPr lang="en-US" dirty="0"/>
              <a:t>Resampling a time series into monthly buckets, or doing a rolling average. Native Excel — heroic helper columns. Pandas — one dot-resample call.</a:t>
            </a:r>
          </a:p>
          <a:p>
            <a:r>
              <a:rPr lang="en-US" dirty="0"/>
              <a:t>Small multiples, jitter plots, heatmaps. Native Excel — honestly, not really. Seaborn — one line.</a:t>
            </a:r>
          </a:p>
          <a:p>
            <a:r>
              <a:rPr lang="en-US" dirty="0"/>
              <a:t>Multi-variable descriptive stats. Native Excel pushes you into the Analysis ToolPak, which is a round-trip. Pandas — dot-describe. Done.</a:t>
            </a:r>
          </a:p>
          <a:p>
            <a:r>
              <a:rPr lang="en-US" dirty="0"/>
              <a:t>If you recognize any of these as a Monday-morning pain point — that's your reason to keep listening.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mental model I want you to leave with. Three tools, three jobs. They're not competitors — they live happily in the same workbook.</a:t>
            </a:r>
          </a:p>
          <a:p>
            <a:r>
              <a:rPr lang="en-US" dirty="0"/>
              <a:t>Formulas are for quick lookups, references, ad-hoc math. When the answer lives in nearby cells — XLOOKUP, IF, SUMIFS — formulas are the right call. Don't over-engineer it.</a:t>
            </a:r>
          </a:p>
          <a:p>
            <a:r>
              <a:rPr lang="en-US" dirty="0"/>
              <a:t>Power Query is for repeatable data prep and connections. The test I use — if the same prep is going to run again next month, that work belongs in Power Query, not in formulas you'll forget how to maintain.</a:t>
            </a:r>
          </a:p>
          <a:p>
            <a:r>
              <a:rPr lang="en-US" dirty="0"/>
              <a:t>And Python in Excel is for analysis, statistics, and custom visualization. When you need pandas, seaborn, or statsmodels — that's the green light to drop into a P-Y cell.</a:t>
            </a:r>
          </a:p>
          <a:p>
            <a:r>
              <a:rPr lang="en-US" dirty="0"/>
              <a:t>The skill is knowing which tool you're reaching for, and why. Today is about adding the third tool to that toolkit.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Hello world, in a cell. Another ten minutes or so.</a:t>
            </a:r>
          </a:p>
          <a:p>
            <a:r>
              <a:rPr lang="en-US" dirty="0"/>
              <a:t>If you haven't already, open the file called ch underscore zero one dot xlsx. That's the workbook we'll use for this section.</a:t>
            </a:r>
          </a:p>
          <a:p>
            <a:r>
              <a:rPr lang="en-US" dirty="0"/>
              <a:t>Three things to cover here. How a P-Y cell actually works. The two output modes — and how to switch between them. And one calculation-order gotcha that catches absolutely everyone the first time.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turn a cell into a P-Y cell. Use whichever one feels least like work.</a:t>
            </a:r>
          </a:p>
          <a:p>
            <a:r>
              <a:rPr lang="en-US" dirty="0"/>
              <a:t>Option one — the ribbon. Formulas tab, then Insert Python. This is the discoverable one. If you forget the others, you can always find this.</a:t>
            </a:r>
          </a:p>
          <a:p>
            <a:r>
              <a:rPr lang="en-US" dirty="0"/>
              <a:t>Option two — just type it. Equals, P, Y, open-paren. The cell flips into Python mode. Use this once you trust it.</a:t>
            </a:r>
          </a:p>
          <a:p>
            <a:r>
              <a:rPr lang="en-US" dirty="0"/>
              <a:t>Option three — the keyboard shortcut. Control, Alt, Shift, P. Four-finger chord. Use this once you're showing off.</a:t>
            </a:r>
          </a:p>
          <a:p>
            <a:r>
              <a:rPr lang="en-US" dirty="0"/>
              <a:t>However you get in, look for the little green P-Y badge — it shows up in the cell and in the formula bar. That's your confirmation you're in Python mode and not still typing a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you've written a P-Y cell, you've got a choice to make about how you want to see the result. There are two modes, and the toggle is Control, Alt, Shift, M. Or click the little icon just to the left of the formula bar.</a:t>
            </a:r>
          </a:p>
          <a:p>
            <a:r>
              <a:rPr lang="en-US" dirty="0"/>
              <a:t>Mode one — Python Object. This is the default. You'll see a card icon, the dimensions of the object, and a small preview. The whole thing stays inside one cell. It doesn't spill.</a:t>
            </a:r>
          </a:p>
          <a:p>
            <a:r>
              <a:rPr lang="en-US" dirty="0"/>
              <a:t>Why default to this? Because mid-analysis, you want the object to stay an object. You want to chain operations on it — group it, filter it, plot it. Think of it as a linked data type.</a:t>
            </a:r>
          </a:p>
          <a:p>
            <a:r>
              <a:rPr lang="en-US" dirty="0"/>
              <a:t>Mode two — Excel Value. This spills the result out into the grid as a dynamic array, just like a regular formula. Once it's spilled, you can format it with normal Excel tools, point a chart at it, reference it from another cell.</a:t>
            </a:r>
          </a:p>
          <a:p>
            <a:r>
              <a:rPr lang="en-US" dirty="0"/>
              <a:t>The rule of thumb — Python Object while you're working. Excel Value at the end, when you're handing the result back to the spreadsheet.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This is the one gotcha that will trip you up. I promise. It will happen — probably tonight when you go try this yourself.</a:t>
            </a:r>
          </a:p>
          <a:p>
            <a:r>
              <a:rPr lang="en-US" dirty="0"/>
              <a:t>Python in Excel runs your cells like you're reading a page. Left to right, top to bottom. That's the calc order.</a:t>
            </a:r>
          </a:p>
          <a:p>
            <a:r>
              <a:rPr lang="en-US" dirty="0"/>
              <a:t>Which means — if you define a variable in cell B2, you can reference it anywhere to the right of B2 in row 2. Or anywhere on rows 3, 4, 5, all the way down.</a:t>
            </a:r>
          </a:p>
          <a:p>
            <a:r>
              <a:rPr lang="en-US" dirty="0"/>
              <a:t>But you cannot reference it in row 1. And specifically you can't reference it in A1, because A1 runs before B2. You'll get a hashtag-PYTHON error, and you'll spend ten minutes wondering why your code is wrong. Your code isn't wrong. The cell is in the wrong place.</a:t>
            </a:r>
          </a:p>
          <a:p>
            <a:r>
              <a:rPr lang="en-US" dirty="0"/>
              <a:t>Recovery move — and this is what I do in every workbook — put your imports and your variables in the top-left of the sheet. Then build down and to the right. If you do that one thing, you avoid the entire problem.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The longest section — about twenty-five minutes. This is the real meat of the workshop.</a:t>
            </a:r>
          </a:p>
          <a:p>
            <a:r>
              <a:rPr lang="en-US" dirty="0"/>
              <a:t>Switch over to ch underscore zero two dot xlsx. That's the other workbook from your inbox.</a:t>
            </a:r>
          </a:p>
          <a:p>
            <a:r>
              <a:rPr lang="en-US" dirty="0"/>
              <a:t>Two hundred sales orders. Six pandas methods. And — I promise — zero pivot tables. By the end you'll have profiled a dataset you've never seen, and you'll see how a handful of pandas moves replace a small forest of formulas.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 get the data into a DataFrame. A DataFrame is just pandas's word for a table.</a:t>
            </a:r>
          </a:p>
          <a:p>
            <a:r>
              <a:rPr lang="en-US" dirty="0"/>
              <a:t>Before we do anything else, I want you to convert your range to an Excel Table. Insert tab, Table. And give it a name — I'm using "sales" — because we're about to reference it by name.</a:t>
            </a:r>
          </a:p>
          <a:p>
            <a:r>
              <a:rPr lang="en-US" dirty="0"/>
              <a:t>Now in a P-Y cell: sales underscore d-f equals x-l, in quotes, sales square-bracket hashtag-All, comma headers equals True.</a:t>
            </a:r>
          </a:p>
          <a:p>
            <a:r>
              <a:rPr lang="en-US" dirty="0"/>
              <a:t>Two things to notice. First, that little x-l function is the bridge from a worksheet range or table into Python. That's how data crosses the border.</a:t>
            </a:r>
          </a:p>
          <a:p>
            <a:r>
              <a:rPr lang="en-US" dirty="0"/>
              <a:t>Second — headers equals True. When you point x-l at a Table, Excel adds that for you automatically. Keep it. It tells pandas the first row is column names, not data.</a:t>
            </a:r>
          </a:p>
          <a:p>
            <a:r>
              <a:rPr lang="en-US" dirty="0"/>
              <a:t>And on the next line, I just type the name of the DataFrame on its own. That gives me the data card preview right there in the cell — instant gut check that the data loaded the way I expected.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profile. Four moves I do before I touch any dataset seriously.</a:t>
            </a:r>
          </a:p>
          <a:p>
            <a:r>
              <a:rPr lang="en-US" dirty="0"/>
              <a:t>Dot head — gives me the first five rows. Quick sanity check that the data loaded and the columns look right.</a:t>
            </a:r>
          </a:p>
          <a:p>
            <a:r>
              <a:rPr lang="en-US" dirty="0"/>
              <a:t>Dot tail — the last five rows. I do this because the bottom of a dataset is often where the mess is. Stray totals, blank rows, weird footer notes — they hide at the bottom.</a:t>
            </a:r>
          </a:p>
          <a:p>
            <a:r>
              <a:rPr lang="en-US" dirty="0"/>
              <a:t>Dot sample, with a five inside the parentheses — five random rows. This catches issues that head and tail can both miss. Maybe row 87 has a problem you'd never see otherwise.</a:t>
            </a:r>
          </a:p>
          <a:p>
            <a:r>
              <a:rPr lang="en-US" dirty="0"/>
              <a:t>And dot shape — gives me rows times columns. For this file: two hundred rows, seven columns. Confirms I've got what I think I've got.</a:t>
            </a:r>
          </a:p>
          <a:p>
            <a:r>
              <a:rPr lang="en-US" dirty="0"/>
              <a:t>Four lines. Thirty seconds. And you already know more about this dataset than most people ever bother to learn.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profiling moves that earn their keep every single time.</a:t>
            </a:r>
          </a:p>
          <a:p>
            <a:r>
              <a:rPr lang="en-US" dirty="0"/>
              <a:t>First — dot describe. One method, and you get count, mean, standard deviation, min, max, and the quartiles, for every numeric column at once. By default it only looks at numbers, but if you pass exclude equals number, you get the same summary for your text columns — most common value, how many unique values, that kind of thing.</a:t>
            </a:r>
          </a:p>
          <a:p>
            <a:r>
              <a:rPr lang="en-US" dirty="0"/>
              <a:t>Second — is-na dot sum. This counts missing values per column. And in our file, customer underscore age has six missing values. That's not a problem — that's a teaching moment. In a couple of minutes we'll decide what to do about it.</a:t>
            </a:r>
          </a:p>
          <a:p>
            <a:r>
              <a:rPr lang="en-US" dirty="0"/>
              <a:t>Two methods. The amount of insight you just got would be — I'm not exaggerating — fifteen formulas in native Excel. And you didn't write a single one.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categories. If you spend any time in Excel, you've built this exact analysis as a PivotTable — drag a column into rows, drag the same column into values, set it to Count. We're doing the same thing in one line.</a:t>
            </a:r>
          </a:p>
          <a:p>
            <a:r>
              <a:rPr lang="en-US" dirty="0"/>
              <a:t>Pick a column — country, in this case — and call dot value underscore counts. That's it. You get every unique value and how many times it shows up, sorted from most to least.</a:t>
            </a:r>
          </a:p>
          <a:p>
            <a:r>
              <a:rPr lang="en-US" dirty="0"/>
              <a:t>If you want proportions instead of raw counts, pass normalize equals True. Now you've got percentages.</a:t>
            </a:r>
          </a:p>
          <a:p>
            <a:r>
              <a:rPr lang="en-US" dirty="0"/>
              <a:t>Look at the output. United States, seventy-seven. Germany, forty-three. UK, thirty-nine. You just built a one-column PivotTable without ever opening the PivotTable dialog.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big one. Groupby. If you take one method home from today, take this one.</a:t>
            </a:r>
          </a:p>
          <a:p>
            <a:r>
              <a:rPr lang="en-US" dirty="0"/>
              <a:t>The mental model — split, apply, combine. Split the data into groups. Apply a calculation to each group. Combine the answers back into one table.</a:t>
            </a:r>
          </a:p>
          <a:p>
            <a:r>
              <a:rPr lang="en-US" dirty="0"/>
              <a:t>Average price by country: sales-df dot groupby country, bracket unit underscore price, dot mean. Six words. Done.</a:t>
            </a:r>
          </a:p>
          <a:p>
            <a:r>
              <a:rPr lang="en-US" dirty="0"/>
              <a:t>Want multiple stats at once? Swap mean for dot a-g-g, and pass a list — mean, min, max. Now you've got three columns instead of one.</a:t>
            </a:r>
          </a:p>
          <a:p>
            <a:r>
              <a:rPr lang="en-US" dirty="0"/>
              <a:t>Want to group by two columns? Pass a list to groupby — country and category. Now you've got a two-level breakdown.</a:t>
            </a:r>
          </a:p>
          <a:p>
            <a:r>
              <a:rPr lang="en-US" dirty="0"/>
              <a:t>Yes, it's a PivotTable. But because it's code, you can chain it, you can filter it, you can pipe it into a chart, and you can re-run it tomorrow on next month's data without touching the dialog box.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stitch it together with a real question. "What's the average price by category, but only in the US, sorted from highest to lowest?"</a:t>
            </a:r>
          </a:p>
          <a:p>
            <a:r>
              <a:rPr lang="en-US" dirty="0"/>
              <a:t>Three steps. Filter, group, sort.</a:t>
            </a:r>
          </a:p>
          <a:p>
            <a:r>
              <a:rPr lang="en-US" dirty="0"/>
              <a:t>First — filter. u-s equals sales-df, square bracket, sales-df country equals equals United States. That gives me only the US orders.</a:t>
            </a:r>
          </a:p>
          <a:p>
            <a:r>
              <a:rPr lang="en-US" dirty="0"/>
              <a:t>Then group. by underscore cat equals u-s dot groupby category, bracket unit-price, dot mean.</a:t>
            </a:r>
          </a:p>
          <a:p>
            <a:r>
              <a:rPr lang="en-US" dirty="0"/>
              <a:t>Then sort. by-cat dot sort underscore values, ascending equals False, so highest first.</a:t>
            </a:r>
          </a:p>
          <a:p>
            <a:r>
              <a:rPr lang="en-US" dirty="0"/>
              <a:t>Stop and look at that for a second. Filter, group, sort. That's the exact same workflow you'd run in Excel — just spelled in code. Once you see that the verbs are the same, the syntax stops feeling foreign.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About ten minutes. The fun part.</a:t>
            </a:r>
          </a:p>
          <a:p>
            <a:r>
              <a:rPr lang="en-US" dirty="0"/>
              <a:t>I promised you a chart that earns gasps, and we are going to deliver. A correlation heatmap. One line of code.</a:t>
            </a:r>
          </a:p>
          <a:p>
            <a:r>
              <a:rPr lang="en-US" dirty="0"/>
              <a:t>If you've ever tried to build a heatmap in native Excel — conditional formatting, manual cell ranges, the works — you know it's a twenty-minute project. We're going to do it in about fifteen seconds.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recipe. I'll walk through it slowly because every line earns its place.</a:t>
            </a:r>
          </a:p>
          <a:p>
            <a:r>
              <a:rPr lang="en-US" dirty="0"/>
              <a:t>Line one — import seaborn as s-n-s. That's the visualization library. Standard convention to alias it as s-n-s.</a:t>
            </a:r>
          </a:p>
          <a:p>
            <a:r>
              <a:rPr lang="en-US" dirty="0"/>
              <a:t>Then I'm adding a revenue column — unit price times quantity. Just so we have one more numeric column to correlate against.</a:t>
            </a:r>
          </a:p>
          <a:p>
            <a:r>
              <a:rPr lang="en-US" dirty="0"/>
              <a:t>And then — the chart. s-n-s dot heatmap. Inside the parentheses: sales-df dot corr, with numeric only equals True, so it only looks at numeric columns. Then annot equals True, which prints the correlation value inside each cell. c-map equals R-d-G-y underscore r — that's a diverging red-grey color scale. And center equals zero, so zero correlation is the neutral midpoint.</a:t>
            </a:r>
          </a:p>
          <a:p>
            <a:r>
              <a:rPr lang="en-US" dirty="0"/>
              <a:t>Eight lines including the import and the calculated column. The actual chart is one line.</a:t>
            </a:r>
          </a:p>
          <a:p>
            <a:r>
              <a:rPr lang="en-US" dirty="0"/>
              <a:t>Look at the result. Strong correlations jump out in red. Weak ones in grey. Negative ones in the opposite red. You can read a story off this in about three seconds. In native Excel — twenty minutes of conditional formatting, and it still wouldn't look this clean.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have time — and only if — one bonus flourish.</a:t>
            </a:r>
          </a:p>
          <a:p>
            <a:r>
              <a:rPr lang="en-US" dirty="0"/>
              <a:t>s-n-s dot pairplot, sales-df, hue equals category. One line.</a:t>
            </a:r>
          </a:p>
          <a:p>
            <a:r>
              <a:rPr lang="en-US" dirty="0"/>
              <a:t>What it does — it plots every numeric variable against every other numeric variable, and color-codes the dots by category. So in one image, you can spot relationships, clusters, and outliers across the entire dataset.</a:t>
            </a:r>
          </a:p>
          <a:p>
            <a:r>
              <a:rPr lang="en-US" dirty="0"/>
              <a:t>One small warning. Pairplots are heavy. In the cloud-backed P-Y cell, they can take a while to render. So I show this slide, I get the gasp, and I move on. I don't try to live-tweak it.</a:t>
            </a:r>
          </a:p>
          <a:p>
            <a:r>
              <a:rPr lang="en-US" dirty="0"/>
              <a:t>The reason this slide exists at all — once you see what one line of seaborn can do, Excel charts start to feel a little ceremonial. There's a place for both, but seaborn one-liners are honestly hard to beat.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five. We're at the home stretch.</a:t>
            </a:r>
          </a:p>
          <a:p>
            <a:r>
              <a:rPr lang="en-US" dirty="0"/>
              <a:t>We've done what I promised — written a P-Y cell, profiled a dataset, and built a chart Excel can't touch.</a:t>
            </a:r>
          </a:p>
          <a:p>
            <a:r>
              <a:rPr lang="en-US" dirty="0"/>
              <a:t>The last few slides are about what to do tomorrow. Where to keep learning, what to read, and the three things I really want you to remember on Monday morning when nobody's there to help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to take this further.</a:t>
            </a:r>
          </a:p>
          <a:p>
            <a:r>
              <a:rPr lang="en-US" dirty="0"/>
              <a:t>First — the official Microsoft docs. They're at learn dot microsoft dot com. The platform is still moving fast — new packages, new features show up regularly — so this is the source of truth. Bookmark it.</a:t>
            </a:r>
          </a:p>
          <a:p>
            <a:r>
              <a:rPr lang="en-US" dirty="0"/>
              <a:t>Second — practice. The two workbooks from today are yours to keep. I'll send them to your inbox right after this. Re-run the demos in your own time, and then — and this is the part that matters — point x-l at one of your own tables and see what falls out.</a:t>
            </a:r>
          </a:p>
          <a:p>
            <a:r>
              <a:rPr lang="en-US" dirty="0"/>
              <a:t>Third — if you want to go deeper, the book this workshop is built on. Python in Excel for Data Analytics, from Packt. Chapters one and two cover everything we did today. The later chapters take it through exploratory analysis, regression, and time series.</a:t>
            </a:r>
          </a:p>
          <a:p>
            <a:r>
              <a:rPr lang="en-US" dirty="0"/>
              <a:t>Pick whichever one matches where you are. Don't try to do all three this week.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tomorrow. If you only retain three things from the whole hour — these.</a:t>
            </a:r>
          </a:p>
          <a:p>
            <a:r>
              <a:rPr lang="en-US" dirty="0"/>
              <a:t>One. Cells run top-left to bottom-right. If you reference a variable in a cell above or to the left of where you defined it, you'll get a hashtag-PYTHON error. The fix is the same every time — put your imports and your setup variables in the top-left, and build down and to the right.</a:t>
            </a:r>
          </a:p>
          <a:p>
            <a:r>
              <a:rPr lang="en-US" dirty="0"/>
              <a:t>Two. It runs in the cloud. Python in Excel sends your code to Microsoft's servers for execution. Which means — no internet, no P-Y. And don't expect to scrape a website or read a local CSV file. You can only pull data from inside the workbook itself.</a:t>
            </a:r>
          </a:p>
          <a:p>
            <a:r>
              <a:rPr lang="en-US" dirty="0"/>
              <a:t>Three. The default output is Python Object, not Excel Value. So when you write your first P-Y cell and you see a little card icon and nothing spilled into the grid — that's not a bug. That's the default. If you want the data on the sheet, toggle with Control, Alt, Shift, M.</a:t>
            </a:r>
          </a:p>
          <a:p>
            <a:r>
              <a:rPr lang="en-US" dirty="0"/>
              <a:t>Take a picture of this slide. Honestly. These three things will save you the support ticket.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the first hour.</a:t>
            </a:r>
          </a:p>
          <a:p>
            <a:r>
              <a:rPr lang="en-US" dirty="0"/>
              <a:t>Drop your questions in the chat — I'll work through as many as we can in the time we've got left.</a:t>
            </a:r>
          </a:p>
          <a:p>
            <a:r>
              <a:rPr lang="en-US" dirty="0"/>
              <a:t>Cheat sheet and both sample files are heading to your inbox right after we wrap. Thanks for spending the hour with me.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457200"/>
            <a:ext cx="8229600" cy="365760"/>
          </a:xfrm>
          <a:prstGeom prst="rect">
            <a:avLst/>
          </a:prstGeom>
          <a:noFill/>
          <a:ln/>
        </p:spPr>
        <p:txBody>
          <a:bodyPr wrap="square" lIns="0" tIns="0" rIns="0" bIns="0" rtlCol="0" anchor="ctr"/>
          <a:lstStyle/>
          <a:p>
            <a:pPr marL="0" indent="0">
              <a:buNone/>
            </a:pPr>
            <a:r>
              <a:rPr lang="en-US" sz="1400" b="1" kern="0" spc="800" dirty="0">
                <a:solidFill>
                  <a:srgbClr val="CF3338"/>
                </a:solidFill>
                <a:latin typeface="Arial" pitchFamily="34" charset="0"/>
                <a:ea typeface="Arial" pitchFamily="34" charset="-122"/>
                <a:cs typeface="Arial" pitchFamily="34" charset="-120"/>
              </a:rPr>
              <a:t>A LIVE WORKSHOP</a:t>
            </a:r>
            <a:endParaRPr lang="en-US" sz="1400" dirty="0"/>
          </a:p>
        </p:txBody>
      </p:sp>
      <p:sp>
        <p:nvSpPr>
          <p:cNvPr id="3" name="Text 1"/>
          <p:cNvSpPr/>
          <p:nvPr/>
        </p:nvSpPr>
        <p:spPr>
          <a:xfrm>
            <a:off x="457200" y="1737360"/>
            <a:ext cx="8229600" cy="914400"/>
          </a:xfrm>
          <a:prstGeom prst="rect">
            <a:avLst/>
          </a:prstGeom>
          <a:noFill/>
          <a:ln/>
        </p:spPr>
        <p:txBody>
          <a:bodyPr wrap="square" lIns="0" tIns="0" rIns="0" bIns="0" rtlCol="0" anchor="ctr"/>
          <a:lstStyle/>
          <a:p>
            <a:pPr marL="0" indent="0">
              <a:buNone/>
            </a:pPr>
            <a:r>
              <a:rPr lang="en-US" sz="6000" b="1" dirty="0">
                <a:solidFill>
                  <a:srgbClr val="CF3338"/>
                </a:solidFill>
                <a:latin typeface="Arial Black" pitchFamily="34" charset="0"/>
                <a:ea typeface="Arial Black" pitchFamily="34" charset="-122"/>
                <a:cs typeface="Arial Black" pitchFamily="34" charset="-120"/>
              </a:rPr>
              <a:t>Python in Excel:</a:t>
            </a:r>
            <a:endParaRPr lang="en-US" sz="6000" dirty="0"/>
          </a:p>
        </p:txBody>
      </p:sp>
      <p:sp>
        <p:nvSpPr>
          <p:cNvPr id="4" name="Text 2"/>
          <p:cNvSpPr/>
          <p:nvPr/>
        </p:nvSpPr>
        <p:spPr>
          <a:xfrm>
            <a:off x="457200" y="2606040"/>
            <a:ext cx="8229600" cy="914400"/>
          </a:xfrm>
          <a:prstGeom prst="rect">
            <a:avLst/>
          </a:prstGeom>
          <a:noFill/>
          <a:ln/>
        </p:spPr>
        <p:txBody>
          <a:bodyPr wrap="square" lIns="0" tIns="0" rIns="0" bIns="0" rtlCol="0" anchor="ctr"/>
          <a:lstStyle/>
          <a:p>
            <a:pPr marL="0" indent="0">
              <a:buNone/>
            </a:pPr>
            <a:r>
              <a:rPr lang="en-US" sz="6000" b="1" dirty="0">
                <a:solidFill>
                  <a:srgbClr val="1F2120"/>
                </a:solidFill>
                <a:latin typeface="Arial Black" pitchFamily="34" charset="0"/>
                <a:ea typeface="Arial Black" pitchFamily="34" charset="-122"/>
                <a:cs typeface="Arial Black" pitchFamily="34" charset="-120"/>
              </a:rPr>
              <a:t>Your First Hour</a:t>
            </a:r>
            <a:endParaRPr lang="en-US" sz="6000" dirty="0"/>
          </a:p>
        </p:txBody>
      </p:sp>
      <p:sp>
        <p:nvSpPr>
          <p:cNvPr id="5" name="Text 3"/>
          <p:cNvSpPr/>
          <p:nvPr/>
        </p:nvSpPr>
        <p:spPr>
          <a:xfrm>
            <a:off x="457200" y="3931920"/>
            <a:ext cx="8229600" cy="365760"/>
          </a:xfrm>
          <a:prstGeom prst="rect">
            <a:avLst/>
          </a:prstGeom>
          <a:noFill/>
          <a:ln/>
        </p:spPr>
        <p:txBody>
          <a:bodyPr wrap="square" lIns="0" tIns="0" rIns="0" bIns="0" rtlCol="0" anchor="ctr"/>
          <a:lstStyle/>
          <a:p>
            <a:pPr marL="0" indent="0">
              <a:buNone/>
            </a:pPr>
            <a:r>
              <a:rPr lang="en-US" sz="1600" i="1" dirty="0">
                <a:solidFill>
                  <a:srgbClr val="707070"/>
                </a:solidFill>
                <a:latin typeface="Arial" pitchFamily="34" charset="0"/>
                <a:ea typeface="Arial" pitchFamily="34" charset="-122"/>
                <a:cs typeface="Arial" pitchFamily="34" charset="-120"/>
              </a:rPr>
              <a:t>Load a real dataset · Explore it with pandas · Build a chart Excel can't touch</a:t>
            </a:r>
            <a:endParaRPr lang="en-US" sz="1600" dirty="0"/>
          </a:p>
        </p:txBody>
      </p:sp>
      <p:sp>
        <p:nvSpPr>
          <p:cNvPr id="6" name="Shape 4"/>
          <p:cNvSpPr/>
          <p:nvPr/>
        </p:nvSpPr>
        <p:spPr>
          <a:xfrm>
            <a:off x="457200" y="4526280"/>
            <a:ext cx="1463040" cy="73152"/>
          </a:xfrm>
          <a:prstGeom prst="rect">
            <a:avLst/>
          </a:prstGeom>
          <a:solidFill>
            <a:srgbClr val="CF3338"/>
          </a:solidFill>
          <a:ln w="12700">
            <a:solidFill>
              <a:srgbClr val="CF3338"/>
            </a:solidFill>
            <a:prstDash val="solid"/>
          </a:ln>
        </p:spPr>
        <p:txBody>
          <a:bodyPr/>
          <a:lstStyle/>
          <a:p>
            <a:endParaRPr lang="en-US"/>
          </a:p>
        </p:txBody>
      </p:sp>
    </p:spTree>
    <p:extLst>
      <p:ext uri="{BB962C8B-B14F-4D97-AF65-F5344CB8AC3E}">
        <p14:creationId xmlns:p14="http://schemas.microsoft.com/office/powerpoint/2010/main" val="24605971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548640" y="640080"/>
            <a:ext cx="8229600" cy="822960"/>
          </a:xfrm>
          <a:prstGeom prst="rect">
            <a:avLst/>
          </a:prstGeom>
          <a:noFill/>
          <a:ln/>
        </p:spPr>
        <p:txBody>
          <a:bodyPr wrap="square" lIns="0" tIns="0" rIns="0" bIns="0" rtlCol="0" anchor="ctr"/>
          <a:lstStyle/>
          <a:p>
            <a:pPr marL="0" indent="0">
              <a:buNone/>
            </a:pPr>
            <a:r>
              <a:rPr lang="en-US" sz="4200" b="1" dirty="0">
                <a:solidFill>
                  <a:srgbClr val="FFFFFF"/>
                </a:solidFill>
                <a:latin typeface="Arial Black" pitchFamily="34" charset="0"/>
                <a:ea typeface="Arial Black" pitchFamily="34" charset="-122"/>
                <a:cs typeface="Arial Black" pitchFamily="34" charset="-120"/>
              </a:rPr>
              <a:t>This is for you if…</a:t>
            </a:r>
            <a:endParaRPr lang="en-US" sz="4200" dirty="0"/>
          </a:p>
        </p:txBody>
      </p:sp>
      <p:sp>
        <p:nvSpPr>
          <p:cNvPr id="3" name="Text 1"/>
          <p:cNvSpPr/>
          <p:nvPr/>
        </p:nvSpPr>
        <p:spPr>
          <a:xfrm>
            <a:off x="548640" y="1645920"/>
            <a:ext cx="8046720" cy="2743200"/>
          </a:xfrm>
          <a:prstGeom prst="rect">
            <a:avLst/>
          </a:prstGeom>
          <a:noFill/>
          <a:ln/>
        </p:spPr>
        <p:txBody>
          <a:bodyPr wrap="square" lIns="0" tIns="0" rIns="0" bIns="0" rtlCol="0" anchor="ctr"/>
          <a:lstStyle/>
          <a:p>
            <a:pPr marL="0" indent="0">
              <a:spcAft>
                <a:spcPts val="600"/>
              </a:spcAft>
              <a:buNone/>
            </a:pPr>
            <a:r>
              <a:rPr lang="en-US" sz="2000" b="1" dirty="0">
                <a:solidFill>
                  <a:srgbClr val="FFFFFF"/>
                </a:solidFill>
                <a:latin typeface="Arial" pitchFamily="34" charset="0"/>
                <a:ea typeface="Arial" pitchFamily="34" charset="-122"/>
                <a:cs typeface="Arial" pitchFamily="34" charset="-120"/>
              </a:rPr>
              <a:t>→  </a:t>
            </a:r>
            <a:r>
              <a:rPr lang="en-US" sz="2000" dirty="0">
                <a:solidFill>
                  <a:srgbClr val="FFFFFF"/>
                </a:solidFill>
                <a:latin typeface="Arial" pitchFamily="34" charset="0"/>
                <a:ea typeface="Arial" pitchFamily="34" charset="-122"/>
                <a:cs typeface="Arial" pitchFamily="34" charset="-120"/>
              </a:rPr>
              <a:t>You've heard the words "Python in Excel" but haven't typed </a:t>
            </a:r>
            <a:r>
              <a:rPr lang="en-US" sz="2000" b="1" dirty="0">
                <a:solidFill>
                  <a:srgbClr val="FFFFFF"/>
                </a:solidFill>
                <a:latin typeface="Courier New" pitchFamily="34" charset="0"/>
                <a:ea typeface="Courier New" pitchFamily="34" charset="-122"/>
                <a:cs typeface="Courier New" pitchFamily="34" charset="-120"/>
              </a:rPr>
              <a:t>=PY(</a:t>
            </a:r>
            <a:r>
              <a:rPr lang="en-US" sz="2000" dirty="0">
                <a:solidFill>
                  <a:srgbClr val="FFFFFF"/>
                </a:solidFill>
                <a:latin typeface="Arial" pitchFamily="34" charset="0"/>
                <a:ea typeface="Arial" pitchFamily="34" charset="-122"/>
                <a:cs typeface="Arial" pitchFamily="34" charset="-120"/>
              </a:rPr>
              <a:t> yet.</a:t>
            </a:r>
            <a:endParaRPr lang="en-US" sz="2000" dirty="0"/>
          </a:p>
          <a:p>
            <a:pPr marL="0" indent="0">
              <a:spcAft>
                <a:spcPts val="600"/>
              </a:spcAft>
              <a:buNone/>
            </a:pPr>
            <a:r>
              <a:rPr lang="en-US" sz="800" dirty="0">
                <a:solidFill>
                  <a:srgbClr val="000000"/>
                </a:solidFill>
                <a:latin typeface="Arial" pitchFamily="34" charset="0"/>
                <a:ea typeface="Arial" pitchFamily="34" charset="-122"/>
                <a:cs typeface="Arial" pitchFamily="34" charset="-120"/>
              </a:rPr>
              <a:t> </a:t>
            </a:r>
            <a:endParaRPr lang="en-US" sz="2000" dirty="0"/>
          </a:p>
          <a:p>
            <a:pPr marL="0" indent="0">
              <a:spcAft>
                <a:spcPts val="600"/>
              </a:spcAft>
              <a:buNone/>
            </a:pPr>
            <a:r>
              <a:rPr lang="en-US" sz="2000" b="1" dirty="0">
                <a:solidFill>
                  <a:srgbClr val="FFFFFF"/>
                </a:solidFill>
                <a:latin typeface="Arial" pitchFamily="34" charset="0"/>
                <a:ea typeface="Arial" pitchFamily="34" charset="-122"/>
                <a:cs typeface="Arial" pitchFamily="34" charset="-120"/>
              </a:rPr>
              <a:t>→  </a:t>
            </a:r>
            <a:r>
              <a:rPr lang="en-US" sz="2000" dirty="0">
                <a:solidFill>
                  <a:srgbClr val="FFFFFF"/>
                </a:solidFill>
                <a:latin typeface="Arial" pitchFamily="34" charset="0"/>
                <a:ea typeface="Arial" pitchFamily="34" charset="-122"/>
                <a:cs typeface="Arial" pitchFamily="34" charset="-120"/>
              </a:rPr>
              <a:t>You're comfortable in Excel — formulas, tables, PivotTables — but the next step feels intimidating.</a:t>
            </a:r>
            <a:endParaRPr lang="en-US" sz="2000" dirty="0"/>
          </a:p>
          <a:p>
            <a:pPr marL="0" indent="0">
              <a:spcAft>
                <a:spcPts val="600"/>
              </a:spcAft>
              <a:buNone/>
            </a:pPr>
            <a:r>
              <a:rPr lang="en-US" sz="800" dirty="0">
                <a:solidFill>
                  <a:srgbClr val="000000"/>
                </a:solidFill>
                <a:latin typeface="Arial" pitchFamily="34" charset="0"/>
                <a:ea typeface="Arial" pitchFamily="34" charset="-122"/>
                <a:cs typeface="Arial" pitchFamily="34" charset="-120"/>
              </a:rPr>
              <a:t> </a:t>
            </a:r>
            <a:endParaRPr lang="en-US" sz="2000" dirty="0"/>
          </a:p>
          <a:p>
            <a:pPr marL="0" indent="0">
              <a:spcAft>
                <a:spcPts val="600"/>
              </a:spcAft>
              <a:buNone/>
            </a:pPr>
            <a:r>
              <a:rPr lang="en-US" sz="2000" b="1" dirty="0">
                <a:solidFill>
                  <a:srgbClr val="FFFFFF"/>
                </a:solidFill>
                <a:latin typeface="Arial" pitchFamily="34" charset="0"/>
                <a:ea typeface="Arial" pitchFamily="34" charset="-122"/>
                <a:cs typeface="Arial" pitchFamily="34" charset="-120"/>
              </a:rPr>
              <a:t>→  </a:t>
            </a:r>
            <a:r>
              <a:rPr lang="en-US" sz="2000" dirty="0">
                <a:solidFill>
                  <a:srgbClr val="FFFFFF"/>
                </a:solidFill>
                <a:latin typeface="Arial" pitchFamily="34" charset="0"/>
                <a:ea typeface="Arial" pitchFamily="34" charset="-122"/>
                <a:cs typeface="Arial" pitchFamily="34" charset="-120"/>
              </a:rPr>
              <a:t>You want to leave the next hour having </a:t>
            </a:r>
            <a:r>
              <a:rPr lang="en-US" sz="2000" b="1" i="1" dirty="0">
                <a:solidFill>
                  <a:srgbClr val="FFFFFF"/>
                </a:solidFill>
                <a:latin typeface="Arial" pitchFamily="34" charset="0"/>
                <a:ea typeface="Arial" pitchFamily="34" charset="-122"/>
                <a:cs typeface="Arial" pitchFamily="34" charset="-120"/>
              </a:rPr>
              <a:t>actually done it</a:t>
            </a:r>
            <a:r>
              <a:rPr lang="en-US" sz="2000" dirty="0">
                <a:solidFill>
                  <a:srgbClr val="FFFFFF"/>
                </a:solidFill>
                <a:latin typeface="Arial" pitchFamily="34" charset="0"/>
                <a:ea typeface="Arial" pitchFamily="34" charset="-122"/>
                <a:cs typeface="Arial" pitchFamily="34" charset="-120"/>
              </a:rPr>
              <a:t>, not just watched a demo.</a:t>
            </a:r>
            <a:endParaRPr lang="en-US" sz="2000" dirty="0"/>
          </a:p>
        </p:txBody>
      </p:sp>
    </p:spTree>
    <p:extLst>
      <p:ext uri="{BB962C8B-B14F-4D97-AF65-F5344CB8AC3E}">
        <p14:creationId xmlns:p14="http://schemas.microsoft.com/office/powerpoint/2010/main" val="1940455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lIns="0" tIns="0" rIns="0" bIns="0" rtlCol="0" anchor="ctr"/>
          <a:lstStyle/>
          <a:p>
            <a:pPr marL="0" indent="0">
              <a:buNone/>
            </a:pPr>
            <a:r>
              <a:rPr lang="en-US" sz="3600" b="1" dirty="0">
                <a:solidFill>
                  <a:srgbClr val="CF3338"/>
                </a:solidFill>
                <a:latin typeface="Arial Black" pitchFamily="34" charset="0"/>
                <a:ea typeface="Arial Black" pitchFamily="34" charset="-122"/>
                <a:cs typeface="Arial Black" pitchFamily="34" charset="-120"/>
              </a:rPr>
              <a:t>By minute 60, you will have…</a:t>
            </a:r>
            <a:endParaRPr lang="en-US" sz="3600" dirty="0"/>
          </a:p>
        </p:txBody>
      </p:sp>
      <p:sp>
        <p:nvSpPr>
          <p:cNvPr id="3" name="Shape 1"/>
          <p:cNvSpPr/>
          <p:nvPr/>
        </p:nvSpPr>
        <p:spPr>
          <a:xfrm>
            <a:off x="365760" y="1554480"/>
            <a:ext cx="2697480" cy="2926080"/>
          </a:xfrm>
          <a:prstGeom prst="rect">
            <a:avLst/>
          </a:prstGeom>
          <a:solidFill>
            <a:srgbClr val="FFFFFF"/>
          </a:solidFill>
          <a:ln w="12700">
            <a:solidFill>
              <a:srgbClr val="E0DDD0"/>
            </a:solidFill>
            <a:prstDash val="solid"/>
          </a:ln>
        </p:spPr>
        <p:txBody>
          <a:bodyPr/>
          <a:lstStyle/>
          <a:p>
            <a:endParaRPr lang="en-US"/>
          </a:p>
        </p:txBody>
      </p:sp>
      <p:sp>
        <p:nvSpPr>
          <p:cNvPr id="4" name="Text 2"/>
          <p:cNvSpPr/>
          <p:nvPr/>
        </p:nvSpPr>
        <p:spPr>
          <a:xfrm>
            <a:off x="365760" y="1645920"/>
            <a:ext cx="2697480" cy="731520"/>
          </a:xfrm>
          <a:prstGeom prst="rect">
            <a:avLst/>
          </a:prstGeom>
          <a:noFill/>
          <a:ln/>
        </p:spPr>
        <p:txBody>
          <a:bodyPr wrap="square" lIns="0" tIns="0" rIns="0" bIns="0" rtlCol="0" anchor="ctr"/>
          <a:lstStyle/>
          <a:p>
            <a:pPr marL="0" indent="0" algn="ctr">
              <a:buNone/>
            </a:pPr>
            <a:r>
              <a:rPr lang="en-US" sz="5600" b="1" dirty="0">
                <a:solidFill>
                  <a:srgbClr val="CF3338"/>
                </a:solidFill>
                <a:latin typeface="Arial Black" pitchFamily="34" charset="0"/>
                <a:ea typeface="Arial Black" pitchFamily="34" charset="-122"/>
                <a:cs typeface="Arial Black" pitchFamily="34" charset="-120"/>
              </a:rPr>
              <a:t>1</a:t>
            </a:r>
            <a:endParaRPr lang="en-US" sz="5600" dirty="0"/>
          </a:p>
        </p:txBody>
      </p:sp>
      <p:sp>
        <p:nvSpPr>
          <p:cNvPr id="5" name="Text 3"/>
          <p:cNvSpPr/>
          <p:nvPr/>
        </p:nvSpPr>
        <p:spPr>
          <a:xfrm>
            <a:off x="548640" y="2468880"/>
            <a:ext cx="2331720" cy="548640"/>
          </a:xfrm>
          <a:prstGeom prst="rect">
            <a:avLst/>
          </a:prstGeom>
          <a:noFill/>
          <a:ln/>
        </p:spPr>
        <p:txBody>
          <a:bodyPr wrap="square" lIns="0" tIns="0" rIns="0" bIns="0" rtlCol="0" anchor="ctr"/>
          <a:lstStyle/>
          <a:p>
            <a:pPr marL="0" indent="0" algn="ctr">
              <a:buNone/>
            </a:pPr>
            <a:r>
              <a:rPr lang="en-US" sz="1700" b="1" dirty="0">
                <a:solidFill>
                  <a:srgbClr val="1F2120"/>
                </a:solidFill>
                <a:latin typeface="Arial" pitchFamily="34" charset="0"/>
                <a:ea typeface="Arial" pitchFamily="34" charset="-122"/>
                <a:cs typeface="Arial" pitchFamily="34" charset="-120"/>
              </a:rPr>
              <a:t>Written your first PY() cell</a:t>
            </a:r>
            <a:endParaRPr lang="en-US" sz="1700" dirty="0"/>
          </a:p>
        </p:txBody>
      </p:sp>
      <p:sp>
        <p:nvSpPr>
          <p:cNvPr id="6" name="Text 4"/>
          <p:cNvSpPr/>
          <p:nvPr/>
        </p:nvSpPr>
        <p:spPr>
          <a:xfrm>
            <a:off x="548640" y="3063240"/>
            <a:ext cx="2331720" cy="1371600"/>
          </a:xfrm>
          <a:prstGeom prst="rect">
            <a:avLst/>
          </a:prstGeom>
          <a:noFill/>
          <a:ln/>
        </p:spPr>
        <p:txBody>
          <a:bodyPr wrap="square" lIns="0" tIns="0" rIns="0" bIns="0" rtlCol="0" anchor="ctr"/>
          <a:lstStyle/>
          <a:p>
            <a:pPr marL="0" indent="0" algn="ctr">
              <a:spcAft>
                <a:spcPts val="400"/>
              </a:spcAft>
              <a:buNone/>
            </a:pPr>
            <a:r>
              <a:rPr lang="en-US" sz="1300" dirty="0">
                <a:solidFill>
                  <a:srgbClr val="1F2120"/>
                </a:solidFill>
                <a:latin typeface="Arial" pitchFamily="34" charset="0"/>
                <a:ea typeface="Arial" pitchFamily="34" charset="-122"/>
                <a:cs typeface="Arial" pitchFamily="34" charset="-120"/>
              </a:rPr>
              <a:t>Hello-world inside Excel — and you'll know exactly why your A1 reference broke.</a:t>
            </a:r>
            <a:endParaRPr lang="en-US" sz="1300" dirty="0"/>
          </a:p>
        </p:txBody>
      </p:sp>
      <p:sp>
        <p:nvSpPr>
          <p:cNvPr id="7" name="Shape 5"/>
          <p:cNvSpPr/>
          <p:nvPr/>
        </p:nvSpPr>
        <p:spPr>
          <a:xfrm>
            <a:off x="3246120" y="1554480"/>
            <a:ext cx="2697480" cy="2926080"/>
          </a:xfrm>
          <a:prstGeom prst="rect">
            <a:avLst/>
          </a:prstGeom>
          <a:solidFill>
            <a:srgbClr val="FFFFFF"/>
          </a:solidFill>
          <a:ln w="12700">
            <a:solidFill>
              <a:srgbClr val="E0DDD0"/>
            </a:solidFill>
            <a:prstDash val="solid"/>
          </a:ln>
        </p:spPr>
        <p:txBody>
          <a:bodyPr/>
          <a:lstStyle/>
          <a:p>
            <a:endParaRPr lang="en-US"/>
          </a:p>
        </p:txBody>
      </p:sp>
      <p:sp>
        <p:nvSpPr>
          <p:cNvPr id="8" name="Text 6"/>
          <p:cNvSpPr/>
          <p:nvPr/>
        </p:nvSpPr>
        <p:spPr>
          <a:xfrm>
            <a:off x="3246120" y="1645920"/>
            <a:ext cx="2697480" cy="731520"/>
          </a:xfrm>
          <a:prstGeom prst="rect">
            <a:avLst/>
          </a:prstGeom>
          <a:noFill/>
          <a:ln/>
        </p:spPr>
        <p:txBody>
          <a:bodyPr wrap="square" lIns="0" tIns="0" rIns="0" bIns="0" rtlCol="0" anchor="ctr"/>
          <a:lstStyle/>
          <a:p>
            <a:pPr marL="0" indent="0" algn="ctr">
              <a:buNone/>
            </a:pPr>
            <a:r>
              <a:rPr lang="en-US" sz="5600" b="1" dirty="0">
                <a:solidFill>
                  <a:srgbClr val="CF3338"/>
                </a:solidFill>
                <a:latin typeface="Arial Black" pitchFamily="34" charset="0"/>
                <a:ea typeface="Arial Black" pitchFamily="34" charset="-122"/>
                <a:cs typeface="Arial Black" pitchFamily="34" charset="-120"/>
              </a:rPr>
              <a:t>2</a:t>
            </a:r>
            <a:endParaRPr lang="en-US" sz="5600" dirty="0"/>
          </a:p>
        </p:txBody>
      </p:sp>
      <p:sp>
        <p:nvSpPr>
          <p:cNvPr id="9" name="Text 7"/>
          <p:cNvSpPr/>
          <p:nvPr/>
        </p:nvSpPr>
        <p:spPr>
          <a:xfrm>
            <a:off x="3429000" y="2468880"/>
            <a:ext cx="2331720" cy="548640"/>
          </a:xfrm>
          <a:prstGeom prst="rect">
            <a:avLst/>
          </a:prstGeom>
          <a:noFill/>
          <a:ln/>
        </p:spPr>
        <p:txBody>
          <a:bodyPr wrap="square" lIns="0" tIns="0" rIns="0" bIns="0" rtlCol="0" anchor="ctr"/>
          <a:lstStyle/>
          <a:p>
            <a:pPr marL="0" indent="0" algn="ctr">
              <a:buNone/>
            </a:pPr>
            <a:r>
              <a:rPr lang="en-US" sz="1700" b="1" dirty="0">
                <a:solidFill>
                  <a:srgbClr val="1F2120"/>
                </a:solidFill>
                <a:latin typeface="Arial" pitchFamily="34" charset="0"/>
                <a:ea typeface="Arial" pitchFamily="34" charset="-122"/>
                <a:cs typeface="Arial" pitchFamily="34" charset="-120"/>
              </a:rPr>
              <a:t>Profiled a real dataset</a:t>
            </a:r>
            <a:endParaRPr lang="en-US" sz="1700" dirty="0"/>
          </a:p>
        </p:txBody>
      </p:sp>
      <p:sp>
        <p:nvSpPr>
          <p:cNvPr id="10" name="Text 8"/>
          <p:cNvSpPr/>
          <p:nvPr/>
        </p:nvSpPr>
        <p:spPr>
          <a:xfrm>
            <a:off x="3429000" y="3063240"/>
            <a:ext cx="2331720" cy="1371600"/>
          </a:xfrm>
          <a:prstGeom prst="rect">
            <a:avLst/>
          </a:prstGeom>
          <a:noFill/>
          <a:ln/>
        </p:spPr>
        <p:txBody>
          <a:bodyPr wrap="square" lIns="0" tIns="0" rIns="0" bIns="0" rtlCol="0" anchor="ctr"/>
          <a:lstStyle/>
          <a:p>
            <a:pPr marL="0" indent="0" algn="ctr">
              <a:spcAft>
                <a:spcPts val="400"/>
              </a:spcAft>
              <a:buNone/>
            </a:pPr>
            <a:r>
              <a:rPr lang="en-US" sz="1300" dirty="0">
                <a:solidFill>
                  <a:srgbClr val="1F2120"/>
                </a:solidFill>
                <a:latin typeface="Arial" pitchFamily="34" charset="0"/>
                <a:ea typeface="Arial" pitchFamily="34" charset="-122"/>
                <a:cs typeface="Arial" pitchFamily="34" charset="-120"/>
              </a:rPr>
              <a:t>200 sales orders, six pandas moves, fewer formulas than you'd guess.</a:t>
            </a:r>
            <a:endParaRPr lang="en-US" sz="1300" dirty="0"/>
          </a:p>
        </p:txBody>
      </p:sp>
      <p:sp>
        <p:nvSpPr>
          <p:cNvPr id="11" name="Shape 9"/>
          <p:cNvSpPr/>
          <p:nvPr/>
        </p:nvSpPr>
        <p:spPr>
          <a:xfrm>
            <a:off x="6126480" y="1554480"/>
            <a:ext cx="2697480" cy="2926080"/>
          </a:xfrm>
          <a:prstGeom prst="rect">
            <a:avLst/>
          </a:prstGeom>
          <a:solidFill>
            <a:srgbClr val="FFFFFF"/>
          </a:solidFill>
          <a:ln w="12700">
            <a:solidFill>
              <a:srgbClr val="E0DDD0"/>
            </a:solidFill>
            <a:prstDash val="solid"/>
          </a:ln>
        </p:spPr>
        <p:txBody>
          <a:bodyPr/>
          <a:lstStyle/>
          <a:p>
            <a:endParaRPr lang="en-US"/>
          </a:p>
        </p:txBody>
      </p:sp>
      <p:sp>
        <p:nvSpPr>
          <p:cNvPr id="12" name="Text 10"/>
          <p:cNvSpPr/>
          <p:nvPr/>
        </p:nvSpPr>
        <p:spPr>
          <a:xfrm>
            <a:off x="6126480" y="1645920"/>
            <a:ext cx="2697480" cy="731520"/>
          </a:xfrm>
          <a:prstGeom prst="rect">
            <a:avLst/>
          </a:prstGeom>
          <a:noFill/>
          <a:ln/>
        </p:spPr>
        <p:txBody>
          <a:bodyPr wrap="square" lIns="0" tIns="0" rIns="0" bIns="0" rtlCol="0" anchor="ctr"/>
          <a:lstStyle/>
          <a:p>
            <a:pPr marL="0" indent="0" algn="ctr">
              <a:buNone/>
            </a:pPr>
            <a:r>
              <a:rPr lang="en-US" sz="5600" b="1" dirty="0">
                <a:solidFill>
                  <a:srgbClr val="CF3338"/>
                </a:solidFill>
                <a:latin typeface="Arial Black" pitchFamily="34" charset="0"/>
                <a:ea typeface="Arial Black" pitchFamily="34" charset="-122"/>
                <a:cs typeface="Arial Black" pitchFamily="34" charset="-120"/>
              </a:rPr>
              <a:t>3</a:t>
            </a:r>
            <a:endParaRPr lang="en-US" sz="5600" dirty="0"/>
          </a:p>
        </p:txBody>
      </p:sp>
      <p:sp>
        <p:nvSpPr>
          <p:cNvPr id="13" name="Text 11"/>
          <p:cNvSpPr/>
          <p:nvPr/>
        </p:nvSpPr>
        <p:spPr>
          <a:xfrm>
            <a:off x="6309360" y="2468880"/>
            <a:ext cx="2331720" cy="548640"/>
          </a:xfrm>
          <a:prstGeom prst="rect">
            <a:avLst/>
          </a:prstGeom>
          <a:noFill/>
          <a:ln/>
        </p:spPr>
        <p:txBody>
          <a:bodyPr wrap="square" lIns="0" tIns="0" rIns="0" bIns="0" rtlCol="0" anchor="ctr"/>
          <a:lstStyle/>
          <a:p>
            <a:pPr marL="0" indent="0" algn="ctr">
              <a:buNone/>
            </a:pPr>
            <a:r>
              <a:rPr lang="en-US" sz="1700" b="1" dirty="0">
                <a:solidFill>
                  <a:srgbClr val="1F2120"/>
                </a:solidFill>
                <a:latin typeface="Arial" pitchFamily="34" charset="0"/>
                <a:ea typeface="Arial" pitchFamily="34" charset="-122"/>
                <a:cs typeface="Arial" pitchFamily="34" charset="-120"/>
              </a:rPr>
              <a:t>Built a chart that earns gasps</a:t>
            </a:r>
            <a:endParaRPr lang="en-US" sz="1700" dirty="0"/>
          </a:p>
        </p:txBody>
      </p:sp>
      <p:sp>
        <p:nvSpPr>
          <p:cNvPr id="14" name="Text 12"/>
          <p:cNvSpPr/>
          <p:nvPr/>
        </p:nvSpPr>
        <p:spPr>
          <a:xfrm>
            <a:off x="6309360" y="3063240"/>
            <a:ext cx="2331720" cy="1371600"/>
          </a:xfrm>
          <a:prstGeom prst="rect">
            <a:avLst/>
          </a:prstGeom>
          <a:noFill/>
          <a:ln/>
        </p:spPr>
        <p:txBody>
          <a:bodyPr wrap="square" lIns="0" tIns="0" rIns="0" bIns="0" rtlCol="0" anchor="ctr"/>
          <a:lstStyle/>
          <a:p>
            <a:pPr marL="0" indent="0" algn="ctr">
              <a:spcAft>
                <a:spcPts val="400"/>
              </a:spcAft>
              <a:buNone/>
            </a:pPr>
            <a:r>
              <a:rPr lang="en-US" sz="1300" dirty="0">
                <a:solidFill>
                  <a:srgbClr val="1F2120"/>
                </a:solidFill>
                <a:latin typeface="Arial" pitchFamily="34" charset="0"/>
                <a:ea typeface="Arial" pitchFamily="34" charset="-122"/>
                <a:cs typeface="Arial" pitchFamily="34" charset="-120"/>
              </a:rPr>
              <a:t>A correlation heatmap in one line of code. Try doing that natively.</a:t>
            </a:r>
            <a:endParaRPr lang="en-US" sz="1300" dirty="0"/>
          </a:p>
        </p:txBody>
      </p:sp>
    </p:spTree>
    <p:extLst>
      <p:ext uri="{BB962C8B-B14F-4D97-AF65-F5344CB8AC3E}">
        <p14:creationId xmlns:p14="http://schemas.microsoft.com/office/powerpoint/2010/main" val="3975448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marL="0" indent="0">
              <a:buNone/>
            </a:pPr>
            <a:r>
              <a:rPr lang="en-US" sz="2000" kern="0" spc="800" dirty="0">
                <a:solidFill>
                  <a:srgbClr val="FFFFFF"/>
                </a:solidFill>
                <a:latin typeface="Arial" pitchFamily="34" charset="0"/>
                <a:ea typeface="Arial" pitchFamily="34" charset="-122"/>
                <a:cs typeface="Arial" pitchFamily="34" charset="-120"/>
              </a:rPr>
              <a:t>Part 1</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marL="0" indent="0">
              <a:buNone/>
            </a:pPr>
            <a:r>
              <a:rPr lang="en-US" sz="4000" b="1" dirty="0">
                <a:solidFill>
                  <a:srgbClr val="FFFFFF"/>
                </a:solidFill>
                <a:latin typeface="Arial Black" pitchFamily="34" charset="0"/>
                <a:ea typeface="Arial Black" pitchFamily="34" charset="-122"/>
                <a:cs typeface="Arial Black" pitchFamily="34" charset="-120"/>
              </a:rPr>
              <a:t>Why Python in Excel exists</a:t>
            </a:r>
            <a:endParaRPr lang="en-US" sz="40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marL="0" indent="0">
              <a:buNone/>
            </a:pPr>
            <a:r>
              <a:rPr lang="en-US" sz="1800" i="1" dirty="0">
                <a:solidFill>
                  <a:srgbClr val="FFFFFF"/>
                </a:solidFill>
                <a:latin typeface="Arial" pitchFamily="34" charset="0"/>
                <a:ea typeface="Arial" pitchFamily="34" charset="-122"/>
                <a:cs typeface="Arial" pitchFamily="34" charset="-120"/>
              </a:rPr>
              <a:t>…and when to reach for it instead of formulas or Power Query.</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extLst>
      <p:ext uri="{BB962C8B-B14F-4D97-AF65-F5344CB8AC3E}">
        <p14:creationId xmlns:p14="http://schemas.microsoft.com/office/powerpoint/2010/main" val="257578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Where formulas start to feel cumbersome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Excel's grid is brilliant. Some tasks just don't fit on it.</a:t>
            </a:r>
            <a:endParaRPr lang="en-US" sz="1500" dirty="0"/>
          </a:p>
        </p:txBody>
      </p:sp>
      <p:sp>
        <p:nvSpPr>
          <p:cNvPr id="4" name="Shape 2"/>
          <p:cNvSpPr/>
          <p:nvPr/>
        </p:nvSpPr>
        <p:spPr>
          <a:xfrm>
            <a:off x="457200" y="1664208"/>
            <a:ext cx="137160" cy="137160"/>
          </a:xfrm>
          <a:prstGeom prst="rect">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731520" y="1554480"/>
            <a:ext cx="8046720" cy="320040"/>
          </a:xfrm>
          <a:prstGeom prst="rect">
            <a:avLst/>
          </a:prstGeom>
          <a:noFill/>
          <a:ln/>
        </p:spPr>
        <p:txBody>
          <a:bodyPr wrap="square" lIns="0" tIns="0" rIns="0" bIns="0" rtlCol="0" anchor="ctr"/>
          <a:lstStyle/>
          <a:p>
            <a:pPr marL="0" indent="0">
              <a:buNone/>
            </a:pPr>
            <a:r>
              <a:rPr lang="en-US" sz="1600" b="1" dirty="0">
                <a:solidFill>
                  <a:srgbClr val="1F2120"/>
                </a:solidFill>
                <a:latin typeface="Arial" pitchFamily="34" charset="0"/>
                <a:ea typeface="Arial" pitchFamily="34" charset="-122"/>
                <a:cs typeface="Arial" pitchFamily="34" charset="-120"/>
              </a:rPr>
              <a:t>Counting missing values across every column</a:t>
            </a:r>
            <a:endParaRPr lang="en-US" sz="1600" dirty="0"/>
          </a:p>
        </p:txBody>
      </p:sp>
      <p:sp>
        <p:nvSpPr>
          <p:cNvPr id="6" name="Text 4"/>
          <p:cNvSpPr/>
          <p:nvPr/>
        </p:nvSpPr>
        <p:spPr>
          <a:xfrm>
            <a:off x="731520" y="1874520"/>
            <a:ext cx="8046720" cy="365760"/>
          </a:xfrm>
          <a:prstGeom prst="rect">
            <a:avLst/>
          </a:prstGeom>
          <a:noFill/>
          <a:ln/>
        </p:spPr>
        <p:txBody>
          <a:bodyPr wrap="square" lIns="0" tIns="0" rIns="0" bIns="0" rtlCol="0" anchor="ctr"/>
          <a:lstStyle/>
          <a:p>
            <a:pPr marL="0" indent="0">
              <a:buNone/>
            </a:pPr>
            <a:r>
              <a:rPr lang="en-US" sz="1300" i="1" dirty="0">
                <a:solidFill>
                  <a:srgbClr val="1F2120"/>
                </a:solidFill>
                <a:latin typeface="Arial" pitchFamily="34" charset="0"/>
                <a:ea typeface="Arial" pitchFamily="34" charset="-122"/>
                <a:cs typeface="Arial" pitchFamily="34" charset="-120"/>
              </a:rPr>
              <a:t>Native Excel: nested COUNTBLANK per column.</a:t>
            </a:r>
            <a:r>
              <a:rPr lang="en-US" sz="1300" b="1" dirty="0">
                <a:solidFill>
                  <a:srgbClr val="CF3338"/>
                </a:solidFill>
                <a:latin typeface="Arial" pitchFamily="34" charset="0"/>
                <a:ea typeface="Arial" pitchFamily="34" charset="-122"/>
                <a:cs typeface="Arial" pitchFamily="34" charset="-120"/>
              </a:rPr>
              <a:t>   |   </a:t>
            </a:r>
            <a:r>
              <a:rPr lang="en-US" sz="1300" i="1" dirty="0">
                <a:solidFill>
                  <a:srgbClr val="1F2120"/>
                </a:solidFill>
                <a:latin typeface="Arial" pitchFamily="34" charset="0"/>
                <a:ea typeface="Arial" pitchFamily="34" charset="-122"/>
                <a:cs typeface="Arial" pitchFamily="34" charset="-120"/>
              </a:rPr>
              <a:t>pandas: sales_df.isna().sum()</a:t>
            </a:r>
            <a:endParaRPr lang="en-US" sz="1300" dirty="0"/>
          </a:p>
        </p:txBody>
      </p:sp>
      <p:sp>
        <p:nvSpPr>
          <p:cNvPr id="7" name="Shape 5"/>
          <p:cNvSpPr/>
          <p:nvPr/>
        </p:nvSpPr>
        <p:spPr>
          <a:xfrm>
            <a:off x="457200" y="2441448"/>
            <a:ext cx="137160" cy="137160"/>
          </a:xfrm>
          <a:prstGeom prst="rect">
            <a:avLst/>
          </a:prstGeom>
          <a:solidFill>
            <a:srgbClr val="CF3338"/>
          </a:solidFill>
          <a:ln w="12700">
            <a:solidFill>
              <a:srgbClr val="CF3338"/>
            </a:solidFill>
            <a:prstDash val="solid"/>
          </a:ln>
        </p:spPr>
        <p:txBody>
          <a:bodyPr/>
          <a:lstStyle/>
          <a:p>
            <a:endParaRPr lang="en-US"/>
          </a:p>
        </p:txBody>
      </p:sp>
      <p:sp>
        <p:nvSpPr>
          <p:cNvPr id="8" name="Text 6"/>
          <p:cNvSpPr/>
          <p:nvPr/>
        </p:nvSpPr>
        <p:spPr>
          <a:xfrm>
            <a:off x="731520" y="2331720"/>
            <a:ext cx="8046720" cy="320040"/>
          </a:xfrm>
          <a:prstGeom prst="rect">
            <a:avLst/>
          </a:prstGeom>
          <a:noFill/>
          <a:ln/>
        </p:spPr>
        <p:txBody>
          <a:bodyPr wrap="square" lIns="0" tIns="0" rIns="0" bIns="0" rtlCol="0" anchor="ctr"/>
          <a:lstStyle/>
          <a:p>
            <a:pPr marL="0" indent="0">
              <a:buNone/>
            </a:pPr>
            <a:r>
              <a:rPr lang="en-US" sz="1600" b="1" dirty="0">
                <a:solidFill>
                  <a:srgbClr val="1F2120"/>
                </a:solidFill>
                <a:latin typeface="Arial" pitchFamily="34" charset="0"/>
                <a:ea typeface="Arial" pitchFamily="34" charset="-122"/>
                <a:cs typeface="Arial" pitchFamily="34" charset="-120"/>
              </a:rPr>
              <a:t>Resampling and rolling-window time series</a:t>
            </a:r>
            <a:endParaRPr lang="en-US" sz="1600" dirty="0"/>
          </a:p>
        </p:txBody>
      </p:sp>
      <p:sp>
        <p:nvSpPr>
          <p:cNvPr id="9" name="Text 7"/>
          <p:cNvSpPr/>
          <p:nvPr/>
        </p:nvSpPr>
        <p:spPr>
          <a:xfrm>
            <a:off x="731520" y="2651760"/>
            <a:ext cx="8046720" cy="365760"/>
          </a:xfrm>
          <a:prstGeom prst="rect">
            <a:avLst/>
          </a:prstGeom>
          <a:noFill/>
          <a:ln/>
        </p:spPr>
        <p:txBody>
          <a:bodyPr wrap="square" lIns="0" tIns="0" rIns="0" bIns="0" rtlCol="0" anchor="ctr"/>
          <a:lstStyle/>
          <a:p>
            <a:pPr marL="0" indent="0">
              <a:buNone/>
            </a:pPr>
            <a:r>
              <a:rPr lang="en-US" sz="1300" i="1" dirty="0">
                <a:solidFill>
                  <a:srgbClr val="1F2120"/>
                </a:solidFill>
                <a:latin typeface="Arial" pitchFamily="34" charset="0"/>
                <a:ea typeface="Arial" pitchFamily="34" charset="-122"/>
                <a:cs typeface="Arial" pitchFamily="34" charset="-120"/>
              </a:rPr>
              <a:t>Native Excel: heroic helper columns.</a:t>
            </a:r>
            <a:r>
              <a:rPr lang="en-US" sz="1300" b="1" dirty="0">
                <a:solidFill>
                  <a:srgbClr val="CF3338"/>
                </a:solidFill>
                <a:latin typeface="Arial" pitchFamily="34" charset="0"/>
                <a:ea typeface="Arial" pitchFamily="34" charset="-122"/>
                <a:cs typeface="Arial" pitchFamily="34" charset="-120"/>
              </a:rPr>
              <a:t>   |   </a:t>
            </a:r>
            <a:r>
              <a:rPr lang="en-US" sz="1300" i="1" dirty="0">
                <a:solidFill>
                  <a:srgbClr val="1F2120"/>
                </a:solidFill>
                <a:latin typeface="Arial" pitchFamily="34" charset="0"/>
                <a:ea typeface="Arial" pitchFamily="34" charset="-122"/>
                <a:cs typeface="Arial" pitchFamily="34" charset="-120"/>
              </a:rPr>
              <a:t>pandas: one .resample() call.</a:t>
            </a:r>
            <a:endParaRPr lang="en-US" sz="1300" dirty="0"/>
          </a:p>
        </p:txBody>
      </p:sp>
      <p:sp>
        <p:nvSpPr>
          <p:cNvPr id="10" name="Shape 8"/>
          <p:cNvSpPr/>
          <p:nvPr/>
        </p:nvSpPr>
        <p:spPr>
          <a:xfrm>
            <a:off x="457200" y="3218688"/>
            <a:ext cx="137160" cy="137160"/>
          </a:xfrm>
          <a:prstGeom prst="rect">
            <a:avLst/>
          </a:prstGeom>
          <a:solidFill>
            <a:srgbClr val="CF3338"/>
          </a:solidFill>
          <a:ln w="12700">
            <a:solidFill>
              <a:srgbClr val="CF3338"/>
            </a:solidFill>
            <a:prstDash val="solid"/>
          </a:ln>
        </p:spPr>
        <p:txBody>
          <a:bodyPr/>
          <a:lstStyle/>
          <a:p>
            <a:endParaRPr lang="en-US"/>
          </a:p>
        </p:txBody>
      </p:sp>
      <p:sp>
        <p:nvSpPr>
          <p:cNvPr id="11" name="Text 9"/>
          <p:cNvSpPr/>
          <p:nvPr/>
        </p:nvSpPr>
        <p:spPr>
          <a:xfrm>
            <a:off x="731520" y="3108960"/>
            <a:ext cx="8046720" cy="320040"/>
          </a:xfrm>
          <a:prstGeom prst="rect">
            <a:avLst/>
          </a:prstGeom>
          <a:noFill/>
          <a:ln/>
        </p:spPr>
        <p:txBody>
          <a:bodyPr wrap="square" lIns="0" tIns="0" rIns="0" bIns="0" rtlCol="0" anchor="ctr"/>
          <a:lstStyle/>
          <a:p>
            <a:pPr marL="0" indent="0">
              <a:buNone/>
            </a:pPr>
            <a:r>
              <a:rPr lang="en-US" sz="1600" b="1" dirty="0">
                <a:solidFill>
                  <a:srgbClr val="1F2120"/>
                </a:solidFill>
                <a:latin typeface="Arial" pitchFamily="34" charset="0"/>
                <a:ea typeface="Arial" pitchFamily="34" charset="-122"/>
                <a:cs typeface="Arial" pitchFamily="34" charset="-120"/>
              </a:rPr>
              <a:t>Small multiples, jitter plots, heatmaps</a:t>
            </a:r>
            <a:endParaRPr lang="en-US" sz="1600" dirty="0"/>
          </a:p>
        </p:txBody>
      </p:sp>
      <p:sp>
        <p:nvSpPr>
          <p:cNvPr id="12" name="Text 10"/>
          <p:cNvSpPr/>
          <p:nvPr/>
        </p:nvSpPr>
        <p:spPr>
          <a:xfrm>
            <a:off x="731520" y="3429000"/>
            <a:ext cx="8046720" cy="365760"/>
          </a:xfrm>
          <a:prstGeom prst="rect">
            <a:avLst/>
          </a:prstGeom>
          <a:noFill/>
          <a:ln/>
        </p:spPr>
        <p:txBody>
          <a:bodyPr wrap="square" lIns="0" tIns="0" rIns="0" bIns="0" rtlCol="0" anchor="ctr"/>
          <a:lstStyle/>
          <a:p>
            <a:pPr marL="0" indent="0">
              <a:buNone/>
            </a:pPr>
            <a:r>
              <a:rPr lang="en-US" sz="1300" i="1" dirty="0">
                <a:solidFill>
                  <a:srgbClr val="1F2120"/>
                </a:solidFill>
                <a:latin typeface="Arial" pitchFamily="34" charset="0"/>
                <a:ea typeface="Arial" pitchFamily="34" charset="-122"/>
                <a:cs typeface="Arial" pitchFamily="34" charset="-120"/>
              </a:rPr>
              <a:t>Native Excel: not really.</a:t>
            </a:r>
            <a:r>
              <a:rPr lang="en-US" sz="1300" b="1" dirty="0">
                <a:solidFill>
                  <a:srgbClr val="CF3338"/>
                </a:solidFill>
                <a:latin typeface="Arial" pitchFamily="34" charset="0"/>
                <a:ea typeface="Arial" pitchFamily="34" charset="-122"/>
                <a:cs typeface="Arial" pitchFamily="34" charset="-120"/>
              </a:rPr>
              <a:t>   |   </a:t>
            </a:r>
            <a:r>
              <a:rPr lang="en-US" sz="1300" i="1" dirty="0">
                <a:solidFill>
                  <a:srgbClr val="1F2120"/>
                </a:solidFill>
                <a:latin typeface="Arial" pitchFamily="34" charset="0"/>
                <a:ea typeface="Arial" pitchFamily="34" charset="-122"/>
                <a:cs typeface="Arial" pitchFamily="34" charset="-120"/>
              </a:rPr>
              <a:t>seaborn: one line.</a:t>
            </a:r>
            <a:endParaRPr lang="en-US" sz="1300" dirty="0"/>
          </a:p>
        </p:txBody>
      </p:sp>
      <p:sp>
        <p:nvSpPr>
          <p:cNvPr id="13" name="Shape 11"/>
          <p:cNvSpPr/>
          <p:nvPr/>
        </p:nvSpPr>
        <p:spPr>
          <a:xfrm>
            <a:off x="457200" y="3995928"/>
            <a:ext cx="137160" cy="137160"/>
          </a:xfrm>
          <a:prstGeom prst="rect">
            <a:avLst/>
          </a:prstGeom>
          <a:solidFill>
            <a:srgbClr val="CF3338"/>
          </a:solidFill>
          <a:ln w="12700">
            <a:solidFill>
              <a:srgbClr val="CF3338"/>
            </a:solidFill>
            <a:prstDash val="solid"/>
          </a:ln>
        </p:spPr>
        <p:txBody>
          <a:bodyPr/>
          <a:lstStyle/>
          <a:p>
            <a:endParaRPr lang="en-US"/>
          </a:p>
        </p:txBody>
      </p:sp>
      <p:sp>
        <p:nvSpPr>
          <p:cNvPr id="14" name="Text 12"/>
          <p:cNvSpPr/>
          <p:nvPr/>
        </p:nvSpPr>
        <p:spPr>
          <a:xfrm>
            <a:off x="731520" y="3886200"/>
            <a:ext cx="8046720" cy="320040"/>
          </a:xfrm>
          <a:prstGeom prst="rect">
            <a:avLst/>
          </a:prstGeom>
          <a:noFill/>
          <a:ln/>
        </p:spPr>
        <p:txBody>
          <a:bodyPr wrap="square" lIns="0" tIns="0" rIns="0" bIns="0" rtlCol="0" anchor="ctr"/>
          <a:lstStyle/>
          <a:p>
            <a:pPr marL="0" indent="0">
              <a:buNone/>
            </a:pPr>
            <a:r>
              <a:rPr lang="en-US" sz="1600" b="1" dirty="0">
                <a:solidFill>
                  <a:srgbClr val="1F2120"/>
                </a:solidFill>
                <a:latin typeface="Arial" pitchFamily="34" charset="0"/>
                <a:ea typeface="Arial" pitchFamily="34" charset="-122"/>
                <a:cs typeface="Arial" pitchFamily="34" charset="-120"/>
              </a:rPr>
              <a:t>Multi-variable descriptive statistics</a:t>
            </a:r>
            <a:endParaRPr lang="en-US" sz="1600" dirty="0"/>
          </a:p>
        </p:txBody>
      </p:sp>
      <p:sp>
        <p:nvSpPr>
          <p:cNvPr id="15" name="Text 13"/>
          <p:cNvSpPr/>
          <p:nvPr/>
        </p:nvSpPr>
        <p:spPr>
          <a:xfrm>
            <a:off x="731520" y="4206240"/>
            <a:ext cx="8046720" cy="365760"/>
          </a:xfrm>
          <a:prstGeom prst="rect">
            <a:avLst/>
          </a:prstGeom>
          <a:noFill/>
          <a:ln/>
        </p:spPr>
        <p:txBody>
          <a:bodyPr wrap="square" lIns="0" tIns="0" rIns="0" bIns="0" rtlCol="0" anchor="ctr"/>
          <a:lstStyle/>
          <a:p>
            <a:pPr marL="0" indent="0">
              <a:buNone/>
            </a:pPr>
            <a:r>
              <a:rPr lang="en-US" sz="1300" i="1" dirty="0">
                <a:solidFill>
                  <a:srgbClr val="1F2120"/>
                </a:solidFill>
                <a:latin typeface="Arial" pitchFamily="34" charset="0"/>
                <a:ea typeface="Arial" pitchFamily="34" charset="-122"/>
                <a:cs typeface="Arial" pitchFamily="34" charset="-120"/>
              </a:rPr>
              <a:t>Native Excel: Analysis ToolPak round-trip.</a:t>
            </a:r>
            <a:r>
              <a:rPr lang="en-US" sz="1300" b="1" dirty="0">
                <a:solidFill>
                  <a:srgbClr val="CF3338"/>
                </a:solidFill>
                <a:latin typeface="Arial" pitchFamily="34" charset="0"/>
                <a:ea typeface="Arial" pitchFamily="34" charset="-122"/>
                <a:cs typeface="Arial" pitchFamily="34" charset="-120"/>
              </a:rPr>
              <a:t>   |   </a:t>
            </a:r>
            <a:r>
              <a:rPr lang="en-US" sz="1300" i="1" dirty="0">
                <a:solidFill>
                  <a:srgbClr val="1F2120"/>
                </a:solidFill>
                <a:latin typeface="Arial" pitchFamily="34" charset="0"/>
                <a:ea typeface="Arial" pitchFamily="34" charset="-122"/>
                <a:cs typeface="Arial" pitchFamily="34" charset="-120"/>
              </a:rPr>
              <a:t>pandas: .describe()</a:t>
            </a:r>
            <a:endParaRPr lang="en-US" sz="1300" dirty="0"/>
          </a:p>
        </p:txBody>
      </p:sp>
    </p:spTree>
    <p:extLst>
      <p:ext uri="{BB962C8B-B14F-4D97-AF65-F5344CB8AC3E}">
        <p14:creationId xmlns:p14="http://schemas.microsoft.com/office/powerpoint/2010/main" val="958276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When to reach for what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Three tools, three jobs. They are not competitors.</a:t>
            </a:r>
            <a:endParaRPr lang="en-US" sz="1500" dirty="0"/>
          </a:p>
        </p:txBody>
      </p:sp>
      <p:sp>
        <p:nvSpPr>
          <p:cNvPr id="4" name="Shape 2"/>
          <p:cNvSpPr/>
          <p:nvPr/>
        </p:nvSpPr>
        <p:spPr>
          <a:xfrm>
            <a:off x="365760" y="1554480"/>
            <a:ext cx="2697480" cy="320040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365760" y="1554480"/>
            <a:ext cx="2697480" cy="109728"/>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502920" y="1783080"/>
            <a:ext cx="2423160" cy="411480"/>
          </a:xfrm>
          <a:prstGeom prst="rect">
            <a:avLst/>
          </a:prstGeom>
          <a:noFill/>
          <a:ln/>
        </p:spPr>
        <p:txBody>
          <a:bodyPr wrap="square" lIns="0" tIns="0" rIns="0" bIns="0" rtlCol="0" anchor="ctr"/>
          <a:lstStyle/>
          <a:p>
            <a:pPr marL="0" indent="0">
              <a:buNone/>
            </a:pPr>
            <a:r>
              <a:rPr lang="en-US" sz="2000" b="1" dirty="0">
                <a:solidFill>
                  <a:srgbClr val="1F2120"/>
                </a:solidFill>
                <a:latin typeface="Arial Black" pitchFamily="34" charset="0"/>
                <a:ea typeface="Arial Black" pitchFamily="34" charset="-122"/>
                <a:cs typeface="Arial Black" pitchFamily="34" charset="-120"/>
              </a:rPr>
              <a:t>Formulas</a:t>
            </a:r>
            <a:endParaRPr lang="en-US" sz="2000" dirty="0"/>
          </a:p>
        </p:txBody>
      </p:sp>
      <p:sp>
        <p:nvSpPr>
          <p:cNvPr id="7" name="Text 5"/>
          <p:cNvSpPr/>
          <p:nvPr/>
        </p:nvSpPr>
        <p:spPr>
          <a:xfrm>
            <a:off x="502920" y="2194560"/>
            <a:ext cx="2423160" cy="45720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Quick lookups, references, ad-hoc math</a:t>
            </a:r>
            <a:endParaRPr lang="en-US" sz="1200" dirty="0"/>
          </a:p>
        </p:txBody>
      </p:sp>
      <p:sp>
        <p:nvSpPr>
          <p:cNvPr id="8" name="Text 6"/>
          <p:cNvSpPr/>
          <p:nvPr/>
        </p:nvSpPr>
        <p:spPr>
          <a:xfrm>
            <a:off x="502920" y="2651760"/>
            <a:ext cx="2423160" cy="548640"/>
          </a:xfrm>
          <a:prstGeom prst="rect">
            <a:avLst/>
          </a:prstGeom>
          <a:noFill/>
          <a:ln/>
        </p:spPr>
        <p:txBody>
          <a:bodyPr wrap="square" lIns="0" tIns="0" rIns="0" bIns="0" rtlCol="0" anchor="ctr"/>
          <a:lstStyle/>
          <a:p>
            <a:pPr marL="0" indent="0">
              <a:buNone/>
            </a:pPr>
            <a:r>
              <a:rPr lang="en-US" sz="1200" dirty="0">
                <a:solidFill>
                  <a:srgbClr val="1F2120"/>
                </a:solidFill>
                <a:latin typeface="Arial" pitchFamily="34" charset="0"/>
                <a:ea typeface="Arial" pitchFamily="34" charset="-122"/>
                <a:cs typeface="Arial" pitchFamily="34" charset="-120"/>
              </a:rPr>
              <a:t>Best when the answer lives in nearby cells.</a:t>
            </a:r>
            <a:endParaRPr lang="en-US" sz="1200" dirty="0"/>
          </a:p>
        </p:txBody>
      </p:sp>
      <p:sp>
        <p:nvSpPr>
          <p:cNvPr id="9" name="Text 7"/>
          <p:cNvSpPr/>
          <p:nvPr/>
        </p:nvSpPr>
        <p:spPr>
          <a:xfrm>
            <a:off x="548640" y="3291840"/>
            <a:ext cx="2377440" cy="1371600"/>
          </a:xfrm>
          <a:prstGeom prst="rect">
            <a:avLst/>
          </a:prstGeom>
          <a:noFill/>
          <a:ln/>
        </p:spPr>
        <p:txBody>
          <a:bodyPr wrap="square" lIns="0" tIns="0" rIns="0" bIns="0" rtlCol="0" anchor="t"/>
          <a:lstStyle/>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XLOOKUP, IF, SUMIFS</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Cell-anchored logic</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Volatile recalc</a:t>
            </a:r>
            <a:endParaRPr lang="en-US" sz="1200" dirty="0"/>
          </a:p>
        </p:txBody>
      </p:sp>
      <p:sp>
        <p:nvSpPr>
          <p:cNvPr id="10" name="Shape 8"/>
          <p:cNvSpPr/>
          <p:nvPr/>
        </p:nvSpPr>
        <p:spPr>
          <a:xfrm>
            <a:off x="3246120" y="1554480"/>
            <a:ext cx="2697480" cy="3200400"/>
          </a:xfrm>
          <a:prstGeom prst="rect">
            <a:avLst/>
          </a:prstGeom>
          <a:solidFill>
            <a:srgbClr val="FFFFFF"/>
          </a:solidFill>
          <a:ln w="12700">
            <a:solidFill>
              <a:srgbClr val="E0DDD0"/>
            </a:solidFill>
            <a:prstDash val="solid"/>
          </a:ln>
        </p:spPr>
        <p:txBody>
          <a:bodyPr/>
          <a:lstStyle/>
          <a:p>
            <a:endParaRPr lang="en-US"/>
          </a:p>
        </p:txBody>
      </p:sp>
      <p:sp>
        <p:nvSpPr>
          <p:cNvPr id="11" name="Shape 9"/>
          <p:cNvSpPr/>
          <p:nvPr/>
        </p:nvSpPr>
        <p:spPr>
          <a:xfrm>
            <a:off x="3246120" y="1554480"/>
            <a:ext cx="2697480" cy="109728"/>
          </a:xfrm>
          <a:prstGeom prst="rect">
            <a:avLst/>
          </a:prstGeom>
          <a:solidFill>
            <a:srgbClr val="CF3338"/>
          </a:solidFill>
          <a:ln w="12700">
            <a:solidFill>
              <a:srgbClr val="CF3338"/>
            </a:solidFill>
            <a:prstDash val="solid"/>
          </a:ln>
        </p:spPr>
        <p:txBody>
          <a:bodyPr/>
          <a:lstStyle/>
          <a:p>
            <a:endParaRPr lang="en-US"/>
          </a:p>
        </p:txBody>
      </p:sp>
      <p:sp>
        <p:nvSpPr>
          <p:cNvPr id="12" name="Text 10"/>
          <p:cNvSpPr/>
          <p:nvPr/>
        </p:nvSpPr>
        <p:spPr>
          <a:xfrm>
            <a:off x="3383280" y="1783080"/>
            <a:ext cx="2423160" cy="411480"/>
          </a:xfrm>
          <a:prstGeom prst="rect">
            <a:avLst/>
          </a:prstGeom>
          <a:noFill/>
          <a:ln/>
        </p:spPr>
        <p:txBody>
          <a:bodyPr wrap="square" lIns="0" tIns="0" rIns="0" bIns="0" rtlCol="0" anchor="ctr"/>
          <a:lstStyle/>
          <a:p>
            <a:pPr marL="0" indent="0">
              <a:buNone/>
            </a:pPr>
            <a:r>
              <a:rPr lang="en-US" sz="2000" b="1" dirty="0">
                <a:solidFill>
                  <a:srgbClr val="1F2120"/>
                </a:solidFill>
                <a:latin typeface="Arial Black" pitchFamily="34" charset="0"/>
                <a:ea typeface="Arial Black" pitchFamily="34" charset="-122"/>
                <a:cs typeface="Arial Black" pitchFamily="34" charset="-120"/>
              </a:rPr>
              <a:t>Power Query</a:t>
            </a:r>
            <a:endParaRPr lang="en-US" sz="2000" dirty="0"/>
          </a:p>
        </p:txBody>
      </p:sp>
      <p:sp>
        <p:nvSpPr>
          <p:cNvPr id="13" name="Text 11"/>
          <p:cNvSpPr/>
          <p:nvPr/>
        </p:nvSpPr>
        <p:spPr>
          <a:xfrm>
            <a:off x="3383280" y="2194560"/>
            <a:ext cx="2423160" cy="45720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Repeatable data prep &amp; connections</a:t>
            </a:r>
            <a:endParaRPr lang="en-US" sz="1200" dirty="0"/>
          </a:p>
        </p:txBody>
      </p:sp>
      <p:sp>
        <p:nvSpPr>
          <p:cNvPr id="14" name="Text 12"/>
          <p:cNvSpPr/>
          <p:nvPr/>
        </p:nvSpPr>
        <p:spPr>
          <a:xfrm>
            <a:off x="3383280" y="2651760"/>
            <a:ext cx="2423160" cy="548640"/>
          </a:xfrm>
          <a:prstGeom prst="rect">
            <a:avLst/>
          </a:prstGeom>
          <a:noFill/>
          <a:ln/>
        </p:spPr>
        <p:txBody>
          <a:bodyPr wrap="square" lIns="0" tIns="0" rIns="0" bIns="0" rtlCol="0" anchor="ctr"/>
          <a:lstStyle/>
          <a:p>
            <a:pPr marL="0" indent="0">
              <a:buNone/>
            </a:pPr>
            <a:r>
              <a:rPr lang="en-US" sz="1200" dirty="0">
                <a:solidFill>
                  <a:srgbClr val="1F2120"/>
                </a:solidFill>
                <a:latin typeface="Arial" pitchFamily="34" charset="0"/>
                <a:ea typeface="Arial" pitchFamily="34" charset="-122"/>
                <a:cs typeface="Arial" pitchFamily="34" charset="-120"/>
              </a:rPr>
              <a:t>Best when the same prep runs again next month.</a:t>
            </a:r>
            <a:endParaRPr lang="en-US" sz="1200" dirty="0"/>
          </a:p>
        </p:txBody>
      </p:sp>
      <p:sp>
        <p:nvSpPr>
          <p:cNvPr id="15" name="Text 13"/>
          <p:cNvSpPr/>
          <p:nvPr/>
        </p:nvSpPr>
        <p:spPr>
          <a:xfrm>
            <a:off x="3429000" y="3291840"/>
            <a:ext cx="2377440" cy="1371600"/>
          </a:xfrm>
          <a:prstGeom prst="rect">
            <a:avLst/>
          </a:prstGeom>
          <a:noFill/>
          <a:ln/>
        </p:spPr>
        <p:txBody>
          <a:bodyPr wrap="square" lIns="0" tIns="0" rIns="0" bIns="0" rtlCol="0" anchor="t"/>
          <a:lstStyle/>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Connect &amp; combine</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Clean &amp; shape</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Refresh on demand</a:t>
            </a:r>
            <a:endParaRPr lang="en-US" sz="1200" dirty="0"/>
          </a:p>
        </p:txBody>
      </p:sp>
      <p:sp>
        <p:nvSpPr>
          <p:cNvPr id="16" name="Shape 14"/>
          <p:cNvSpPr/>
          <p:nvPr/>
        </p:nvSpPr>
        <p:spPr>
          <a:xfrm>
            <a:off x="6126480" y="1554480"/>
            <a:ext cx="2697480" cy="3200400"/>
          </a:xfrm>
          <a:prstGeom prst="rect">
            <a:avLst/>
          </a:prstGeom>
          <a:solidFill>
            <a:srgbClr val="FFFFFF"/>
          </a:solidFill>
          <a:ln w="12700">
            <a:solidFill>
              <a:srgbClr val="E0DDD0"/>
            </a:solidFill>
            <a:prstDash val="solid"/>
          </a:ln>
        </p:spPr>
        <p:txBody>
          <a:bodyPr/>
          <a:lstStyle/>
          <a:p>
            <a:endParaRPr lang="en-US"/>
          </a:p>
        </p:txBody>
      </p:sp>
      <p:sp>
        <p:nvSpPr>
          <p:cNvPr id="17" name="Shape 15"/>
          <p:cNvSpPr/>
          <p:nvPr/>
        </p:nvSpPr>
        <p:spPr>
          <a:xfrm>
            <a:off x="6126480" y="1554480"/>
            <a:ext cx="2697480" cy="109728"/>
          </a:xfrm>
          <a:prstGeom prst="rect">
            <a:avLst/>
          </a:prstGeom>
          <a:solidFill>
            <a:srgbClr val="CF3338"/>
          </a:solidFill>
          <a:ln w="12700">
            <a:solidFill>
              <a:srgbClr val="CF3338"/>
            </a:solidFill>
            <a:prstDash val="solid"/>
          </a:ln>
        </p:spPr>
        <p:txBody>
          <a:bodyPr/>
          <a:lstStyle/>
          <a:p>
            <a:endParaRPr lang="en-US"/>
          </a:p>
        </p:txBody>
      </p:sp>
      <p:sp>
        <p:nvSpPr>
          <p:cNvPr id="18" name="Text 16"/>
          <p:cNvSpPr/>
          <p:nvPr/>
        </p:nvSpPr>
        <p:spPr>
          <a:xfrm>
            <a:off x="6263640" y="1783080"/>
            <a:ext cx="2423160" cy="411480"/>
          </a:xfrm>
          <a:prstGeom prst="rect">
            <a:avLst/>
          </a:prstGeom>
          <a:noFill/>
          <a:ln/>
        </p:spPr>
        <p:txBody>
          <a:bodyPr wrap="square" lIns="0" tIns="0" rIns="0" bIns="0" rtlCol="0" anchor="ctr"/>
          <a:lstStyle/>
          <a:p>
            <a:pPr marL="0" indent="0">
              <a:buNone/>
            </a:pPr>
            <a:r>
              <a:rPr lang="en-US" sz="2000" b="1" dirty="0">
                <a:solidFill>
                  <a:srgbClr val="1F2120"/>
                </a:solidFill>
                <a:latin typeface="Arial Black" pitchFamily="34" charset="0"/>
                <a:ea typeface="Arial Black" pitchFamily="34" charset="-122"/>
                <a:cs typeface="Arial Black" pitchFamily="34" charset="-120"/>
              </a:rPr>
              <a:t>Python in Excel</a:t>
            </a:r>
            <a:endParaRPr lang="en-US" sz="2000" dirty="0"/>
          </a:p>
        </p:txBody>
      </p:sp>
      <p:sp>
        <p:nvSpPr>
          <p:cNvPr id="19" name="Text 17"/>
          <p:cNvSpPr/>
          <p:nvPr/>
        </p:nvSpPr>
        <p:spPr>
          <a:xfrm>
            <a:off x="6263640" y="2194560"/>
            <a:ext cx="2423160" cy="45720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Analysis, stats, custom viz</a:t>
            </a:r>
            <a:endParaRPr lang="en-US" sz="1200" dirty="0"/>
          </a:p>
        </p:txBody>
      </p:sp>
      <p:sp>
        <p:nvSpPr>
          <p:cNvPr id="20" name="Text 18"/>
          <p:cNvSpPr/>
          <p:nvPr/>
        </p:nvSpPr>
        <p:spPr>
          <a:xfrm>
            <a:off x="6263640" y="2651760"/>
            <a:ext cx="2423160" cy="548640"/>
          </a:xfrm>
          <a:prstGeom prst="rect">
            <a:avLst/>
          </a:prstGeom>
          <a:noFill/>
          <a:ln/>
        </p:spPr>
        <p:txBody>
          <a:bodyPr wrap="square" lIns="0" tIns="0" rIns="0" bIns="0" rtlCol="0" anchor="ctr"/>
          <a:lstStyle/>
          <a:p>
            <a:pPr marL="0" indent="0">
              <a:buNone/>
            </a:pPr>
            <a:r>
              <a:rPr lang="en-US" sz="1200" dirty="0">
                <a:solidFill>
                  <a:srgbClr val="1F2120"/>
                </a:solidFill>
                <a:latin typeface="Arial" pitchFamily="34" charset="0"/>
                <a:ea typeface="Arial" pitchFamily="34" charset="-122"/>
                <a:cs typeface="Arial" pitchFamily="34" charset="-120"/>
              </a:rPr>
              <a:t>Best when you need pandas, seaborn, or statsmodels.</a:t>
            </a:r>
            <a:endParaRPr lang="en-US" sz="1200" dirty="0"/>
          </a:p>
        </p:txBody>
      </p:sp>
      <p:sp>
        <p:nvSpPr>
          <p:cNvPr id="21" name="Text 19"/>
          <p:cNvSpPr/>
          <p:nvPr/>
        </p:nvSpPr>
        <p:spPr>
          <a:xfrm>
            <a:off x="6309360" y="3291840"/>
            <a:ext cx="2377440" cy="1371600"/>
          </a:xfrm>
          <a:prstGeom prst="rect">
            <a:avLst/>
          </a:prstGeom>
          <a:noFill/>
          <a:ln/>
        </p:spPr>
        <p:txBody>
          <a:bodyPr wrap="square" lIns="0" tIns="0" rIns="0" bIns="0" rtlCol="0" anchor="t"/>
          <a:lstStyle/>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DataFrames &amp; groupby</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Heatmaps, pairplots</a:t>
            </a:r>
            <a:endParaRPr lang="en-US" sz="1200" dirty="0"/>
          </a:p>
          <a:p>
            <a:pPr marL="0" indent="0" algn="l">
              <a:spcAft>
                <a:spcPts val="800"/>
              </a:spcAft>
              <a:buNone/>
            </a:pPr>
            <a:r>
              <a:rPr lang="en-US" sz="1200" dirty="0">
                <a:solidFill>
                  <a:srgbClr val="1F2120"/>
                </a:solidFill>
                <a:latin typeface="Arial" pitchFamily="34" charset="0"/>
                <a:ea typeface="Arial" pitchFamily="34" charset="-122"/>
                <a:cs typeface="Arial" pitchFamily="34" charset="-120"/>
              </a:rPr>
              <a:t>▸  One-line summaries</a:t>
            </a:r>
            <a:endParaRPr lang="en-US" sz="1200" dirty="0"/>
          </a:p>
        </p:txBody>
      </p:sp>
    </p:spTree>
    <p:extLst>
      <p:ext uri="{BB962C8B-B14F-4D97-AF65-F5344CB8AC3E}">
        <p14:creationId xmlns:p14="http://schemas.microsoft.com/office/powerpoint/2010/main" val="34861372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marL="0" indent="0">
              <a:buNone/>
            </a:pPr>
            <a:r>
              <a:rPr lang="en-US" sz="2000" kern="0" spc="800" dirty="0">
                <a:solidFill>
                  <a:srgbClr val="FFFFFF"/>
                </a:solidFill>
                <a:latin typeface="Arial" pitchFamily="34" charset="0"/>
                <a:ea typeface="Arial" pitchFamily="34" charset="-122"/>
                <a:cs typeface="Arial" pitchFamily="34" charset="-120"/>
              </a:rPr>
              <a:t>Part 2</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marL="0" indent="0">
              <a:buNone/>
            </a:pPr>
            <a:r>
              <a:rPr lang="en-US" sz="4800" b="1" dirty="0">
                <a:solidFill>
                  <a:srgbClr val="FFFFFF"/>
                </a:solidFill>
                <a:latin typeface="Arial Black" pitchFamily="34" charset="0"/>
                <a:ea typeface="Arial Black" pitchFamily="34" charset="-122"/>
                <a:cs typeface="Arial Black" pitchFamily="34" charset="-120"/>
              </a:rPr>
              <a:t>Hello, world — in a cell.</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marL="0" indent="0">
              <a:buNone/>
            </a:pPr>
            <a:r>
              <a:rPr lang="en-US" sz="1800" i="1" dirty="0">
                <a:solidFill>
                  <a:srgbClr val="FFFFFF"/>
                </a:solidFill>
                <a:latin typeface="Arial" pitchFamily="34" charset="0"/>
                <a:ea typeface="Arial" pitchFamily="34" charset="-122"/>
                <a:cs typeface="Arial" pitchFamily="34" charset="-120"/>
              </a:rPr>
              <a:t>How a PY() cell works · output modes · the calc-order gotcha.</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 10 minutes  •  open ch_01.xlsx</a:t>
            </a:r>
            <a:endParaRPr lang="en-US" sz="1300" dirty="0"/>
          </a:p>
        </p:txBody>
      </p:sp>
    </p:spTree>
    <p:extLst>
      <p:ext uri="{BB962C8B-B14F-4D97-AF65-F5344CB8AC3E}">
        <p14:creationId xmlns:p14="http://schemas.microsoft.com/office/powerpoint/2010/main" val="309072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Three ways to insert a PY() cell</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Use whichever feels least like work.</a:t>
            </a:r>
            <a:endParaRPr lang="en-US" sz="1500" dirty="0"/>
          </a:p>
        </p:txBody>
      </p:sp>
      <p:sp>
        <p:nvSpPr>
          <p:cNvPr id="4" name="Shape 2"/>
          <p:cNvSpPr/>
          <p:nvPr/>
        </p:nvSpPr>
        <p:spPr>
          <a:xfrm>
            <a:off x="365760" y="1554480"/>
            <a:ext cx="2697480" cy="3017520"/>
          </a:xfrm>
          <a:prstGeom prst="rect">
            <a:avLst/>
          </a:prstGeom>
          <a:solidFill>
            <a:srgbClr val="FFFFFF"/>
          </a:solidFill>
          <a:ln w="12700">
            <a:solidFill>
              <a:srgbClr val="E0DDD0"/>
            </a:solidFill>
            <a:prstDash val="solid"/>
          </a:ln>
        </p:spPr>
        <p:txBody>
          <a:bodyPr/>
          <a:lstStyle/>
          <a:p>
            <a:endParaRPr lang="en-US"/>
          </a:p>
        </p:txBody>
      </p:sp>
      <p:sp>
        <p:nvSpPr>
          <p:cNvPr id="5" name="Text 3"/>
          <p:cNvSpPr/>
          <p:nvPr/>
        </p:nvSpPr>
        <p:spPr>
          <a:xfrm>
            <a:off x="365760" y="1691640"/>
            <a:ext cx="2697480" cy="822960"/>
          </a:xfrm>
          <a:prstGeom prst="rect">
            <a:avLst/>
          </a:prstGeom>
          <a:noFill/>
          <a:ln/>
        </p:spPr>
        <p:txBody>
          <a:bodyPr wrap="square" lIns="0" tIns="0" rIns="0" bIns="0" rtlCol="0" anchor="ctr"/>
          <a:lstStyle/>
          <a:p>
            <a:pPr marL="0" indent="0" algn="ctr">
              <a:buNone/>
            </a:pPr>
            <a:r>
              <a:rPr lang="en-US" sz="6400" b="1" dirty="0">
                <a:solidFill>
                  <a:srgbClr val="CF3338"/>
                </a:solidFill>
                <a:latin typeface="Arial Black" pitchFamily="34" charset="0"/>
                <a:ea typeface="Arial Black" pitchFamily="34" charset="-122"/>
                <a:cs typeface="Arial Black" pitchFamily="34" charset="-120"/>
              </a:rPr>
              <a:t>1</a:t>
            </a:r>
            <a:endParaRPr lang="en-US" sz="6400" dirty="0"/>
          </a:p>
        </p:txBody>
      </p:sp>
      <p:sp>
        <p:nvSpPr>
          <p:cNvPr id="6" name="Text 4"/>
          <p:cNvSpPr/>
          <p:nvPr/>
        </p:nvSpPr>
        <p:spPr>
          <a:xfrm>
            <a:off x="502920" y="2606040"/>
            <a:ext cx="2423160" cy="365760"/>
          </a:xfrm>
          <a:prstGeom prst="rect">
            <a:avLst/>
          </a:prstGeom>
          <a:noFill/>
          <a:ln/>
        </p:spPr>
        <p:txBody>
          <a:bodyPr wrap="square" lIns="0" tIns="0" rIns="0" bIns="0" rtlCol="0" anchor="ctr"/>
          <a:lstStyle/>
          <a:p>
            <a:pPr marL="0" indent="0" algn="ctr">
              <a:buNone/>
            </a:pPr>
            <a:r>
              <a:rPr lang="en-US" sz="1800" b="1" dirty="0">
                <a:solidFill>
                  <a:srgbClr val="1F2120"/>
                </a:solidFill>
                <a:latin typeface="Arial Black" pitchFamily="34" charset="0"/>
                <a:ea typeface="Arial Black" pitchFamily="34" charset="-122"/>
                <a:cs typeface="Arial Black" pitchFamily="34" charset="-120"/>
              </a:rPr>
              <a:t>Ribbon</a:t>
            </a:r>
            <a:endParaRPr lang="en-US" sz="1800" dirty="0"/>
          </a:p>
        </p:txBody>
      </p:sp>
      <p:sp>
        <p:nvSpPr>
          <p:cNvPr id="7" name="Text 5"/>
          <p:cNvSpPr/>
          <p:nvPr/>
        </p:nvSpPr>
        <p:spPr>
          <a:xfrm>
            <a:off x="502920" y="3017520"/>
            <a:ext cx="2423160" cy="822960"/>
          </a:xfrm>
          <a:prstGeom prst="rect">
            <a:avLst/>
          </a:prstGeom>
          <a:noFill/>
          <a:ln/>
        </p:spPr>
        <p:txBody>
          <a:bodyPr wrap="square" lIns="0" tIns="0" rIns="0" bIns="0" rtlCol="0" anchor="ctr"/>
          <a:lstStyle/>
          <a:p>
            <a:pPr marL="0" indent="0" algn="ctr">
              <a:buNone/>
            </a:pPr>
            <a:r>
              <a:rPr lang="en-US" sz="1600" dirty="0">
                <a:solidFill>
                  <a:srgbClr val="1F2120"/>
                </a:solidFill>
                <a:latin typeface="Courier New" pitchFamily="34" charset="0"/>
                <a:ea typeface="Courier New" pitchFamily="34" charset="-122"/>
                <a:cs typeface="Courier New" pitchFamily="34" charset="-120"/>
              </a:rPr>
              <a:t>Formulas tab → Insert Python.</a:t>
            </a:r>
            <a:endParaRPr lang="en-US" sz="1600" dirty="0"/>
          </a:p>
        </p:txBody>
      </p:sp>
      <p:sp>
        <p:nvSpPr>
          <p:cNvPr id="8" name="Text 6"/>
          <p:cNvSpPr/>
          <p:nvPr/>
        </p:nvSpPr>
        <p:spPr>
          <a:xfrm>
            <a:off x="502920" y="3931920"/>
            <a:ext cx="2423160" cy="411480"/>
          </a:xfrm>
          <a:prstGeom prst="rect">
            <a:avLst/>
          </a:prstGeom>
          <a:noFill/>
          <a:ln/>
        </p:spPr>
        <p:txBody>
          <a:bodyPr wrap="square" lIns="0" tIns="0" rIns="0" bIns="0" rtlCol="0" anchor="ctr"/>
          <a:lstStyle/>
          <a:p>
            <a:pPr marL="0" indent="0" algn="ctr">
              <a:buNone/>
            </a:pPr>
            <a:r>
              <a:rPr lang="en-US" sz="1200" i="1" dirty="0">
                <a:solidFill>
                  <a:srgbClr val="707070"/>
                </a:solidFill>
                <a:latin typeface="Arial" pitchFamily="34" charset="0"/>
                <a:ea typeface="Arial" pitchFamily="34" charset="-122"/>
                <a:cs typeface="Arial" pitchFamily="34" charset="-120"/>
              </a:rPr>
              <a:t>The discoverable one.</a:t>
            </a:r>
            <a:endParaRPr lang="en-US" sz="1200" dirty="0"/>
          </a:p>
        </p:txBody>
      </p:sp>
      <p:sp>
        <p:nvSpPr>
          <p:cNvPr id="9" name="Shape 7"/>
          <p:cNvSpPr/>
          <p:nvPr/>
        </p:nvSpPr>
        <p:spPr>
          <a:xfrm>
            <a:off x="3246120" y="1554480"/>
            <a:ext cx="2697480" cy="3017520"/>
          </a:xfrm>
          <a:prstGeom prst="rect">
            <a:avLst/>
          </a:prstGeom>
          <a:solidFill>
            <a:srgbClr val="FFFFFF"/>
          </a:solidFill>
          <a:ln w="12700">
            <a:solidFill>
              <a:srgbClr val="E0DDD0"/>
            </a:solidFill>
            <a:prstDash val="solid"/>
          </a:ln>
        </p:spPr>
        <p:txBody>
          <a:bodyPr/>
          <a:lstStyle/>
          <a:p>
            <a:endParaRPr lang="en-US"/>
          </a:p>
        </p:txBody>
      </p:sp>
      <p:sp>
        <p:nvSpPr>
          <p:cNvPr id="10" name="Text 8"/>
          <p:cNvSpPr/>
          <p:nvPr/>
        </p:nvSpPr>
        <p:spPr>
          <a:xfrm>
            <a:off x="3246120" y="1691640"/>
            <a:ext cx="2697480" cy="822960"/>
          </a:xfrm>
          <a:prstGeom prst="rect">
            <a:avLst/>
          </a:prstGeom>
          <a:noFill/>
          <a:ln/>
        </p:spPr>
        <p:txBody>
          <a:bodyPr wrap="square" lIns="0" tIns="0" rIns="0" bIns="0" rtlCol="0" anchor="ctr"/>
          <a:lstStyle/>
          <a:p>
            <a:pPr marL="0" indent="0" algn="ctr">
              <a:buNone/>
            </a:pPr>
            <a:r>
              <a:rPr lang="en-US" sz="6400" b="1" dirty="0">
                <a:solidFill>
                  <a:srgbClr val="CF3338"/>
                </a:solidFill>
                <a:latin typeface="Arial Black" pitchFamily="34" charset="0"/>
                <a:ea typeface="Arial Black" pitchFamily="34" charset="-122"/>
                <a:cs typeface="Arial Black" pitchFamily="34" charset="-120"/>
              </a:rPr>
              <a:t>2</a:t>
            </a:r>
            <a:endParaRPr lang="en-US" sz="6400" dirty="0"/>
          </a:p>
        </p:txBody>
      </p:sp>
      <p:sp>
        <p:nvSpPr>
          <p:cNvPr id="11" name="Text 9"/>
          <p:cNvSpPr/>
          <p:nvPr/>
        </p:nvSpPr>
        <p:spPr>
          <a:xfrm>
            <a:off x="3383280" y="2606040"/>
            <a:ext cx="2423160" cy="365760"/>
          </a:xfrm>
          <a:prstGeom prst="rect">
            <a:avLst/>
          </a:prstGeom>
          <a:noFill/>
          <a:ln/>
        </p:spPr>
        <p:txBody>
          <a:bodyPr wrap="square" lIns="0" tIns="0" rIns="0" bIns="0" rtlCol="0" anchor="ctr"/>
          <a:lstStyle/>
          <a:p>
            <a:pPr marL="0" indent="0" algn="ctr">
              <a:buNone/>
            </a:pPr>
            <a:r>
              <a:rPr lang="en-US" sz="1800" b="1" dirty="0">
                <a:solidFill>
                  <a:srgbClr val="1F2120"/>
                </a:solidFill>
                <a:latin typeface="Arial Black" pitchFamily="34" charset="0"/>
                <a:ea typeface="Arial Black" pitchFamily="34" charset="-122"/>
                <a:cs typeface="Arial Black" pitchFamily="34" charset="-120"/>
              </a:rPr>
              <a:t>Type it</a:t>
            </a:r>
            <a:endParaRPr lang="en-US" sz="1800" dirty="0"/>
          </a:p>
        </p:txBody>
      </p:sp>
      <p:sp>
        <p:nvSpPr>
          <p:cNvPr id="12" name="Text 10"/>
          <p:cNvSpPr/>
          <p:nvPr/>
        </p:nvSpPr>
        <p:spPr>
          <a:xfrm>
            <a:off x="3383280" y="3017520"/>
            <a:ext cx="2423160" cy="822960"/>
          </a:xfrm>
          <a:prstGeom prst="rect">
            <a:avLst/>
          </a:prstGeom>
          <a:noFill/>
          <a:ln/>
        </p:spPr>
        <p:txBody>
          <a:bodyPr wrap="square" lIns="0" tIns="0" rIns="0" bIns="0" rtlCol="0" anchor="ctr"/>
          <a:lstStyle/>
          <a:p>
            <a:pPr marL="0" indent="0" algn="ctr">
              <a:buNone/>
            </a:pPr>
            <a:r>
              <a:rPr lang="en-US" sz="1600" dirty="0">
                <a:solidFill>
                  <a:srgbClr val="1F2120"/>
                </a:solidFill>
                <a:latin typeface="Courier New" pitchFamily="34" charset="0"/>
                <a:ea typeface="Courier New" pitchFamily="34" charset="-122"/>
                <a:cs typeface="Courier New" pitchFamily="34" charset="-120"/>
              </a:rPr>
              <a:t>=PY(  in any cell.</a:t>
            </a:r>
            <a:endParaRPr lang="en-US" sz="1600" dirty="0"/>
          </a:p>
        </p:txBody>
      </p:sp>
      <p:sp>
        <p:nvSpPr>
          <p:cNvPr id="13" name="Text 11"/>
          <p:cNvSpPr/>
          <p:nvPr/>
        </p:nvSpPr>
        <p:spPr>
          <a:xfrm>
            <a:off x="3383280" y="3931920"/>
            <a:ext cx="2423160" cy="411480"/>
          </a:xfrm>
          <a:prstGeom prst="rect">
            <a:avLst/>
          </a:prstGeom>
          <a:noFill/>
          <a:ln/>
        </p:spPr>
        <p:txBody>
          <a:bodyPr wrap="square" lIns="0" tIns="0" rIns="0" bIns="0" rtlCol="0" anchor="ctr"/>
          <a:lstStyle/>
          <a:p>
            <a:pPr marL="0" indent="0" algn="ctr">
              <a:buNone/>
            </a:pPr>
            <a:r>
              <a:rPr lang="en-US" sz="1200" i="1" dirty="0">
                <a:solidFill>
                  <a:srgbClr val="707070"/>
                </a:solidFill>
                <a:latin typeface="Arial" pitchFamily="34" charset="0"/>
                <a:ea typeface="Arial" pitchFamily="34" charset="-122"/>
                <a:cs typeface="Arial" pitchFamily="34" charset="-120"/>
              </a:rPr>
              <a:t>Once you trust it.</a:t>
            </a:r>
            <a:endParaRPr lang="en-US" sz="1200" dirty="0"/>
          </a:p>
        </p:txBody>
      </p:sp>
      <p:sp>
        <p:nvSpPr>
          <p:cNvPr id="14" name="Shape 12"/>
          <p:cNvSpPr/>
          <p:nvPr/>
        </p:nvSpPr>
        <p:spPr>
          <a:xfrm>
            <a:off x="6126480" y="1554480"/>
            <a:ext cx="2697480" cy="3017520"/>
          </a:xfrm>
          <a:prstGeom prst="rect">
            <a:avLst/>
          </a:prstGeom>
          <a:solidFill>
            <a:srgbClr val="FFFFFF"/>
          </a:solidFill>
          <a:ln w="12700">
            <a:solidFill>
              <a:srgbClr val="E0DDD0"/>
            </a:solidFill>
            <a:prstDash val="solid"/>
          </a:ln>
        </p:spPr>
        <p:txBody>
          <a:bodyPr/>
          <a:lstStyle/>
          <a:p>
            <a:endParaRPr lang="en-US"/>
          </a:p>
        </p:txBody>
      </p:sp>
      <p:sp>
        <p:nvSpPr>
          <p:cNvPr id="15" name="Text 13"/>
          <p:cNvSpPr/>
          <p:nvPr/>
        </p:nvSpPr>
        <p:spPr>
          <a:xfrm>
            <a:off x="6126480" y="1691640"/>
            <a:ext cx="2697480" cy="822960"/>
          </a:xfrm>
          <a:prstGeom prst="rect">
            <a:avLst/>
          </a:prstGeom>
          <a:noFill/>
          <a:ln/>
        </p:spPr>
        <p:txBody>
          <a:bodyPr wrap="square" lIns="0" tIns="0" rIns="0" bIns="0" rtlCol="0" anchor="ctr"/>
          <a:lstStyle/>
          <a:p>
            <a:pPr marL="0" indent="0" algn="ctr">
              <a:buNone/>
            </a:pPr>
            <a:r>
              <a:rPr lang="en-US" sz="6400" b="1" dirty="0">
                <a:solidFill>
                  <a:srgbClr val="CF3338"/>
                </a:solidFill>
                <a:latin typeface="Arial Black" pitchFamily="34" charset="0"/>
                <a:ea typeface="Arial Black" pitchFamily="34" charset="-122"/>
                <a:cs typeface="Arial Black" pitchFamily="34" charset="-120"/>
              </a:rPr>
              <a:t>3</a:t>
            </a:r>
            <a:endParaRPr lang="en-US" sz="6400" dirty="0"/>
          </a:p>
        </p:txBody>
      </p:sp>
      <p:sp>
        <p:nvSpPr>
          <p:cNvPr id="16" name="Text 14"/>
          <p:cNvSpPr/>
          <p:nvPr/>
        </p:nvSpPr>
        <p:spPr>
          <a:xfrm>
            <a:off x="6263640" y="2606040"/>
            <a:ext cx="2423160" cy="365760"/>
          </a:xfrm>
          <a:prstGeom prst="rect">
            <a:avLst/>
          </a:prstGeom>
          <a:noFill/>
          <a:ln/>
        </p:spPr>
        <p:txBody>
          <a:bodyPr wrap="square" lIns="0" tIns="0" rIns="0" bIns="0" rtlCol="0" anchor="ctr"/>
          <a:lstStyle/>
          <a:p>
            <a:pPr marL="0" indent="0" algn="ctr">
              <a:buNone/>
            </a:pPr>
            <a:r>
              <a:rPr lang="en-US" sz="1800" b="1" dirty="0">
                <a:solidFill>
                  <a:srgbClr val="1F2120"/>
                </a:solidFill>
                <a:latin typeface="Arial Black" pitchFamily="34" charset="0"/>
                <a:ea typeface="Arial Black" pitchFamily="34" charset="-122"/>
                <a:cs typeface="Arial Black" pitchFamily="34" charset="-120"/>
              </a:rPr>
              <a:t>Keyboard</a:t>
            </a:r>
            <a:endParaRPr lang="en-US" sz="1800" dirty="0"/>
          </a:p>
        </p:txBody>
      </p:sp>
      <p:sp>
        <p:nvSpPr>
          <p:cNvPr id="17" name="Text 15"/>
          <p:cNvSpPr/>
          <p:nvPr/>
        </p:nvSpPr>
        <p:spPr>
          <a:xfrm>
            <a:off x="6263640" y="3017520"/>
            <a:ext cx="2423160" cy="822960"/>
          </a:xfrm>
          <a:prstGeom prst="rect">
            <a:avLst/>
          </a:prstGeom>
          <a:noFill/>
          <a:ln/>
        </p:spPr>
        <p:txBody>
          <a:bodyPr wrap="square" lIns="0" tIns="0" rIns="0" bIns="0" rtlCol="0" anchor="ctr"/>
          <a:lstStyle/>
          <a:p>
            <a:pPr marL="0" indent="0" algn="ctr">
              <a:buNone/>
            </a:pPr>
            <a:r>
              <a:rPr lang="en-US" sz="1600" dirty="0">
                <a:solidFill>
                  <a:srgbClr val="1F2120"/>
                </a:solidFill>
                <a:latin typeface="Courier New" pitchFamily="34" charset="0"/>
                <a:ea typeface="Courier New" pitchFamily="34" charset="-122"/>
                <a:cs typeface="Courier New" pitchFamily="34" charset="-120"/>
              </a:rPr>
              <a:t>Ctrl + Alt + Shift + P</a:t>
            </a:r>
            <a:endParaRPr lang="en-US" sz="1600" dirty="0"/>
          </a:p>
        </p:txBody>
      </p:sp>
      <p:sp>
        <p:nvSpPr>
          <p:cNvPr id="18" name="Text 16"/>
          <p:cNvSpPr/>
          <p:nvPr/>
        </p:nvSpPr>
        <p:spPr>
          <a:xfrm>
            <a:off x="6263640" y="3931920"/>
            <a:ext cx="2423160" cy="411480"/>
          </a:xfrm>
          <a:prstGeom prst="rect">
            <a:avLst/>
          </a:prstGeom>
          <a:noFill/>
          <a:ln/>
        </p:spPr>
        <p:txBody>
          <a:bodyPr wrap="square" lIns="0" tIns="0" rIns="0" bIns="0" rtlCol="0" anchor="ctr"/>
          <a:lstStyle/>
          <a:p>
            <a:pPr marL="0" indent="0" algn="ctr">
              <a:buNone/>
            </a:pPr>
            <a:r>
              <a:rPr lang="en-US" sz="1200" i="1" dirty="0">
                <a:solidFill>
                  <a:srgbClr val="707070"/>
                </a:solidFill>
                <a:latin typeface="Arial" pitchFamily="34" charset="0"/>
                <a:ea typeface="Arial" pitchFamily="34" charset="-122"/>
                <a:cs typeface="Arial" pitchFamily="34" charset="-120"/>
              </a:rPr>
              <a:t>Once you're showing off.</a:t>
            </a:r>
            <a:endParaRPr lang="en-US" sz="1200" dirty="0"/>
          </a:p>
        </p:txBody>
      </p:sp>
      <p:sp>
        <p:nvSpPr>
          <p:cNvPr id="19" name="Text 17"/>
          <p:cNvSpPr/>
          <p:nvPr/>
        </p:nvSpPr>
        <p:spPr>
          <a:xfrm>
            <a:off x="457200" y="4663440"/>
            <a:ext cx="8229600" cy="320040"/>
          </a:xfrm>
          <a:prstGeom prst="rect">
            <a:avLst/>
          </a:prstGeom>
          <a:noFill/>
          <a:ln/>
        </p:spPr>
        <p:txBody>
          <a:bodyPr wrap="square" lIns="0" tIns="0" rIns="0" bIns="0" rtlCol="0" anchor="ctr"/>
          <a:lstStyle/>
          <a:p>
            <a:pPr marL="0" indent="0" algn="ctr">
              <a:buNone/>
            </a:pPr>
            <a:r>
              <a:rPr lang="en-US" sz="1200" i="1" dirty="0">
                <a:solidFill>
                  <a:srgbClr val="707070"/>
                </a:solidFill>
                <a:latin typeface="Arial" pitchFamily="34" charset="0"/>
                <a:ea typeface="Arial" pitchFamily="34" charset="-122"/>
                <a:cs typeface="Arial" pitchFamily="34" charset="-120"/>
              </a:rPr>
              <a:t>Look for the green PY badge in the cell + formula bar — that's your confirmation.</a:t>
            </a:r>
            <a:endParaRPr lang="en-US" sz="1200" dirty="0"/>
          </a:p>
        </p:txBody>
      </p:sp>
    </p:spTree>
    <p:extLst>
      <p:ext uri="{BB962C8B-B14F-4D97-AF65-F5344CB8AC3E}">
        <p14:creationId xmlns:p14="http://schemas.microsoft.com/office/powerpoint/2010/main" val="3858911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Two ways to see your output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400" i="1" dirty="0">
                <a:solidFill>
                  <a:srgbClr val="707070"/>
                </a:solidFill>
                <a:latin typeface="Arial" pitchFamily="34" charset="0"/>
                <a:ea typeface="Arial" pitchFamily="34" charset="-122"/>
                <a:cs typeface="Arial" pitchFamily="34" charset="-120"/>
              </a:rPr>
              <a:t>Toggle: Ctrl + Alt + Shift + M  (or click the icon left of the formula bar)</a:t>
            </a:r>
            <a:endParaRPr lang="en-US" sz="1400" dirty="0"/>
          </a:p>
        </p:txBody>
      </p:sp>
      <p:sp>
        <p:nvSpPr>
          <p:cNvPr id="4" name="Shape 2"/>
          <p:cNvSpPr/>
          <p:nvPr/>
        </p:nvSpPr>
        <p:spPr>
          <a:xfrm>
            <a:off x="457200" y="1554480"/>
            <a:ext cx="4023360" cy="320040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554480"/>
            <a:ext cx="4023360" cy="41148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594360" y="1572768"/>
            <a:ext cx="3749040" cy="365760"/>
          </a:xfrm>
          <a:prstGeom prst="rect">
            <a:avLst/>
          </a:prstGeom>
          <a:noFill/>
          <a:ln/>
        </p:spPr>
        <p:txBody>
          <a:bodyPr wrap="square" lIns="0" tIns="0" rIns="0" bIns="0" rtlCol="0" anchor="ctr"/>
          <a:lstStyle/>
          <a:p>
            <a:pPr marL="0" indent="0">
              <a:buNone/>
            </a:pPr>
            <a:r>
              <a:rPr lang="en-US" sz="1600" b="1" dirty="0">
                <a:solidFill>
                  <a:srgbClr val="FFFFFF"/>
                </a:solidFill>
                <a:latin typeface="Arial Black" pitchFamily="34" charset="0"/>
                <a:ea typeface="Arial Black" pitchFamily="34" charset="-122"/>
                <a:cs typeface="Arial Black" pitchFamily="34" charset="-120"/>
              </a:rPr>
              <a:t>Python Object  (default)</a:t>
            </a:r>
            <a:endParaRPr lang="en-US" sz="1600" dirty="0"/>
          </a:p>
        </p:txBody>
      </p:sp>
      <p:sp>
        <p:nvSpPr>
          <p:cNvPr id="7" name="Text 5"/>
          <p:cNvSpPr/>
          <p:nvPr/>
        </p:nvSpPr>
        <p:spPr>
          <a:xfrm>
            <a:off x="64008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Shows a card icon, dimensions, preview</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Stays in one cell — no spill</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Best mid-analysis: chain operations on it</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Acts like a linked data type</a:t>
            </a:r>
            <a:endParaRPr lang="en-US" sz="1600" dirty="0"/>
          </a:p>
        </p:txBody>
      </p:sp>
      <p:sp>
        <p:nvSpPr>
          <p:cNvPr id="8" name="Shape 6"/>
          <p:cNvSpPr/>
          <p:nvPr/>
        </p:nvSpPr>
        <p:spPr>
          <a:xfrm>
            <a:off x="4663440" y="1554480"/>
            <a:ext cx="4023360" cy="3200400"/>
          </a:xfrm>
          <a:prstGeom prst="rect">
            <a:avLst/>
          </a:prstGeom>
          <a:solidFill>
            <a:srgbClr val="FFFFFF"/>
          </a:solidFill>
          <a:ln w="12700">
            <a:solidFill>
              <a:srgbClr val="E0DDD0"/>
            </a:solidFill>
            <a:prstDash val="solid"/>
          </a:ln>
        </p:spPr>
        <p:txBody>
          <a:bodyPr/>
          <a:lstStyle/>
          <a:p>
            <a:endParaRPr lang="en-US"/>
          </a:p>
        </p:txBody>
      </p:sp>
      <p:sp>
        <p:nvSpPr>
          <p:cNvPr id="9" name="Shape 7"/>
          <p:cNvSpPr/>
          <p:nvPr/>
        </p:nvSpPr>
        <p:spPr>
          <a:xfrm>
            <a:off x="4663440" y="1554480"/>
            <a:ext cx="4023360" cy="411480"/>
          </a:xfrm>
          <a:prstGeom prst="rect">
            <a:avLst/>
          </a:prstGeom>
          <a:solidFill>
            <a:srgbClr val="1F2120"/>
          </a:solidFill>
          <a:ln w="12700">
            <a:solidFill>
              <a:srgbClr val="1F2120"/>
            </a:solidFill>
            <a:prstDash val="solid"/>
          </a:ln>
        </p:spPr>
        <p:txBody>
          <a:bodyPr/>
          <a:lstStyle/>
          <a:p>
            <a:endParaRPr lang="en-US"/>
          </a:p>
        </p:txBody>
      </p:sp>
      <p:sp>
        <p:nvSpPr>
          <p:cNvPr id="10" name="Text 8"/>
          <p:cNvSpPr/>
          <p:nvPr/>
        </p:nvSpPr>
        <p:spPr>
          <a:xfrm>
            <a:off x="4800600" y="1572768"/>
            <a:ext cx="3749040" cy="365760"/>
          </a:xfrm>
          <a:prstGeom prst="rect">
            <a:avLst/>
          </a:prstGeom>
          <a:noFill/>
          <a:ln/>
        </p:spPr>
        <p:txBody>
          <a:bodyPr wrap="square" lIns="0" tIns="0" rIns="0" bIns="0" rtlCol="0" anchor="ctr"/>
          <a:lstStyle/>
          <a:p>
            <a:pPr marL="0" indent="0">
              <a:buNone/>
            </a:pPr>
            <a:r>
              <a:rPr lang="en-US" sz="1600" b="1" dirty="0">
                <a:solidFill>
                  <a:srgbClr val="FFFFFF"/>
                </a:solidFill>
                <a:latin typeface="Arial Black" pitchFamily="34" charset="0"/>
                <a:ea typeface="Arial Black" pitchFamily="34" charset="-122"/>
                <a:cs typeface="Arial Black" pitchFamily="34" charset="-120"/>
              </a:rPr>
              <a:t>Excel Value</a:t>
            </a:r>
            <a:endParaRPr lang="en-US" sz="1600" dirty="0"/>
          </a:p>
        </p:txBody>
      </p:sp>
      <p:sp>
        <p:nvSpPr>
          <p:cNvPr id="11" name="Text 9"/>
          <p:cNvSpPr/>
          <p:nvPr/>
        </p:nvSpPr>
        <p:spPr>
          <a:xfrm>
            <a:off x="484632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Spills into the grid as a dynamic array</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Format with normal Excel tools</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Best at the end: hand-off to formulas / charts</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Reference it like any spilled range</a:t>
            </a:r>
            <a:endParaRPr lang="en-US" sz="1600" dirty="0"/>
          </a:p>
        </p:txBody>
      </p:sp>
    </p:spTree>
    <p:extLst>
      <p:ext uri="{BB962C8B-B14F-4D97-AF65-F5344CB8AC3E}">
        <p14:creationId xmlns:p14="http://schemas.microsoft.com/office/powerpoint/2010/main" val="723003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CF3338"/>
                </a:solidFill>
                <a:latin typeface="Arial Black" pitchFamily="34" charset="0"/>
                <a:ea typeface="Arial Black" pitchFamily="34" charset="-122"/>
                <a:cs typeface="Arial Black" pitchFamily="34" charset="-120"/>
              </a:rPr>
              <a:t>The one gotcha that will trip you up</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1F2120"/>
                </a:solidFill>
                <a:latin typeface="Arial" pitchFamily="34" charset="0"/>
                <a:ea typeface="Arial" pitchFamily="34" charset="-122"/>
                <a:cs typeface="Arial" pitchFamily="34" charset="-120"/>
              </a:rPr>
              <a:t>Python in Excel runs cells left-to-right, top-to-bottom — like reading a page.</a:t>
            </a:r>
            <a:endParaRPr lang="en-US" sz="1500" dirty="0"/>
          </a:p>
        </p:txBody>
      </p:sp>
      <p:pic>
        <p:nvPicPr>
          <p:cNvPr id="4" name="Image 0" descr="/sessions/festive-gallant-bohr/mnt/outputs/images/calc-order.png"/>
          <p:cNvPicPr>
            <a:picLocks noChangeAspect="1"/>
          </p:cNvPicPr>
          <p:nvPr/>
        </p:nvPicPr>
        <p:blipFill>
          <a:blip r:embed="rId3"/>
          <a:stretch>
            <a:fillRect/>
          </a:stretch>
        </p:blipFill>
        <p:spPr>
          <a:xfrm>
            <a:off x="457200" y="1463040"/>
            <a:ext cx="5029200" cy="3108960"/>
          </a:xfrm>
          <a:prstGeom prst="rect">
            <a:avLst/>
          </a:prstGeom>
        </p:spPr>
      </p:pic>
      <p:sp>
        <p:nvSpPr>
          <p:cNvPr id="5" name="Text 2"/>
          <p:cNvSpPr/>
          <p:nvPr/>
        </p:nvSpPr>
        <p:spPr>
          <a:xfrm>
            <a:off x="5669280" y="1554480"/>
            <a:ext cx="3108960" cy="365760"/>
          </a:xfrm>
          <a:prstGeom prst="rect">
            <a:avLst/>
          </a:prstGeom>
          <a:noFill/>
          <a:ln/>
        </p:spPr>
        <p:txBody>
          <a:bodyPr wrap="square" lIns="0" tIns="0" rIns="0" bIns="0" rtlCol="0" anchor="ctr"/>
          <a:lstStyle/>
          <a:p>
            <a:pPr marL="0" indent="0">
              <a:buNone/>
            </a:pPr>
            <a:r>
              <a:rPr lang="en-US" sz="1300" b="1" dirty="0">
                <a:solidFill>
                  <a:srgbClr val="1F2120"/>
                </a:solidFill>
                <a:latin typeface="Arial" pitchFamily="34" charset="0"/>
                <a:ea typeface="Arial" pitchFamily="34" charset="-122"/>
                <a:cs typeface="Arial" pitchFamily="34" charset="-120"/>
              </a:rPr>
              <a:t>If you define my_object in B2, you can reference it in:</a:t>
            </a:r>
            <a:endParaRPr lang="en-US" sz="1300" dirty="0"/>
          </a:p>
        </p:txBody>
      </p:sp>
      <p:sp>
        <p:nvSpPr>
          <p:cNvPr id="6" name="Text 3"/>
          <p:cNvSpPr/>
          <p:nvPr/>
        </p:nvSpPr>
        <p:spPr>
          <a:xfrm>
            <a:off x="5669280" y="1965960"/>
            <a:ext cx="31089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F2120"/>
                </a:solidFill>
                <a:latin typeface="Arial" pitchFamily="34" charset="0"/>
                <a:ea typeface="Arial" pitchFamily="34" charset="-122"/>
                <a:cs typeface="Arial" pitchFamily="34" charset="-120"/>
              </a:rPr>
              <a:t>any cell to the right of B2 in row 2</a:t>
            </a:r>
            <a:endParaRPr lang="en-US" sz="1300" dirty="0"/>
          </a:p>
          <a:p>
            <a:pPr marL="342900" indent="-342900">
              <a:spcAft>
                <a:spcPts val="600"/>
              </a:spcAft>
              <a:buSzPct val="100000"/>
              <a:buChar char="•"/>
            </a:pPr>
            <a:r>
              <a:rPr lang="en-US" sz="1300" dirty="0">
                <a:solidFill>
                  <a:srgbClr val="1F2120"/>
                </a:solidFill>
                <a:latin typeface="Arial" pitchFamily="34" charset="0"/>
                <a:ea typeface="Arial" pitchFamily="34" charset="-122"/>
                <a:cs typeface="Arial" pitchFamily="34" charset="-120"/>
              </a:rPr>
              <a:t>any cell in rows 3, 4, 5, …</a:t>
            </a:r>
            <a:endParaRPr lang="en-US" sz="1300" dirty="0"/>
          </a:p>
          <a:p>
            <a:pPr marL="342900" indent="-342900">
              <a:spcAft>
                <a:spcPts val="600"/>
              </a:spcAft>
              <a:buSzPct val="100000"/>
              <a:buChar char="•"/>
            </a:pPr>
            <a:r>
              <a:rPr lang="en-US" sz="1300" dirty="0">
                <a:solidFill>
                  <a:srgbClr val="1F2120"/>
                </a:solidFill>
                <a:latin typeface="Arial" pitchFamily="34" charset="0"/>
                <a:ea typeface="Arial" pitchFamily="34" charset="-122"/>
                <a:cs typeface="Arial" pitchFamily="34" charset="-120"/>
              </a:rPr>
              <a:t>NOT in row 1 — A1 throws #PYTHON</a:t>
            </a:r>
            <a:endParaRPr lang="en-US" sz="1300" dirty="0"/>
          </a:p>
        </p:txBody>
      </p:sp>
      <p:sp>
        <p:nvSpPr>
          <p:cNvPr id="7" name="Text 4"/>
          <p:cNvSpPr/>
          <p:nvPr/>
        </p:nvSpPr>
        <p:spPr>
          <a:xfrm>
            <a:off x="5669280" y="3383280"/>
            <a:ext cx="3108960" cy="274320"/>
          </a:xfrm>
          <a:prstGeom prst="rect">
            <a:avLst/>
          </a:prstGeom>
          <a:noFill/>
          <a:ln/>
        </p:spPr>
        <p:txBody>
          <a:bodyPr wrap="square" lIns="0" tIns="0" rIns="0" bIns="0" rtlCol="0" anchor="ctr"/>
          <a:lstStyle/>
          <a:p>
            <a:pPr marL="0" indent="0">
              <a:buNone/>
            </a:pPr>
            <a:r>
              <a:rPr lang="en-US" sz="1300" b="1" dirty="0">
                <a:solidFill>
                  <a:srgbClr val="1F2120"/>
                </a:solidFill>
                <a:latin typeface="Arial" pitchFamily="34" charset="0"/>
                <a:ea typeface="Arial" pitchFamily="34" charset="-122"/>
                <a:cs typeface="Arial" pitchFamily="34" charset="-120"/>
              </a:rPr>
              <a:t>Recovery move:</a:t>
            </a:r>
            <a:endParaRPr lang="en-US" sz="1300" dirty="0"/>
          </a:p>
        </p:txBody>
      </p:sp>
      <p:sp>
        <p:nvSpPr>
          <p:cNvPr id="8" name="Text 5"/>
          <p:cNvSpPr/>
          <p:nvPr/>
        </p:nvSpPr>
        <p:spPr>
          <a:xfrm>
            <a:off x="5669280" y="3657600"/>
            <a:ext cx="3108960" cy="91440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Put your imports and variables in the top-left. Build down and right.</a:t>
            </a:r>
            <a:endParaRPr lang="en-US" sz="1200" dirty="0"/>
          </a:p>
        </p:txBody>
      </p:sp>
    </p:spTree>
    <p:extLst>
      <p:ext uri="{BB962C8B-B14F-4D97-AF65-F5344CB8AC3E}">
        <p14:creationId xmlns:p14="http://schemas.microsoft.com/office/powerpoint/2010/main" val="335864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marL="0" indent="0">
              <a:buNone/>
            </a:pPr>
            <a:r>
              <a:rPr lang="en-US" sz="2000" kern="0" spc="800" dirty="0">
                <a:solidFill>
                  <a:srgbClr val="FFFFFF"/>
                </a:solidFill>
                <a:latin typeface="Arial" pitchFamily="34" charset="0"/>
                <a:ea typeface="Arial" pitchFamily="34" charset="-122"/>
                <a:cs typeface="Arial" pitchFamily="34" charset="-120"/>
              </a:rPr>
              <a:t>Part 3</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Exploring a real dataset with pandas</a:t>
            </a:r>
            <a:endParaRPr lang="en-US" sz="44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marL="0" indent="0">
              <a:buNone/>
            </a:pPr>
            <a:r>
              <a:rPr lang="en-US" sz="1800" i="1" dirty="0">
                <a:solidFill>
                  <a:srgbClr val="FFFFFF"/>
                </a:solidFill>
                <a:latin typeface="Arial" pitchFamily="34" charset="0"/>
                <a:ea typeface="Arial" pitchFamily="34" charset="-122"/>
                <a:cs typeface="Arial" pitchFamily="34" charset="-120"/>
              </a:rPr>
              <a:t>200 orders. Six methods. Zero pivot tables.</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 25 minutes  •  switch to ch_02.xlsx</a:t>
            </a:r>
            <a:endParaRPr lang="en-US" sz="1300" dirty="0"/>
          </a:p>
        </p:txBody>
      </p:sp>
    </p:spTree>
    <p:extLst>
      <p:ext uri="{BB962C8B-B14F-4D97-AF65-F5344CB8AC3E}">
        <p14:creationId xmlns:p14="http://schemas.microsoft.com/office/powerpoint/2010/main" val="23899958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Step 1: Get the data into a DataFrame</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400" i="1" dirty="0">
                <a:solidFill>
                  <a:srgbClr val="707070"/>
                </a:solidFill>
                <a:latin typeface="Arial" pitchFamily="34" charset="0"/>
                <a:ea typeface="Arial" pitchFamily="34" charset="-122"/>
                <a:cs typeface="Arial" pitchFamily="34" charset="-120"/>
              </a:rPr>
              <a:t>Convert the range to an Excel Table first (Insert → Table). Name it.</a:t>
            </a:r>
            <a:endParaRPr lang="en-US" sz="1400" dirty="0"/>
          </a:p>
        </p:txBody>
      </p:sp>
      <p:sp>
        <p:nvSpPr>
          <p:cNvPr id="4" name="Shape 2"/>
          <p:cNvSpPr/>
          <p:nvPr/>
        </p:nvSpPr>
        <p:spPr>
          <a:xfrm>
            <a:off x="457200" y="1554480"/>
            <a:ext cx="8229600" cy="137160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554480"/>
            <a:ext cx="137160" cy="137160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777240" y="1691640"/>
            <a:ext cx="7772400" cy="1188720"/>
          </a:xfrm>
          <a:prstGeom prst="rect">
            <a:avLst/>
          </a:prstGeom>
          <a:noFill/>
          <a:ln/>
        </p:spPr>
        <p:txBody>
          <a:bodyPr wrap="square" lIns="0" tIns="0" rIns="0" bIns="0" rtlCol="0" anchor="ctr"/>
          <a:lstStyle/>
          <a:p>
            <a:pPr marL="0" indent="0">
              <a:buNone/>
            </a:pPr>
            <a:r>
              <a:rPr lang="en-US" sz="1600" dirty="0">
                <a:solidFill>
                  <a:srgbClr val="1F2120"/>
                </a:solidFill>
                <a:latin typeface="Courier New" pitchFamily="34" charset="0"/>
                <a:ea typeface="Courier New" pitchFamily="34" charset="-122"/>
                <a:cs typeface="Courier New" pitchFamily="34" charset="-120"/>
              </a:rPr>
              <a:t>sales_df = xl("sales[#All]", headers=True)</a:t>
            </a:r>
            <a:endParaRPr lang="en-US" sz="1600" dirty="0"/>
          </a:p>
          <a:p>
            <a:pPr marL="0" indent="0">
              <a:buNone/>
            </a:pPr>
            <a:r>
              <a:rPr lang="en-US" sz="1600" dirty="0">
                <a:solidFill>
                  <a:srgbClr val="1F2120"/>
                </a:solidFill>
                <a:latin typeface="Courier New" pitchFamily="34" charset="0"/>
                <a:ea typeface="Courier New" pitchFamily="34" charset="-122"/>
                <a:cs typeface="Courier New" pitchFamily="34" charset="-120"/>
              </a:rPr>
              <a:t>sales_df</a:t>
            </a:r>
            <a:endParaRPr lang="en-US" sz="1600" dirty="0"/>
          </a:p>
        </p:txBody>
      </p:sp>
      <p:sp>
        <p:nvSpPr>
          <p:cNvPr id="7" name="Text 5"/>
          <p:cNvSpPr/>
          <p:nvPr/>
        </p:nvSpPr>
        <p:spPr>
          <a:xfrm>
            <a:off x="457200" y="3108960"/>
            <a:ext cx="8229600" cy="365760"/>
          </a:xfrm>
          <a:prstGeom prst="rect">
            <a:avLst/>
          </a:prstGeom>
          <a:noFill/>
          <a:ln/>
        </p:spPr>
        <p:txBody>
          <a:bodyPr wrap="square" lIns="0" tIns="0" rIns="0" bIns="0" rtlCol="0" anchor="ctr"/>
          <a:lstStyle/>
          <a:p>
            <a:pPr marL="0" indent="0">
              <a:buNone/>
            </a:pPr>
            <a:r>
              <a:rPr lang="en-US" sz="1600" b="1" dirty="0">
                <a:solidFill>
                  <a:srgbClr val="1F2120"/>
                </a:solidFill>
                <a:latin typeface="Arial" pitchFamily="34" charset="0"/>
                <a:ea typeface="Arial" pitchFamily="34" charset="-122"/>
                <a:cs typeface="Arial" pitchFamily="34" charset="-120"/>
              </a:rPr>
              <a:t>Two things to notice:</a:t>
            </a:r>
            <a:endParaRPr lang="en-US" sz="1600" dirty="0"/>
          </a:p>
        </p:txBody>
      </p:sp>
      <p:sp>
        <p:nvSpPr>
          <p:cNvPr id="8" name="Text 6"/>
          <p:cNvSpPr/>
          <p:nvPr/>
        </p:nvSpPr>
        <p:spPr>
          <a:xfrm>
            <a:off x="457200" y="3474720"/>
            <a:ext cx="8229600" cy="137160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xl() is the bridge from a worksheet range/table into Python.</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headers=True is auto-added when you point it at a table — keep it.</a:t>
            </a:r>
            <a:endParaRPr lang="en-US" sz="1600" dirty="0"/>
          </a:p>
          <a:p>
            <a:pPr marL="342900" indent="-342900">
              <a:spcAft>
                <a:spcPts val="600"/>
              </a:spcAft>
              <a:buSzPct val="100000"/>
              <a:buChar char="•"/>
            </a:pPr>
            <a:r>
              <a:rPr lang="en-US" sz="1600" dirty="0">
                <a:solidFill>
                  <a:srgbClr val="1F2120"/>
                </a:solidFill>
                <a:latin typeface="Arial" pitchFamily="34" charset="0"/>
                <a:ea typeface="Arial" pitchFamily="34" charset="-122"/>
                <a:cs typeface="Arial" pitchFamily="34" charset="-120"/>
              </a:rPr>
              <a:t>Returning the DataFrame on its own line shows the data card preview.</a:t>
            </a:r>
            <a:endParaRPr lang="en-US" sz="1600" dirty="0"/>
          </a:p>
        </p:txBody>
      </p:sp>
    </p:spTree>
    <p:extLst>
      <p:ext uri="{BB962C8B-B14F-4D97-AF65-F5344CB8AC3E}">
        <p14:creationId xmlns:p14="http://schemas.microsoft.com/office/powerpoint/2010/main" val="2861359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Profile in 30 seconds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Four moves before you do anything serious.</a:t>
            </a:r>
            <a:endParaRPr lang="en-US" sz="1500" dirty="0"/>
          </a:p>
        </p:txBody>
      </p:sp>
      <p:sp>
        <p:nvSpPr>
          <p:cNvPr id="4" name="Shape 2"/>
          <p:cNvSpPr/>
          <p:nvPr/>
        </p:nvSpPr>
        <p:spPr>
          <a:xfrm>
            <a:off x="457200" y="1645920"/>
            <a:ext cx="3291840" cy="50292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645920"/>
            <a:ext cx="91440" cy="50292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640080" y="1645920"/>
            <a:ext cx="3017520" cy="502920"/>
          </a:xfrm>
          <a:prstGeom prst="rect">
            <a:avLst/>
          </a:prstGeom>
          <a:noFill/>
          <a:ln/>
        </p:spPr>
        <p:txBody>
          <a:bodyPr wrap="square" lIns="0" tIns="0" rIns="0" bIns="0" rtlCol="0" anchor="ctr"/>
          <a:lstStyle/>
          <a:p>
            <a:pPr marL="0" indent="0">
              <a:buNone/>
            </a:pPr>
            <a:r>
              <a:rPr lang="en-US" sz="1500" dirty="0">
                <a:solidFill>
                  <a:srgbClr val="1F2120"/>
                </a:solidFill>
                <a:latin typeface="Courier New" pitchFamily="34" charset="0"/>
                <a:ea typeface="Courier New" pitchFamily="34" charset="-122"/>
                <a:cs typeface="Courier New" pitchFamily="34" charset="-120"/>
              </a:rPr>
              <a:t>sales_df.head()</a:t>
            </a:r>
            <a:endParaRPr lang="en-US" sz="1500" dirty="0"/>
          </a:p>
        </p:txBody>
      </p:sp>
      <p:sp>
        <p:nvSpPr>
          <p:cNvPr id="7" name="Text 5"/>
          <p:cNvSpPr/>
          <p:nvPr/>
        </p:nvSpPr>
        <p:spPr>
          <a:xfrm>
            <a:off x="3931920" y="1645920"/>
            <a:ext cx="4846320" cy="502920"/>
          </a:xfrm>
          <a:prstGeom prst="rect">
            <a:avLst/>
          </a:prstGeom>
          <a:noFill/>
          <a:ln/>
        </p:spPr>
        <p:txBody>
          <a:bodyPr wrap="square" lIns="0" tIns="0" rIns="0" bIns="0" rtlCol="0" anchor="ctr"/>
          <a:lstStyle/>
          <a:p>
            <a:pPr marL="0" indent="0">
              <a:buNone/>
            </a:pPr>
            <a:r>
              <a:rPr lang="en-US" sz="1400" i="1" dirty="0">
                <a:solidFill>
                  <a:srgbClr val="1F2120"/>
                </a:solidFill>
                <a:latin typeface="Arial" pitchFamily="34" charset="0"/>
                <a:ea typeface="Arial" pitchFamily="34" charset="-122"/>
                <a:cs typeface="Arial" pitchFamily="34" charset="-120"/>
              </a:rPr>
              <a:t>First 5 rows. Sanity check that it loaded.</a:t>
            </a:r>
            <a:endParaRPr lang="en-US" sz="1400" dirty="0"/>
          </a:p>
        </p:txBody>
      </p:sp>
      <p:sp>
        <p:nvSpPr>
          <p:cNvPr id="8" name="Shape 6"/>
          <p:cNvSpPr/>
          <p:nvPr/>
        </p:nvSpPr>
        <p:spPr>
          <a:xfrm>
            <a:off x="457200" y="2359152"/>
            <a:ext cx="3291840" cy="502920"/>
          </a:xfrm>
          <a:prstGeom prst="rect">
            <a:avLst/>
          </a:prstGeom>
          <a:solidFill>
            <a:srgbClr val="FFFFFF"/>
          </a:solidFill>
          <a:ln w="12700">
            <a:solidFill>
              <a:srgbClr val="E0DDD0"/>
            </a:solidFill>
            <a:prstDash val="solid"/>
          </a:ln>
        </p:spPr>
        <p:txBody>
          <a:bodyPr/>
          <a:lstStyle/>
          <a:p>
            <a:endParaRPr lang="en-US"/>
          </a:p>
        </p:txBody>
      </p:sp>
      <p:sp>
        <p:nvSpPr>
          <p:cNvPr id="9" name="Shape 7"/>
          <p:cNvSpPr/>
          <p:nvPr/>
        </p:nvSpPr>
        <p:spPr>
          <a:xfrm>
            <a:off x="457200" y="2359152"/>
            <a:ext cx="91440" cy="502920"/>
          </a:xfrm>
          <a:prstGeom prst="rect">
            <a:avLst/>
          </a:prstGeom>
          <a:solidFill>
            <a:srgbClr val="CF3338"/>
          </a:solidFill>
          <a:ln w="12700">
            <a:solidFill>
              <a:srgbClr val="CF3338"/>
            </a:solidFill>
            <a:prstDash val="solid"/>
          </a:ln>
        </p:spPr>
        <p:txBody>
          <a:bodyPr/>
          <a:lstStyle/>
          <a:p>
            <a:endParaRPr lang="en-US"/>
          </a:p>
        </p:txBody>
      </p:sp>
      <p:sp>
        <p:nvSpPr>
          <p:cNvPr id="10" name="Text 8"/>
          <p:cNvSpPr/>
          <p:nvPr/>
        </p:nvSpPr>
        <p:spPr>
          <a:xfrm>
            <a:off x="640080" y="2359152"/>
            <a:ext cx="3017520" cy="502920"/>
          </a:xfrm>
          <a:prstGeom prst="rect">
            <a:avLst/>
          </a:prstGeom>
          <a:noFill/>
          <a:ln/>
        </p:spPr>
        <p:txBody>
          <a:bodyPr wrap="square" lIns="0" tIns="0" rIns="0" bIns="0" rtlCol="0" anchor="ctr"/>
          <a:lstStyle/>
          <a:p>
            <a:pPr marL="0" indent="0">
              <a:buNone/>
            </a:pPr>
            <a:r>
              <a:rPr lang="en-US" sz="1500" dirty="0">
                <a:solidFill>
                  <a:srgbClr val="1F2120"/>
                </a:solidFill>
                <a:latin typeface="Courier New" pitchFamily="34" charset="0"/>
                <a:ea typeface="Courier New" pitchFamily="34" charset="-122"/>
                <a:cs typeface="Courier New" pitchFamily="34" charset="-120"/>
              </a:rPr>
              <a:t>sales_df.tail()</a:t>
            </a:r>
            <a:endParaRPr lang="en-US" sz="1500" dirty="0"/>
          </a:p>
        </p:txBody>
      </p:sp>
      <p:sp>
        <p:nvSpPr>
          <p:cNvPr id="11" name="Text 9"/>
          <p:cNvSpPr/>
          <p:nvPr/>
        </p:nvSpPr>
        <p:spPr>
          <a:xfrm>
            <a:off x="3931920" y="2359152"/>
            <a:ext cx="4846320" cy="502920"/>
          </a:xfrm>
          <a:prstGeom prst="rect">
            <a:avLst/>
          </a:prstGeom>
          <a:noFill/>
          <a:ln/>
        </p:spPr>
        <p:txBody>
          <a:bodyPr wrap="square" lIns="0" tIns="0" rIns="0" bIns="0" rtlCol="0" anchor="ctr"/>
          <a:lstStyle/>
          <a:p>
            <a:pPr marL="0" indent="0">
              <a:buNone/>
            </a:pPr>
            <a:r>
              <a:rPr lang="en-US" sz="1400" i="1" dirty="0">
                <a:solidFill>
                  <a:srgbClr val="1F2120"/>
                </a:solidFill>
                <a:latin typeface="Arial" pitchFamily="34" charset="0"/>
                <a:ea typeface="Arial" pitchFamily="34" charset="-122"/>
                <a:cs typeface="Arial" pitchFamily="34" charset="-120"/>
              </a:rPr>
              <a:t>Last 5. Sanity check the bottom (often messier).</a:t>
            </a:r>
            <a:endParaRPr lang="en-US" sz="1400" dirty="0"/>
          </a:p>
        </p:txBody>
      </p:sp>
      <p:sp>
        <p:nvSpPr>
          <p:cNvPr id="12" name="Shape 10"/>
          <p:cNvSpPr/>
          <p:nvPr/>
        </p:nvSpPr>
        <p:spPr>
          <a:xfrm>
            <a:off x="457200" y="3072384"/>
            <a:ext cx="3291840" cy="502920"/>
          </a:xfrm>
          <a:prstGeom prst="rect">
            <a:avLst/>
          </a:prstGeom>
          <a:solidFill>
            <a:srgbClr val="FFFFFF"/>
          </a:solidFill>
          <a:ln w="12700">
            <a:solidFill>
              <a:srgbClr val="E0DDD0"/>
            </a:solidFill>
            <a:prstDash val="solid"/>
          </a:ln>
        </p:spPr>
        <p:txBody>
          <a:bodyPr/>
          <a:lstStyle/>
          <a:p>
            <a:endParaRPr lang="en-US"/>
          </a:p>
        </p:txBody>
      </p:sp>
      <p:sp>
        <p:nvSpPr>
          <p:cNvPr id="13" name="Shape 11"/>
          <p:cNvSpPr/>
          <p:nvPr/>
        </p:nvSpPr>
        <p:spPr>
          <a:xfrm>
            <a:off x="457200" y="3072384"/>
            <a:ext cx="91440" cy="502920"/>
          </a:xfrm>
          <a:prstGeom prst="rect">
            <a:avLst/>
          </a:prstGeom>
          <a:solidFill>
            <a:srgbClr val="CF3338"/>
          </a:solidFill>
          <a:ln w="12700">
            <a:solidFill>
              <a:srgbClr val="CF3338"/>
            </a:solidFill>
            <a:prstDash val="solid"/>
          </a:ln>
        </p:spPr>
        <p:txBody>
          <a:bodyPr/>
          <a:lstStyle/>
          <a:p>
            <a:endParaRPr lang="en-US"/>
          </a:p>
        </p:txBody>
      </p:sp>
      <p:sp>
        <p:nvSpPr>
          <p:cNvPr id="14" name="Text 12"/>
          <p:cNvSpPr/>
          <p:nvPr/>
        </p:nvSpPr>
        <p:spPr>
          <a:xfrm>
            <a:off x="640080" y="3072384"/>
            <a:ext cx="3017520" cy="502920"/>
          </a:xfrm>
          <a:prstGeom prst="rect">
            <a:avLst/>
          </a:prstGeom>
          <a:noFill/>
          <a:ln/>
        </p:spPr>
        <p:txBody>
          <a:bodyPr wrap="square" lIns="0" tIns="0" rIns="0" bIns="0" rtlCol="0" anchor="ctr"/>
          <a:lstStyle/>
          <a:p>
            <a:pPr marL="0" indent="0">
              <a:buNone/>
            </a:pPr>
            <a:r>
              <a:rPr lang="en-US" sz="1500" dirty="0">
                <a:solidFill>
                  <a:srgbClr val="1F2120"/>
                </a:solidFill>
                <a:latin typeface="Courier New" pitchFamily="34" charset="0"/>
                <a:ea typeface="Courier New" pitchFamily="34" charset="-122"/>
                <a:cs typeface="Courier New" pitchFamily="34" charset="-120"/>
              </a:rPr>
              <a:t>sales_df.sample(5)</a:t>
            </a:r>
            <a:endParaRPr lang="en-US" sz="1500" dirty="0"/>
          </a:p>
        </p:txBody>
      </p:sp>
      <p:sp>
        <p:nvSpPr>
          <p:cNvPr id="15" name="Text 13"/>
          <p:cNvSpPr/>
          <p:nvPr/>
        </p:nvSpPr>
        <p:spPr>
          <a:xfrm>
            <a:off x="3931920" y="3072384"/>
            <a:ext cx="4846320" cy="502920"/>
          </a:xfrm>
          <a:prstGeom prst="rect">
            <a:avLst/>
          </a:prstGeom>
          <a:noFill/>
          <a:ln/>
        </p:spPr>
        <p:txBody>
          <a:bodyPr wrap="square" lIns="0" tIns="0" rIns="0" bIns="0" rtlCol="0" anchor="ctr"/>
          <a:lstStyle/>
          <a:p>
            <a:pPr marL="0" indent="0">
              <a:buNone/>
            </a:pPr>
            <a:r>
              <a:rPr lang="en-US" sz="1400" i="1" dirty="0">
                <a:solidFill>
                  <a:srgbClr val="1F2120"/>
                </a:solidFill>
                <a:latin typeface="Arial" pitchFamily="34" charset="0"/>
                <a:ea typeface="Arial" pitchFamily="34" charset="-122"/>
                <a:cs typeface="Arial" pitchFamily="34" charset="-120"/>
              </a:rPr>
              <a:t>Random 5. Catches issues a head/tail can hide.</a:t>
            </a:r>
            <a:endParaRPr lang="en-US" sz="1400" dirty="0"/>
          </a:p>
        </p:txBody>
      </p:sp>
      <p:sp>
        <p:nvSpPr>
          <p:cNvPr id="16" name="Shape 14"/>
          <p:cNvSpPr/>
          <p:nvPr/>
        </p:nvSpPr>
        <p:spPr>
          <a:xfrm>
            <a:off x="457200" y="3785616"/>
            <a:ext cx="3291840" cy="502920"/>
          </a:xfrm>
          <a:prstGeom prst="rect">
            <a:avLst/>
          </a:prstGeom>
          <a:solidFill>
            <a:srgbClr val="FFFFFF"/>
          </a:solidFill>
          <a:ln w="12700">
            <a:solidFill>
              <a:srgbClr val="E0DDD0"/>
            </a:solidFill>
            <a:prstDash val="solid"/>
          </a:ln>
        </p:spPr>
        <p:txBody>
          <a:bodyPr/>
          <a:lstStyle/>
          <a:p>
            <a:endParaRPr lang="en-US"/>
          </a:p>
        </p:txBody>
      </p:sp>
      <p:sp>
        <p:nvSpPr>
          <p:cNvPr id="17" name="Shape 15"/>
          <p:cNvSpPr/>
          <p:nvPr/>
        </p:nvSpPr>
        <p:spPr>
          <a:xfrm>
            <a:off x="457200" y="3785616"/>
            <a:ext cx="91440" cy="502920"/>
          </a:xfrm>
          <a:prstGeom prst="rect">
            <a:avLst/>
          </a:prstGeom>
          <a:solidFill>
            <a:srgbClr val="CF3338"/>
          </a:solidFill>
          <a:ln w="12700">
            <a:solidFill>
              <a:srgbClr val="CF3338"/>
            </a:solidFill>
            <a:prstDash val="solid"/>
          </a:ln>
        </p:spPr>
        <p:txBody>
          <a:bodyPr/>
          <a:lstStyle/>
          <a:p>
            <a:endParaRPr lang="en-US"/>
          </a:p>
        </p:txBody>
      </p:sp>
      <p:sp>
        <p:nvSpPr>
          <p:cNvPr id="18" name="Text 16"/>
          <p:cNvSpPr/>
          <p:nvPr/>
        </p:nvSpPr>
        <p:spPr>
          <a:xfrm>
            <a:off x="640080" y="3785616"/>
            <a:ext cx="3017520" cy="502920"/>
          </a:xfrm>
          <a:prstGeom prst="rect">
            <a:avLst/>
          </a:prstGeom>
          <a:noFill/>
          <a:ln/>
        </p:spPr>
        <p:txBody>
          <a:bodyPr wrap="square" lIns="0" tIns="0" rIns="0" bIns="0" rtlCol="0" anchor="ctr"/>
          <a:lstStyle/>
          <a:p>
            <a:pPr marL="0" indent="0">
              <a:buNone/>
            </a:pPr>
            <a:r>
              <a:rPr lang="en-US" sz="1500" dirty="0">
                <a:solidFill>
                  <a:srgbClr val="1F2120"/>
                </a:solidFill>
                <a:latin typeface="Courier New" pitchFamily="34" charset="0"/>
                <a:ea typeface="Courier New" pitchFamily="34" charset="-122"/>
                <a:cs typeface="Courier New" pitchFamily="34" charset="-120"/>
              </a:rPr>
              <a:t>sales_df.shape</a:t>
            </a:r>
            <a:endParaRPr lang="en-US" sz="1500" dirty="0"/>
          </a:p>
        </p:txBody>
      </p:sp>
      <p:sp>
        <p:nvSpPr>
          <p:cNvPr id="19" name="Text 17"/>
          <p:cNvSpPr/>
          <p:nvPr/>
        </p:nvSpPr>
        <p:spPr>
          <a:xfrm>
            <a:off x="3931920" y="3785616"/>
            <a:ext cx="4846320" cy="502920"/>
          </a:xfrm>
          <a:prstGeom prst="rect">
            <a:avLst/>
          </a:prstGeom>
          <a:noFill/>
          <a:ln/>
        </p:spPr>
        <p:txBody>
          <a:bodyPr wrap="square" lIns="0" tIns="0" rIns="0" bIns="0" rtlCol="0" anchor="ctr"/>
          <a:lstStyle/>
          <a:p>
            <a:pPr marL="0" indent="0">
              <a:buNone/>
            </a:pPr>
            <a:r>
              <a:rPr lang="en-US" sz="1400" i="1" dirty="0">
                <a:solidFill>
                  <a:srgbClr val="1F2120"/>
                </a:solidFill>
                <a:latin typeface="Arial" pitchFamily="34" charset="0"/>
                <a:ea typeface="Arial" pitchFamily="34" charset="-122"/>
                <a:cs typeface="Arial" pitchFamily="34" charset="-120"/>
              </a:rPr>
              <a:t>Rows × columns. Mine for today: (200, 7).</a:t>
            </a:r>
            <a:endParaRPr lang="en-US" sz="1400" dirty="0"/>
          </a:p>
        </p:txBody>
      </p:sp>
    </p:spTree>
    <p:extLst>
      <p:ext uri="{BB962C8B-B14F-4D97-AF65-F5344CB8AC3E}">
        <p14:creationId xmlns:p14="http://schemas.microsoft.com/office/powerpoint/2010/main" val="37113607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Two more profiling wins</a:t>
            </a:r>
            <a:endParaRPr lang="en-US" sz="3000" dirty="0"/>
          </a:p>
        </p:txBody>
      </p:sp>
      <p:sp>
        <p:nvSpPr>
          <p:cNvPr id="3" name="Shape 1"/>
          <p:cNvSpPr/>
          <p:nvPr/>
        </p:nvSpPr>
        <p:spPr>
          <a:xfrm>
            <a:off x="457200" y="1188720"/>
            <a:ext cx="4023360" cy="3474720"/>
          </a:xfrm>
          <a:prstGeom prst="rect">
            <a:avLst/>
          </a:prstGeom>
          <a:solidFill>
            <a:srgbClr val="FFFFFF"/>
          </a:solidFill>
          <a:ln w="12700">
            <a:solidFill>
              <a:srgbClr val="E0DDD0"/>
            </a:solidFill>
            <a:prstDash val="solid"/>
          </a:ln>
        </p:spPr>
        <p:txBody>
          <a:bodyPr/>
          <a:lstStyle/>
          <a:p>
            <a:endParaRPr lang="en-US"/>
          </a:p>
        </p:txBody>
      </p:sp>
      <p:sp>
        <p:nvSpPr>
          <p:cNvPr id="4" name="Shape 2"/>
          <p:cNvSpPr/>
          <p:nvPr/>
        </p:nvSpPr>
        <p:spPr>
          <a:xfrm>
            <a:off x="457200" y="1188720"/>
            <a:ext cx="4023360" cy="411480"/>
          </a:xfrm>
          <a:prstGeom prst="rect">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594360" y="1216152"/>
            <a:ext cx="3749040" cy="365760"/>
          </a:xfrm>
          <a:prstGeom prst="rect">
            <a:avLst/>
          </a:prstGeom>
          <a:noFill/>
          <a:ln/>
        </p:spPr>
        <p:txBody>
          <a:bodyPr wrap="square" lIns="0" tIns="0" rIns="0" bIns="0" rtlCol="0" anchor="ctr"/>
          <a:lstStyle/>
          <a:p>
            <a:pPr marL="0" indent="0">
              <a:buNone/>
            </a:pPr>
            <a:r>
              <a:rPr lang="en-US" sz="1600" b="1" dirty="0">
                <a:solidFill>
                  <a:srgbClr val="FFFFFF"/>
                </a:solidFill>
                <a:latin typeface="Courier New" pitchFamily="34" charset="0"/>
                <a:ea typeface="Courier New" pitchFamily="34" charset="-122"/>
                <a:cs typeface="Courier New" pitchFamily="34" charset="-120"/>
              </a:rPr>
              <a:t>describe()</a:t>
            </a:r>
            <a:endParaRPr lang="en-US" sz="1600" dirty="0"/>
          </a:p>
        </p:txBody>
      </p:sp>
      <p:sp>
        <p:nvSpPr>
          <p:cNvPr id="6" name="Text 4"/>
          <p:cNvSpPr/>
          <p:nvPr/>
        </p:nvSpPr>
        <p:spPr>
          <a:xfrm>
            <a:off x="640080" y="1737360"/>
            <a:ext cx="3749040" cy="365760"/>
          </a:xfrm>
          <a:prstGeom prst="rect">
            <a:avLst/>
          </a:prstGeom>
          <a:noFill/>
          <a:ln/>
        </p:spPr>
        <p:txBody>
          <a:bodyPr wrap="square" lIns="0" tIns="0" rIns="0" bIns="0" rtlCol="0" anchor="ctr"/>
          <a:lstStyle/>
          <a:p>
            <a:pPr marL="0" indent="0">
              <a:buNone/>
            </a:pPr>
            <a:r>
              <a:rPr lang="en-US" sz="1300" i="1" dirty="0">
                <a:solidFill>
                  <a:srgbClr val="707070"/>
                </a:solidFill>
                <a:latin typeface="Arial" pitchFamily="34" charset="0"/>
                <a:ea typeface="Arial" pitchFamily="34" charset="-122"/>
                <a:cs typeface="Arial" pitchFamily="34" charset="-120"/>
              </a:rPr>
              <a:t>Summary stats in one shot</a:t>
            </a:r>
            <a:endParaRPr lang="en-US" sz="1300" dirty="0"/>
          </a:p>
        </p:txBody>
      </p:sp>
      <p:sp>
        <p:nvSpPr>
          <p:cNvPr id="7" name="Text 5"/>
          <p:cNvSpPr/>
          <p:nvPr/>
        </p:nvSpPr>
        <p:spPr>
          <a:xfrm>
            <a:off x="640080" y="2148840"/>
            <a:ext cx="3749040" cy="2103120"/>
          </a:xfrm>
          <a:prstGeom prst="rect">
            <a:avLst/>
          </a:prstGeom>
          <a:noFill/>
          <a:ln/>
        </p:spPr>
        <p:txBody>
          <a:bodyPr wrap="square" lIns="0" tIns="0" rIns="0" bIns="0" rtlCol="0" anchor="ctr"/>
          <a:lstStyle/>
          <a:p>
            <a:pPr marL="0" indent="0">
              <a:buNone/>
            </a:pPr>
            <a:r>
              <a:rPr lang="en-US" sz="1300" dirty="0">
                <a:solidFill>
                  <a:srgbClr val="1F2120"/>
                </a:solidFill>
                <a:latin typeface="Courier New" pitchFamily="34" charset="0"/>
                <a:ea typeface="Courier New" pitchFamily="34" charset="-122"/>
                <a:cs typeface="Courier New" pitchFamily="34" charset="-120"/>
              </a:rPr>
              <a:t>sales_df.describe()</a:t>
            </a:r>
            <a:endParaRPr lang="en-US" sz="1300" dirty="0"/>
          </a:p>
          <a:p>
            <a:pPr marL="0" indent="0">
              <a:buNone/>
            </a:pP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sales_df.describe(</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percentiles=[.1, .5, .9])</a:t>
            </a:r>
            <a:endParaRPr lang="en-US" sz="1300" dirty="0"/>
          </a:p>
          <a:p>
            <a:pPr marL="0" indent="0">
              <a:buNone/>
            </a:pP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sales_df.describe(</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exclude='number')</a:t>
            </a:r>
            <a:endParaRPr lang="en-US" sz="1300" dirty="0"/>
          </a:p>
        </p:txBody>
      </p:sp>
      <p:sp>
        <p:nvSpPr>
          <p:cNvPr id="8" name="Text 6"/>
          <p:cNvSpPr/>
          <p:nvPr/>
        </p:nvSpPr>
        <p:spPr>
          <a:xfrm>
            <a:off x="640080" y="4343400"/>
            <a:ext cx="3749040" cy="292608"/>
          </a:xfrm>
          <a:prstGeom prst="rect">
            <a:avLst/>
          </a:prstGeom>
          <a:noFill/>
          <a:ln/>
        </p:spPr>
        <p:txBody>
          <a:bodyPr wrap="square" lIns="0" tIns="0" rIns="0" bIns="0" rtlCol="0" anchor="ctr"/>
          <a:lstStyle/>
          <a:p>
            <a:pPr marL="0" indent="0">
              <a:buNone/>
            </a:pPr>
            <a:r>
              <a:rPr lang="en-US" sz="1100" i="1" dirty="0">
                <a:solidFill>
                  <a:srgbClr val="707070"/>
                </a:solidFill>
                <a:latin typeface="Arial" pitchFamily="34" charset="0"/>
                <a:ea typeface="Arial" pitchFamily="34" charset="-122"/>
                <a:cs typeface="Arial" pitchFamily="34" charset="-120"/>
              </a:rPr>
              <a:t>Numeric by default. exclude='number' for text columns.</a:t>
            </a:r>
            <a:endParaRPr lang="en-US" sz="1100" dirty="0"/>
          </a:p>
        </p:txBody>
      </p:sp>
      <p:sp>
        <p:nvSpPr>
          <p:cNvPr id="9" name="Shape 7"/>
          <p:cNvSpPr/>
          <p:nvPr/>
        </p:nvSpPr>
        <p:spPr>
          <a:xfrm>
            <a:off x="4663440" y="1188720"/>
            <a:ext cx="4023360" cy="3474720"/>
          </a:xfrm>
          <a:prstGeom prst="rect">
            <a:avLst/>
          </a:prstGeom>
          <a:solidFill>
            <a:srgbClr val="FFFFFF"/>
          </a:solidFill>
          <a:ln w="12700">
            <a:solidFill>
              <a:srgbClr val="E0DDD0"/>
            </a:solidFill>
            <a:prstDash val="solid"/>
          </a:ln>
        </p:spPr>
        <p:txBody>
          <a:bodyPr/>
          <a:lstStyle/>
          <a:p>
            <a:endParaRPr lang="en-US"/>
          </a:p>
        </p:txBody>
      </p:sp>
      <p:sp>
        <p:nvSpPr>
          <p:cNvPr id="10" name="Shape 8"/>
          <p:cNvSpPr/>
          <p:nvPr/>
        </p:nvSpPr>
        <p:spPr>
          <a:xfrm>
            <a:off x="4663440" y="1188720"/>
            <a:ext cx="4023360" cy="411480"/>
          </a:xfrm>
          <a:prstGeom prst="rect">
            <a:avLst/>
          </a:prstGeom>
          <a:solidFill>
            <a:srgbClr val="CF3338"/>
          </a:solidFill>
          <a:ln w="12700">
            <a:solidFill>
              <a:srgbClr val="CF3338"/>
            </a:solidFill>
            <a:prstDash val="solid"/>
          </a:ln>
        </p:spPr>
        <p:txBody>
          <a:bodyPr/>
          <a:lstStyle/>
          <a:p>
            <a:endParaRPr lang="en-US"/>
          </a:p>
        </p:txBody>
      </p:sp>
      <p:sp>
        <p:nvSpPr>
          <p:cNvPr id="11" name="Text 9"/>
          <p:cNvSpPr/>
          <p:nvPr/>
        </p:nvSpPr>
        <p:spPr>
          <a:xfrm>
            <a:off x="4800600" y="1216152"/>
            <a:ext cx="3749040" cy="365760"/>
          </a:xfrm>
          <a:prstGeom prst="rect">
            <a:avLst/>
          </a:prstGeom>
          <a:noFill/>
          <a:ln/>
        </p:spPr>
        <p:txBody>
          <a:bodyPr wrap="square" lIns="0" tIns="0" rIns="0" bIns="0" rtlCol="0" anchor="ctr"/>
          <a:lstStyle/>
          <a:p>
            <a:pPr marL="0" indent="0">
              <a:buNone/>
            </a:pPr>
            <a:r>
              <a:rPr lang="en-US" sz="1600" b="1" dirty="0">
                <a:solidFill>
                  <a:srgbClr val="FFFFFF"/>
                </a:solidFill>
                <a:latin typeface="Courier New" pitchFamily="34" charset="0"/>
                <a:ea typeface="Courier New" pitchFamily="34" charset="-122"/>
                <a:cs typeface="Courier New" pitchFamily="34" charset="-120"/>
              </a:rPr>
              <a:t>isna().sum()</a:t>
            </a:r>
            <a:endParaRPr lang="en-US" sz="1600" dirty="0"/>
          </a:p>
        </p:txBody>
      </p:sp>
      <p:sp>
        <p:nvSpPr>
          <p:cNvPr id="12" name="Text 10"/>
          <p:cNvSpPr/>
          <p:nvPr/>
        </p:nvSpPr>
        <p:spPr>
          <a:xfrm>
            <a:off x="4846320" y="1737360"/>
            <a:ext cx="3749040" cy="365760"/>
          </a:xfrm>
          <a:prstGeom prst="rect">
            <a:avLst/>
          </a:prstGeom>
          <a:noFill/>
          <a:ln/>
        </p:spPr>
        <p:txBody>
          <a:bodyPr wrap="square" lIns="0" tIns="0" rIns="0" bIns="0" rtlCol="0" anchor="ctr"/>
          <a:lstStyle/>
          <a:p>
            <a:pPr marL="0" indent="0">
              <a:buNone/>
            </a:pPr>
            <a:r>
              <a:rPr lang="en-US" sz="1300" i="1" dirty="0">
                <a:solidFill>
                  <a:srgbClr val="707070"/>
                </a:solidFill>
                <a:latin typeface="Arial" pitchFamily="34" charset="0"/>
                <a:ea typeface="Arial" pitchFamily="34" charset="-122"/>
                <a:cs typeface="Arial" pitchFamily="34" charset="-120"/>
              </a:rPr>
              <a:t>Missing values per column</a:t>
            </a:r>
            <a:endParaRPr lang="en-US" sz="1300" dirty="0"/>
          </a:p>
        </p:txBody>
      </p:sp>
      <p:sp>
        <p:nvSpPr>
          <p:cNvPr id="13" name="Text 11"/>
          <p:cNvSpPr/>
          <p:nvPr/>
        </p:nvSpPr>
        <p:spPr>
          <a:xfrm>
            <a:off x="4846320" y="2148840"/>
            <a:ext cx="3749040" cy="1920240"/>
          </a:xfrm>
          <a:prstGeom prst="rect">
            <a:avLst/>
          </a:prstGeom>
          <a:noFill/>
          <a:ln/>
        </p:spPr>
        <p:txBody>
          <a:bodyPr wrap="square" lIns="0" tIns="0" rIns="0" bIns="0" rtlCol="0" anchor="ctr"/>
          <a:lstStyle/>
          <a:p>
            <a:pPr marL="0" indent="0">
              <a:buNone/>
            </a:pPr>
            <a:r>
              <a:rPr lang="en-US" sz="1200" dirty="0">
                <a:solidFill>
                  <a:srgbClr val="1F2120"/>
                </a:solidFill>
                <a:latin typeface="Courier New" pitchFamily="34" charset="0"/>
                <a:ea typeface="Courier New" pitchFamily="34" charset="-122"/>
                <a:cs typeface="Courier New" pitchFamily="34" charset="-120"/>
              </a:rPr>
              <a:t>sales_df.isna().sum()</a:t>
            </a:r>
            <a:endParaRPr lang="en-US" sz="1200" dirty="0"/>
          </a:p>
          <a:p>
            <a:pPr marL="0" indent="0">
              <a:buNone/>
            </a:pP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as a %</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sales_df.isna().sum() / len(sales_df)</a:t>
            </a:r>
            <a:endParaRPr lang="en-US" sz="1200" dirty="0"/>
          </a:p>
          <a:p>
            <a:pPr marL="0" indent="0">
              <a:buNone/>
            </a:pP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sort &amp; chain</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(sales_df.isna().sum()</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.sort_values(ascending=False))</a:t>
            </a:r>
            <a:endParaRPr lang="en-US" sz="1200" dirty="0"/>
          </a:p>
        </p:txBody>
      </p:sp>
      <p:sp>
        <p:nvSpPr>
          <p:cNvPr id="14" name="Text 12"/>
          <p:cNvSpPr/>
          <p:nvPr/>
        </p:nvSpPr>
        <p:spPr>
          <a:xfrm>
            <a:off x="4846320" y="4160520"/>
            <a:ext cx="3749040" cy="457200"/>
          </a:xfrm>
          <a:prstGeom prst="rect">
            <a:avLst/>
          </a:prstGeom>
          <a:noFill/>
          <a:ln/>
        </p:spPr>
        <p:txBody>
          <a:bodyPr wrap="square" lIns="0" tIns="0" rIns="0" bIns="0" rtlCol="0" anchor="ctr"/>
          <a:lstStyle/>
          <a:p>
            <a:pPr marL="0" indent="0">
              <a:buNone/>
            </a:pPr>
            <a:r>
              <a:rPr lang="en-US" sz="1100" i="1" dirty="0">
                <a:solidFill>
                  <a:srgbClr val="707070"/>
                </a:solidFill>
                <a:latin typeface="Arial" pitchFamily="34" charset="0"/>
                <a:ea typeface="Arial" pitchFamily="34" charset="-122"/>
                <a:cs typeface="Arial" pitchFamily="34" charset="-120"/>
              </a:rPr>
              <a:t>Our customer_age has six gaps — perfect teaching moment.</a:t>
            </a:r>
            <a:endParaRPr lang="en-US" sz="1100" dirty="0"/>
          </a:p>
        </p:txBody>
      </p:sp>
    </p:spTree>
    <p:extLst>
      <p:ext uri="{BB962C8B-B14F-4D97-AF65-F5344CB8AC3E}">
        <p14:creationId xmlns:p14="http://schemas.microsoft.com/office/powerpoint/2010/main" val="4011414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Counting categories: value_counts()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The PivotTable replacement for frequency.</a:t>
            </a:r>
            <a:endParaRPr lang="en-US" sz="1500" dirty="0"/>
          </a:p>
        </p:txBody>
      </p:sp>
      <p:sp>
        <p:nvSpPr>
          <p:cNvPr id="4" name="Shape 2"/>
          <p:cNvSpPr/>
          <p:nvPr/>
        </p:nvSpPr>
        <p:spPr>
          <a:xfrm>
            <a:off x="457200" y="1554480"/>
            <a:ext cx="4023360" cy="301752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554480"/>
            <a:ext cx="137160" cy="301752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777240" y="1627632"/>
            <a:ext cx="3657600" cy="320040"/>
          </a:xfrm>
          <a:prstGeom prst="rect">
            <a:avLst/>
          </a:prstGeom>
          <a:noFill/>
          <a:ln/>
        </p:spPr>
        <p:txBody>
          <a:bodyPr wrap="square" lIns="0" tIns="0" rIns="0" bIns="0" rtlCol="0" anchor="ctr"/>
          <a:lstStyle/>
          <a:p>
            <a:pPr marL="0" indent="0">
              <a:buNone/>
            </a:pPr>
            <a:r>
              <a:rPr lang="en-US" sz="1100" i="1" dirty="0">
                <a:solidFill>
                  <a:srgbClr val="707070"/>
                </a:solidFill>
                <a:latin typeface="Arial" pitchFamily="34" charset="0"/>
                <a:ea typeface="Arial" pitchFamily="34" charset="-122"/>
                <a:cs typeface="Arial" pitchFamily="34" charset="-120"/>
              </a:rPr>
              <a:t>Code</a:t>
            </a:r>
            <a:endParaRPr lang="en-US" sz="1100" dirty="0"/>
          </a:p>
        </p:txBody>
      </p:sp>
      <p:sp>
        <p:nvSpPr>
          <p:cNvPr id="7" name="Text 5"/>
          <p:cNvSpPr/>
          <p:nvPr/>
        </p:nvSpPr>
        <p:spPr>
          <a:xfrm>
            <a:off x="777240" y="2011680"/>
            <a:ext cx="3657600" cy="2468880"/>
          </a:xfrm>
          <a:prstGeom prst="rect">
            <a:avLst/>
          </a:prstGeom>
          <a:noFill/>
          <a:ln/>
        </p:spPr>
        <p:txBody>
          <a:bodyPr wrap="square" lIns="0" tIns="0" rIns="0" bIns="0" rtlCol="0" anchor="ctr"/>
          <a:lstStyle/>
          <a:p>
            <a:pPr marL="0" indent="0">
              <a:buNone/>
            </a:pPr>
            <a:r>
              <a:rPr lang="en-US" sz="1300" dirty="0">
                <a:solidFill>
                  <a:srgbClr val="1F2120"/>
                </a:solidFill>
                <a:latin typeface="Courier New" pitchFamily="34" charset="0"/>
                <a:ea typeface="Courier New" pitchFamily="34" charset="-122"/>
                <a:cs typeface="Courier New" pitchFamily="34" charset="-120"/>
              </a:rPr>
              <a:t>sales_df['country']</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.value_counts()</a:t>
            </a:r>
            <a:endParaRPr lang="en-US" sz="1300" dirty="0"/>
          </a:p>
          <a:p>
            <a:pPr marL="0" indent="0">
              <a:buNone/>
            </a:pP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proportions</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sales_df['category']</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.value_counts(</a:t>
            </a:r>
            <a:endParaRPr lang="en-US" sz="1300" dirty="0"/>
          </a:p>
          <a:p>
            <a:pPr marL="0" indent="0">
              <a:buNone/>
            </a:pPr>
            <a:r>
              <a:rPr lang="en-US" sz="1300" dirty="0">
                <a:solidFill>
                  <a:srgbClr val="1F2120"/>
                </a:solidFill>
                <a:latin typeface="Courier New" pitchFamily="34" charset="0"/>
                <a:ea typeface="Courier New" pitchFamily="34" charset="-122"/>
                <a:cs typeface="Courier New" pitchFamily="34" charset="-120"/>
              </a:rPr>
              <a:t>    normalize=True)</a:t>
            </a:r>
            <a:endParaRPr lang="en-US" sz="1300" dirty="0"/>
          </a:p>
        </p:txBody>
      </p:sp>
      <p:sp>
        <p:nvSpPr>
          <p:cNvPr id="8" name="Shape 6"/>
          <p:cNvSpPr/>
          <p:nvPr/>
        </p:nvSpPr>
        <p:spPr>
          <a:xfrm>
            <a:off x="4663440" y="1554480"/>
            <a:ext cx="4023360" cy="3017520"/>
          </a:xfrm>
          <a:prstGeom prst="rect">
            <a:avLst/>
          </a:prstGeom>
          <a:solidFill>
            <a:srgbClr val="FFFFFF"/>
          </a:solidFill>
          <a:ln w="12700">
            <a:solidFill>
              <a:srgbClr val="E0DDD0"/>
            </a:solidFill>
            <a:prstDash val="solid"/>
          </a:ln>
        </p:spPr>
        <p:txBody>
          <a:bodyPr/>
          <a:lstStyle/>
          <a:p>
            <a:endParaRPr lang="en-US"/>
          </a:p>
        </p:txBody>
      </p:sp>
      <p:sp>
        <p:nvSpPr>
          <p:cNvPr id="9" name="Text 7"/>
          <p:cNvSpPr/>
          <p:nvPr/>
        </p:nvSpPr>
        <p:spPr>
          <a:xfrm>
            <a:off x="4800600" y="1627632"/>
            <a:ext cx="3749040" cy="320040"/>
          </a:xfrm>
          <a:prstGeom prst="rect">
            <a:avLst/>
          </a:prstGeom>
          <a:noFill/>
          <a:ln/>
        </p:spPr>
        <p:txBody>
          <a:bodyPr wrap="square" lIns="0" tIns="0" rIns="0" bIns="0" rtlCol="0" anchor="ctr"/>
          <a:lstStyle/>
          <a:p>
            <a:pPr marL="0" indent="0">
              <a:buNone/>
            </a:pPr>
            <a:r>
              <a:rPr lang="en-US" sz="1100" i="1" dirty="0">
                <a:solidFill>
                  <a:srgbClr val="707070"/>
                </a:solidFill>
                <a:latin typeface="Arial" pitchFamily="34" charset="0"/>
                <a:ea typeface="Arial" pitchFamily="34" charset="-122"/>
                <a:cs typeface="Arial" pitchFamily="34" charset="-120"/>
              </a:rPr>
              <a:t>Expected output</a:t>
            </a:r>
            <a:endParaRPr lang="en-US" sz="1100" dirty="0"/>
          </a:p>
        </p:txBody>
      </p:sp>
      <p:sp>
        <p:nvSpPr>
          <p:cNvPr id="10" name="Text 8"/>
          <p:cNvSpPr/>
          <p:nvPr/>
        </p:nvSpPr>
        <p:spPr>
          <a:xfrm>
            <a:off x="4937760" y="2011680"/>
            <a:ext cx="2560320" cy="36576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United States</a:t>
            </a:r>
            <a:endParaRPr lang="en-US" sz="1400" dirty="0"/>
          </a:p>
        </p:txBody>
      </p:sp>
      <p:sp>
        <p:nvSpPr>
          <p:cNvPr id="11" name="Text 9"/>
          <p:cNvSpPr/>
          <p:nvPr/>
        </p:nvSpPr>
        <p:spPr>
          <a:xfrm>
            <a:off x="7498080" y="2011680"/>
            <a:ext cx="1097280" cy="365760"/>
          </a:xfrm>
          <a:prstGeom prst="rect">
            <a:avLst/>
          </a:prstGeom>
          <a:noFill/>
          <a:ln/>
        </p:spPr>
        <p:txBody>
          <a:bodyPr wrap="square" lIns="0" tIns="0" rIns="0" bIns="0" rtlCol="0" anchor="ctr"/>
          <a:lstStyle/>
          <a:p>
            <a:pPr marL="0" indent="0" algn="r">
              <a:buNone/>
            </a:pPr>
            <a:r>
              <a:rPr lang="en-US" sz="1400" b="1" dirty="0">
                <a:solidFill>
                  <a:srgbClr val="CF3338"/>
                </a:solidFill>
                <a:latin typeface="Courier New" pitchFamily="34" charset="0"/>
                <a:ea typeface="Courier New" pitchFamily="34" charset="-122"/>
                <a:cs typeface="Courier New" pitchFamily="34" charset="-120"/>
              </a:rPr>
              <a:t>77</a:t>
            </a:r>
            <a:endParaRPr lang="en-US" sz="1400" dirty="0"/>
          </a:p>
        </p:txBody>
      </p:sp>
      <p:sp>
        <p:nvSpPr>
          <p:cNvPr id="12" name="Text 10"/>
          <p:cNvSpPr/>
          <p:nvPr/>
        </p:nvSpPr>
        <p:spPr>
          <a:xfrm>
            <a:off x="4937760" y="2423160"/>
            <a:ext cx="2560320" cy="36576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Germany</a:t>
            </a:r>
            <a:endParaRPr lang="en-US" sz="1400" dirty="0"/>
          </a:p>
        </p:txBody>
      </p:sp>
      <p:sp>
        <p:nvSpPr>
          <p:cNvPr id="13" name="Text 11"/>
          <p:cNvSpPr/>
          <p:nvPr/>
        </p:nvSpPr>
        <p:spPr>
          <a:xfrm>
            <a:off x="7498080" y="2423160"/>
            <a:ext cx="1097280" cy="365760"/>
          </a:xfrm>
          <a:prstGeom prst="rect">
            <a:avLst/>
          </a:prstGeom>
          <a:noFill/>
          <a:ln/>
        </p:spPr>
        <p:txBody>
          <a:bodyPr wrap="square" lIns="0" tIns="0" rIns="0" bIns="0" rtlCol="0" anchor="ctr"/>
          <a:lstStyle/>
          <a:p>
            <a:pPr marL="0" indent="0" algn="r">
              <a:buNone/>
            </a:pPr>
            <a:r>
              <a:rPr lang="en-US" sz="1400" b="1" dirty="0">
                <a:solidFill>
                  <a:srgbClr val="CF3338"/>
                </a:solidFill>
                <a:latin typeface="Courier New" pitchFamily="34" charset="0"/>
                <a:ea typeface="Courier New" pitchFamily="34" charset="-122"/>
                <a:cs typeface="Courier New" pitchFamily="34" charset="-120"/>
              </a:rPr>
              <a:t>43</a:t>
            </a:r>
            <a:endParaRPr lang="en-US" sz="1400" dirty="0"/>
          </a:p>
        </p:txBody>
      </p:sp>
      <p:sp>
        <p:nvSpPr>
          <p:cNvPr id="14" name="Text 12"/>
          <p:cNvSpPr/>
          <p:nvPr/>
        </p:nvSpPr>
        <p:spPr>
          <a:xfrm>
            <a:off x="4937760" y="2834640"/>
            <a:ext cx="2560320" cy="36576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United Kingdom</a:t>
            </a:r>
            <a:endParaRPr lang="en-US" sz="1400" dirty="0"/>
          </a:p>
        </p:txBody>
      </p:sp>
      <p:sp>
        <p:nvSpPr>
          <p:cNvPr id="15" name="Text 13"/>
          <p:cNvSpPr/>
          <p:nvPr/>
        </p:nvSpPr>
        <p:spPr>
          <a:xfrm>
            <a:off x="7498080" y="2834640"/>
            <a:ext cx="1097280" cy="365760"/>
          </a:xfrm>
          <a:prstGeom prst="rect">
            <a:avLst/>
          </a:prstGeom>
          <a:noFill/>
          <a:ln/>
        </p:spPr>
        <p:txBody>
          <a:bodyPr wrap="square" lIns="0" tIns="0" rIns="0" bIns="0" rtlCol="0" anchor="ctr"/>
          <a:lstStyle/>
          <a:p>
            <a:pPr marL="0" indent="0" algn="r">
              <a:buNone/>
            </a:pPr>
            <a:r>
              <a:rPr lang="en-US" sz="1400" b="1" dirty="0">
                <a:solidFill>
                  <a:srgbClr val="CF3338"/>
                </a:solidFill>
                <a:latin typeface="Courier New" pitchFamily="34" charset="0"/>
                <a:ea typeface="Courier New" pitchFamily="34" charset="-122"/>
                <a:cs typeface="Courier New" pitchFamily="34" charset="-120"/>
              </a:rPr>
              <a:t>39</a:t>
            </a:r>
            <a:endParaRPr lang="en-US" sz="1400" dirty="0"/>
          </a:p>
        </p:txBody>
      </p:sp>
      <p:sp>
        <p:nvSpPr>
          <p:cNvPr id="16" name="Text 14"/>
          <p:cNvSpPr/>
          <p:nvPr/>
        </p:nvSpPr>
        <p:spPr>
          <a:xfrm>
            <a:off x="4937760" y="3246120"/>
            <a:ext cx="2560320" cy="36576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Canada</a:t>
            </a:r>
            <a:endParaRPr lang="en-US" sz="1400" dirty="0"/>
          </a:p>
        </p:txBody>
      </p:sp>
      <p:sp>
        <p:nvSpPr>
          <p:cNvPr id="17" name="Text 15"/>
          <p:cNvSpPr/>
          <p:nvPr/>
        </p:nvSpPr>
        <p:spPr>
          <a:xfrm>
            <a:off x="7498080" y="3246120"/>
            <a:ext cx="1097280" cy="365760"/>
          </a:xfrm>
          <a:prstGeom prst="rect">
            <a:avLst/>
          </a:prstGeom>
          <a:noFill/>
          <a:ln/>
        </p:spPr>
        <p:txBody>
          <a:bodyPr wrap="square" lIns="0" tIns="0" rIns="0" bIns="0" rtlCol="0" anchor="ctr"/>
          <a:lstStyle/>
          <a:p>
            <a:pPr marL="0" indent="0" algn="r">
              <a:buNone/>
            </a:pPr>
            <a:r>
              <a:rPr lang="en-US" sz="1400" b="1" dirty="0">
                <a:solidFill>
                  <a:srgbClr val="CF3338"/>
                </a:solidFill>
                <a:latin typeface="Courier New" pitchFamily="34" charset="0"/>
                <a:ea typeface="Courier New" pitchFamily="34" charset="-122"/>
                <a:cs typeface="Courier New" pitchFamily="34" charset="-120"/>
              </a:rPr>
              <a:t>26</a:t>
            </a:r>
            <a:endParaRPr lang="en-US" sz="1400" dirty="0"/>
          </a:p>
        </p:txBody>
      </p:sp>
      <p:sp>
        <p:nvSpPr>
          <p:cNvPr id="18" name="Text 16"/>
          <p:cNvSpPr/>
          <p:nvPr/>
        </p:nvSpPr>
        <p:spPr>
          <a:xfrm>
            <a:off x="4937760" y="3657600"/>
            <a:ext cx="2560320" cy="36576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Australia</a:t>
            </a:r>
            <a:endParaRPr lang="en-US" sz="1400" dirty="0"/>
          </a:p>
        </p:txBody>
      </p:sp>
      <p:sp>
        <p:nvSpPr>
          <p:cNvPr id="19" name="Text 17"/>
          <p:cNvSpPr/>
          <p:nvPr/>
        </p:nvSpPr>
        <p:spPr>
          <a:xfrm>
            <a:off x="7498080" y="3657600"/>
            <a:ext cx="1097280" cy="365760"/>
          </a:xfrm>
          <a:prstGeom prst="rect">
            <a:avLst/>
          </a:prstGeom>
          <a:noFill/>
          <a:ln/>
        </p:spPr>
        <p:txBody>
          <a:bodyPr wrap="square" lIns="0" tIns="0" rIns="0" bIns="0" rtlCol="0" anchor="ctr"/>
          <a:lstStyle/>
          <a:p>
            <a:pPr marL="0" indent="0" algn="r">
              <a:buNone/>
            </a:pPr>
            <a:r>
              <a:rPr lang="en-US" sz="1400" b="1" dirty="0">
                <a:solidFill>
                  <a:srgbClr val="CF3338"/>
                </a:solidFill>
                <a:latin typeface="Courier New" pitchFamily="34" charset="0"/>
                <a:ea typeface="Courier New" pitchFamily="34" charset="-122"/>
                <a:cs typeface="Courier New" pitchFamily="34" charset="-120"/>
              </a:rPr>
              <a:t>15</a:t>
            </a:r>
            <a:endParaRPr lang="en-US" sz="1400" dirty="0"/>
          </a:p>
        </p:txBody>
      </p:sp>
    </p:spTree>
    <p:extLst>
      <p:ext uri="{BB962C8B-B14F-4D97-AF65-F5344CB8AC3E}">
        <p14:creationId xmlns:p14="http://schemas.microsoft.com/office/powerpoint/2010/main" val="26745516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groupby() — the PivotTable, in code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Split → apply → combine.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554480"/>
            <a:ext cx="137160" cy="265176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777240" y="1737360"/>
            <a:ext cx="7680960" cy="2377440"/>
          </a:xfrm>
          <a:prstGeom prst="rect">
            <a:avLst/>
          </a:prstGeom>
          <a:noFill/>
          <a:ln/>
        </p:spPr>
        <p:txBody>
          <a:bodyPr wrap="square" lIns="0" tIns="0" rIns="0" bIns="0" rtlCol="0" anchor="ctr"/>
          <a:lstStyle/>
          <a:p>
            <a:pPr marL="0" indent="0">
              <a:buNone/>
            </a:pPr>
            <a:r>
              <a:rPr lang="en-US" sz="1400" dirty="0">
                <a:solidFill>
                  <a:srgbClr val="1F2120"/>
                </a:solidFill>
                <a:latin typeface="Courier New" pitchFamily="34" charset="0"/>
                <a:ea typeface="Courier New" pitchFamily="34" charset="-122"/>
                <a:cs typeface="Courier New" pitchFamily="34" charset="-120"/>
              </a:rPr>
              <a:t># Average price by country</a:t>
            </a:r>
            <a:endParaRPr lang="en-US" sz="1400" dirty="0"/>
          </a:p>
          <a:p>
            <a:pPr marL="0" indent="0">
              <a:buNone/>
            </a:pPr>
            <a:r>
              <a:rPr lang="en-US" sz="1400" dirty="0">
                <a:solidFill>
                  <a:srgbClr val="1F2120"/>
                </a:solidFill>
                <a:latin typeface="Courier New" pitchFamily="34" charset="0"/>
                <a:ea typeface="Courier New" pitchFamily="34" charset="-122"/>
                <a:cs typeface="Courier New" pitchFamily="34" charset="-120"/>
              </a:rPr>
              <a:t>sales_df.groupby('country')['unit_price'].mean()</a:t>
            </a:r>
            <a:endParaRPr lang="en-US" sz="1400" dirty="0"/>
          </a:p>
          <a:p>
            <a:pPr marL="0" indent="0">
              <a:buNone/>
            </a:pPr>
            <a:endParaRPr lang="en-US" sz="1400" dirty="0"/>
          </a:p>
          <a:p>
            <a:pPr marL="0" indent="0">
              <a:buNone/>
            </a:pPr>
            <a:r>
              <a:rPr lang="en-US" sz="1400" dirty="0">
                <a:solidFill>
                  <a:srgbClr val="1F2120"/>
                </a:solidFill>
                <a:latin typeface="Courier New" pitchFamily="34" charset="0"/>
                <a:ea typeface="Courier New" pitchFamily="34" charset="-122"/>
                <a:cs typeface="Courier New" pitchFamily="34" charset="-120"/>
              </a:rPr>
              <a:t># Multiple stats at once</a:t>
            </a:r>
            <a:endParaRPr lang="en-US" sz="1400" dirty="0"/>
          </a:p>
          <a:p>
            <a:pPr marL="0" indent="0">
              <a:buNone/>
            </a:pPr>
            <a:r>
              <a:rPr lang="en-US" sz="1400" dirty="0">
                <a:solidFill>
                  <a:srgbClr val="1F2120"/>
                </a:solidFill>
                <a:latin typeface="Courier New" pitchFamily="34" charset="0"/>
                <a:ea typeface="Courier New" pitchFamily="34" charset="-122"/>
                <a:cs typeface="Courier New" pitchFamily="34" charset="-120"/>
              </a:rPr>
              <a:t>sales_df.groupby('country')['unit_price'].agg(['mean','min','max'])</a:t>
            </a:r>
            <a:endParaRPr lang="en-US" sz="1400" dirty="0"/>
          </a:p>
          <a:p>
            <a:pPr marL="0" indent="0">
              <a:buNone/>
            </a:pPr>
            <a:endParaRPr lang="en-US" sz="1400" dirty="0"/>
          </a:p>
          <a:p>
            <a:pPr marL="0" indent="0">
              <a:buNone/>
            </a:pPr>
            <a:r>
              <a:rPr lang="en-US" sz="1400" dirty="0">
                <a:solidFill>
                  <a:srgbClr val="1F2120"/>
                </a:solidFill>
                <a:latin typeface="Courier New" pitchFamily="34" charset="0"/>
                <a:ea typeface="Courier New" pitchFamily="34" charset="-122"/>
                <a:cs typeface="Courier New" pitchFamily="34" charset="-120"/>
              </a:rPr>
              <a:t># Group by two columns</a:t>
            </a:r>
            <a:endParaRPr lang="en-US" sz="1400" dirty="0"/>
          </a:p>
          <a:p>
            <a:pPr marL="0" indent="0">
              <a:buNone/>
            </a:pPr>
            <a:r>
              <a:rPr lang="en-US" sz="1400" dirty="0">
                <a:solidFill>
                  <a:srgbClr val="1F2120"/>
                </a:solidFill>
                <a:latin typeface="Courier New" pitchFamily="34" charset="0"/>
                <a:ea typeface="Courier New" pitchFamily="34" charset="-122"/>
                <a:cs typeface="Courier New" pitchFamily="34" charset="-120"/>
              </a:rPr>
              <a:t>sales_df.groupby(['country','category'])['unit_price'].mean()</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buNone/>
            </a:pPr>
            <a:r>
              <a:rPr lang="en-US" sz="1300" i="1" dirty="0">
                <a:solidFill>
                  <a:srgbClr val="707070"/>
                </a:solidFill>
                <a:latin typeface="Arial" pitchFamily="34" charset="0"/>
                <a:ea typeface="Arial" pitchFamily="34" charset="-122"/>
                <a:cs typeface="Arial" pitchFamily="34" charset="-120"/>
              </a:rPr>
              <a:t>Like an Excel PivotTable — except you can chain it, filter it, and feed it into a chart.</a:t>
            </a:r>
            <a:endParaRPr lang="en-US" sz="1300" dirty="0"/>
          </a:p>
        </p:txBody>
      </p:sp>
    </p:spTree>
    <p:extLst>
      <p:ext uri="{BB962C8B-B14F-4D97-AF65-F5344CB8AC3E}">
        <p14:creationId xmlns:p14="http://schemas.microsoft.com/office/powerpoint/2010/main" val="3462123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Stitching it together</a:t>
            </a:r>
            <a:endParaRPr lang="en-US" sz="3200" dirty="0"/>
          </a:p>
        </p:txBody>
      </p:sp>
      <p:sp>
        <p:nvSpPr>
          <p:cNvPr id="3" name="Text 1"/>
          <p:cNvSpPr/>
          <p:nvPr/>
        </p:nvSpPr>
        <p:spPr>
          <a:xfrm>
            <a:off x="457200" y="1051560"/>
            <a:ext cx="8229600" cy="411480"/>
          </a:xfrm>
          <a:prstGeom prst="rect">
            <a:avLst/>
          </a:prstGeom>
          <a:noFill/>
          <a:ln/>
        </p:spPr>
        <p:txBody>
          <a:bodyPr wrap="square" lIns="0" tIns="0" rIns="0" bIns="0" rtlCol="0" anchor="ctr"/>
          <a:lstStyle/>
          <a:p>
            <a:pPr marL="0" indent="0">
              <a:buNone/>
            </a:pPr>
            <a:r>
              <a:rPr lang="en-US" sz="1400" i="1" dirty="0">
                <a:solidFill>
                  <a:srgbClr val="707070"/>
                </a:solidFill>
                <a:latin typeface="Arial" pitchFamily="34" charset="0"/>
                <a:ea typeface="Arial" pitchFamily="34" charset="-122"/>
                <a:cs typeface="Arial" pitchFamily="34" charset="-120"/>
              </a:rPr>
              <a:t>"What's the average price by category — but only in the US — sorted high to low?"</a:t>
            </a:r>
            <a:endParaRPr lang="en-US" sz="1400" dirty="0"/>
          </a:p>
        </p:txBody>
      </p:sp>
      <p:sp>
        <p:nvSpPr>
          <p:cNvPr id="4" name="Shape 2"/>
          <p:cNvSpPr/>
          <p:nvPr/>
        </p:nvSpPr>
        <p:spPr>
          <a:xfrm>
            <a:off x="457200" y="1645920"/>
            <a:ext cx="8229600" cy="2743200"/>
          </a:xfrm>
          <a:prstGeom prst="rect">
            <a:avLst/>
          </a:prstGeom>
          <a:solidFill>
            <a:srgbClr val="FFFFFF"/>
          </a:solidFill>
          <a:ln w="12700">
            <a:solidFill>
              <a:srgbClr val="E0DDD0"/>
            </a:solidFill>
            <a:prstDash val="solid"/>
          </a:ln>
        </p:spPr>
        <p:txBody>
          <a:bodyPr/>
          <a:lstStyle/>
          <a:p>
            <a:endParaRPr lang="en-US"/>
          </a:p>
        </p:txBody>
      </p:sp>
      <p:sp>
        <p:nvSpPr>
          <p:cNvPr id="5" name="Shape 3"/>
          <p:cNvSpPr/>
          <p:nvPr/>
        </p:nvSpPr>
        <p:spPr>
          <a:xfrm>
            <a:off x="457200" y="1645920"/>
            <a:ext cx="137160" cy="274320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777240" y="1874520"/>
            <a:ext cx="7680960" cy="2468880"/>
          </a:xfrm>
          <a:prstGeom prst="rect">
            <a:avLst/>
          </a:prstGeom>
          <a:noFill/>
          <a:ln/>
        </p:spPr>
        <p:txBody>
          <a:bodyPr wrap="square" lIns="0" tIns="0" rIns="0" bIns="0" rtlCol="0" anchor="ctr"/>
          <a:lstStyle/>
          <a:p>
            <a:pPr marL="0" indent="0">
              <a:buNone/>
            </a:pPr>
            <a:r>
              <a:rPr lang="en-US" sz="1600" dirty="0">
                <a:solidFill>
                  <a:srgbClr val="1F2120"/>
                </a:solidFill>
                <a:latin typeface="Courier New" pitchFamily="34" charset="0"/>
                <a:ea typeface="Courier New" pitchFamily="34" charset="-122"/>
                <a:cs typeface="Courier New" pitchFamily="34" charset="-120"/>
              </a:rPr>
              <a:t>us = sales_df[sales_df['country'] == 'United States']</a:t>
            </a:r>
            <a:endParaRPr lang="en-US" sz="1600" dirty="0"/>
          </a:p>
          <a:p>
            <a:pPr marL="0" indent="0">
              <a:buNone/>
            </a:pPr>
            <a:endParaRPr lang="en-US" sz="1600" dirty="0"/>
          </a:p>
          <a:p>
            <a:pPr marL="0" indent="0">
              <a:buNone/>
            </a:pPr>
            <a:r>
              <a:rPr lang="en-US" sz="1600" dirty="0">
                <a:solidFill>
                  <a:srgbClr val="1F2120"/>
                </a:solidFill>
                <a:latin typeface="Courier New" pitchFamily="34" charset="0"/>
                <a:ea typeface="Courier New" pitchFamily="34" charset="-122"/>
                <a:cs typeface="Courier New" pitchFamily="34" charset="-120"/>
              </a:rPr>
              <a:t>by_cat = us.groupby('category')['unit_price'].mean()</a:t>
            </a:r>
            <a:endParaRPr lang="en-US" sz="1600" dirty="0"/>
          </a:p>
          <a:p>
            <a:pPr marL="0" indent="0">
              <a:buNone/>
            </a:pPr>
            <a:endParaRPr lang="en-US" sz="1600" dirty="0"/>
          </a:p>
          <a:p>
            <a:pPr marL="0" indent="0">
              <a:buNone/>
            </a:pPr>
            <a:r>
              <a:rPr lang="en-US" sz="1600" dirty="0">
                <a:solidFill>
                  <a:srgbClr val="1F2120"/>
                </a:solidFill>
                <a:latin typeface="Courier New" pitchFamily="34" charset="0"/>
                <a:ea typeface="Courier New" pitchFamily="34" charset="-122"/>
                <a:cs typeface="Courier New" pitchFamily="34" charset="-120"/>
              </a:rPr>
              <a:t>by_cat.sort_values(ascending=False)</a:t>
            </a:r>
            <a:endParaRPr lang="en-US" sz="1600" dirty="0"/>
          </a:p>
        </p:txBody>
      </p:sp>
      <p:sp>
        <p:nvSpPr>
          <p:cNvPr id="7" name="Text 5"/>
          <p:cNvSpPr/>
          <p:nvPr/>
        </p:nvSpPr>
        <p:spPr>
          <a:xfrm>
            <a:off x="457200" y="4526280"/>
            <a:ext cx="8229600" cy="36576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Filter → group → sort. Same shape as an Excel workflow, just spelled in code.</a:t>
            </a:r>
            <a:endParaRPr lang="en-US" sz="1200" dirty="0"/>
          </a:p>
        </p:txBody>
      </p:sp>
    </p:spTree>
    <p:extLst>
      <p:ext uri="{BB962C8B-B14F-4D97-AF65-F5344CB8AC3E}">
        <p14:creationId xmlns:p14="http://schemas.microsoft.com/office/powerpoint/2010/main" val="30276479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marL="0" indent="0">
              <a:buNone/>
            </a:pPr>
            <a:r>
              <a:rPr lang="en-US" sz="2000" kern="0" spc="800" dirty="0">
                <a:solidFill>
                  <a:srgbClr val="FFFFFF"/>
                </a:solidFill>
                <a:latin typeface="Arial" pitchFamily="34" charset="0"/>
                <a:ea typeface="Arial" pitchFamily="34" charset="-122"/>
                <a:cs typeface="Arial" pitchFamily="34" charset="-120"/>
              </a:rPr>
              <a:t>Part 4</a:t>
            </a:r>
            <a:endParaRPr lang="en-US" sz="2000" dirty="0"/>
          </a:p>
        </p:txBody>
      </p:sp>
      <p:sp>
        <p:nvSpPr>
          <p:cNvPr id="3" name="Text 1"/>
          <p:cNvSpPr/>
          <p:nvPr/>
        </p:nvSpPr>
        <p:spPr>
          <a:xfrm>
            <a:off x="274320" y="2011680"/>
            <a:ext cx="8595360" cy="1280160"/>
          </a:xfrm>
          <a:prstGeom prst="rect">
            <a:avLst/>
          </a:prstGeom>
          <a:noFill/>
          <a:ln/>
        </p:spPr>
        <p:txBody>
          <a:bodyPr wrap="square" lIns="0" tIns="0" rIns="0" bIns="0"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One chart that earns gasps.</a:t>
            </a:r>
            <a:endParaRPr lang="en-US" sz="36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marL="0" indent="0">
              <a:buNone/>
            </a:pPr>
            <a:r>
              <a:rPr lang="en-US" sz="1800" i="1" dirty="0">
                <a:solidFill>
                  <a:srgbClr val="FFFFFF"/>
                </a:solidFill>
                <a:latin typeface="Arial" pitchFamily="34" charset="0"/>
                <a:ea typeface="Arial" pitchFamily="34" charset="-122"/>
                <a:cs typeface="Arial" pitchFamily="34" charset="-120"/>
              </a:rPr>
              <a:t>A correlation heatmap. In one line of code.</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extLst>
      <p:ext uri="{BB962C8B-B14F-4D97-AF65-F5344CB8AC3E}">
        <p14:creationId xmlns:p14="http://schemas.microsoft.com/office/powerpoint/2010/main" val="3020388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The whole recipe</a:t>
            </a:r>
            <a:endParaRPr lang="en-US" sz="3000" dirty="0"/>
          </a:p>
        </p:txBody>
      </p:sp>
      <p:sp>
        <p:nvSpPr>
          <p:cNvPr id="3" name="Shape 1"/>
          <p:cNvSpPr/>
          <p:nvPr/>
        </p:nvSpPr>
        <p:spPr>
          <a:xfrm>
            <a:off x="457200" y="1188720"/>
            <a:ext cx="3657600" cy="3291840"/>
          </a:xfrm>
          <a:prstGeom prst="rect">
            <a:avLst/>
          </a:prstGeom>
          <a:solidFill>
            <a:srgbClr val="FFFFFF"/>
          </a:solidFill>
          <a:ln w="12700">
            <a:solidFill>
              <a:srgbClr val="E0DDD0"/>
            </a:solidFill>
            <a:prstDash val="solid"/>
          </a:ln>
        </p:spPr>
        <p:txBody>
          <a:bodyPr/>
          <a:lstStyle/>
          <a:p>
            <a:endParaRPr lang="en-US"/>
          </a:p>
        </p:txBody>
      </p:sp>
      <p:sp>
        <p:nvSpPr>
          <p:cNvPr id="4" name="Shape 2"/>
          <p:cNvSpPr/>
          <p:nvPr/>
        </p:nvSpPr>
        <p:spPr>
          <a:xfrm>
            <a:off x="457200" y="1188720"/>
            <a:ext cx="137160" cy="3291840"/>
          </a:xfrm>
          <a:prstGeom prst="rect">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777240" y="1325880"/>
            <a:ext cx="3246120" cy="3108960"/>
          </a:xfrm>
          <a:prstGeom prst="rect">
            <a:avLst/>
          </a:prstGeom>
          <a:noFill/>
          <a:ln/>
        </p:spPr>
        <p:txBody>
          <a:bodyPr wrap="square" lIns="0" tIns="0" rIns="0" bIns="0" rtlCol="0" anchor="ctr"/>
          <a:lstStyle/>
          <a:p>
            <a:pPr marL="0" indent="0">
              <a:buNone/>
            </a:pPr>
            <a:r>
              <a:rPr lang="en-US" sz="1200" dirty="0">
                <a:solidFill>
                  <a:srgbClr val="1F2120"/>
                </a:solidFill>
                <a:latin typeface="Courier New" pitchFamily="34" charset="0"/>
                <a:ea typeface="Courier New" pitchFamily="34" charset="-122"/>
                <a:cs typeface="Courier New" pitchFamily="34" charset="-120"/>
              </a:rPr>
              <a:t>import seaborn as sns</a:t>
            </a:r>
            <a:endParaRPr lang="en-US" sz="1200" dirty="0"/>
          </a:p>
          <a:p>
            <a:pPr marL="0" indent="0">
              <a:buNone/>
            </a:pP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sales_df['revenue'] = (</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sales_df['unit_price']</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 sales_df['quantity']</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sns.heatmap(</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sales_df.corr(numeric_only=True),</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annot=True,</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cmap='RdGy_r',</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  center=0</a:t>
            </a:r>
            <a:endParaRPr lang="en-US" sz="1200" dirty="0"/>
          </a:p>
          <a:p>
            <a:pPr marL="0" indent="0">
              <a:buNone/>
            </a:pPr>
            <a:r>
              <a:rPr lang="en-US" sz="1200" dirty="0">
                <a:solidFill>
                  <a:srgbClr val="1F2120"/>
                </a:solidFill>
                <a:latin typeface="Courier New" pitchFamily="34" charset="0"/>
                <a:ea typeface="Courier New" pitchFamily="34" charset="-122"/>
                <a:cs typeface="Courier New" pitchFamily="34" charset="-120"/>
              </a:rPr>
              <a:t>)</a:t>
            </a:r>
            <a:endParaRPr lang="en-US" sz="1200" dirty="0"/>
          </a:p>
        </p:txBody>
      </p:sp>
      <p:pic>
        <p:nvPicPr>
          <p:cNvPr id="6" name="Image 0" descr="/sessions/festive-gallant-bohr/mnt/outputs/images/heatmap.png"/>
          <p:cNvPicPr>
            <a:picLocks noChangeAspect="1"/>
          </p:cNvPicPr>
          <p:nvPr/>
        </p:nvPicPr>
        <p:blipFill>
          <a:blip r:embed="rId3"/>
          <a:stretch>
            <a:fillRect/>
          </a:stretch>
        </p:blipFill>
        <p:spPr>
          <a:xfrm>
            <a:off x="4297680" y="1188720"/>
            <a:ext cx="4572000" cy="3291840"/>
          </a:xfrm>
          <a:prstGeom prst="rect">
            <a:avLst/>
          </a:prstGeom>
        </p:spPr>
      </p:pic>
      <p:sp>
        <p:nvSpPr>
          <p:cNvPr id="7" name="Text 4"/>
          <p:cNvSpPr/>
          <p:nvPr/>
        </p:nvSpPr>
        <p:spPr>
          <a:xfrm>
            <a:off x="457200" y="4572000"/>
            <a:ext cx="8229600" cy="365760"/>
          </a:xfrm>
          <a:prstGeom prst="rect">
            <a:avLst/>
          </a:prstGeom>
          <a:noFill/>
          <a:ln/>
        </p:spPr>
        <p:txBody>
          <a:bodyPr wrap="square" lIns="0" tIns="0" rIns="0" bIns="0" rtlCol="0" anchor="ctr"/>
          <a:lstStyle/>
          <a:p>
            <a:pPr marL="0" indent="0" algn="ctr">
              <a:buNone/>
            </a:pPr>
            <a:r>
              <a:rPr lang="en-US" sz="1300" b="1" i="1" dirty="0">
                <a:solidFill>
                  <a:srgbClr val="CF3338"/>
                </a:solidFill>
                <a:latin typeface="Arial" pitchFamily="34" charset="0"/>
                <a:ea typeface="Arial" pitchFamily="34" charset="-122"/>
                <a:cs typeface="Arial" pitchFamily="34" charset="-120"/>
              </a:rPr>
              <a:t>Eight lines. A chart you'd lose 20 minutes to in native Excel.</a:t>
            </a:r>
            <a:endParaRPr lang="en-US" sz="1300" dirty="0"/>
          </a:p>
        </p:txBody>
      </p:sp>
    </p:spTree>
    <p:extLst>
      <p:ext uri="{BB962C8B-B14F-4D97-AF65-F5344CB8AC3E}">
        <p14:creationId xmlns:p14="http://schemas.microsoft.com/office/powerpoint/2010/main" val="669337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Bonus flourish, if we have time</a:t>
            </a:r>
            <a:endParaRPr lang="en-US" sz="3000" dirty="0"/>
          </a:p>
        </p:txBody>
      </p:sp>
      <p:sp>
        <p:nvSpPr>
          <p:cNvPr id="3" name="Shape 1"/>
          <p:cNvSpPr/>
          <p:nvPr/>
        </p:nvSpPr>
        <p:spPr>
          <a:xfrm>
            <a:off x="457200" y="1554480"/>
            <a:ext cx="8229600" cy="1280160"/>
          </a:xfrm>
          <a:prstGeom prst="rect">
            <a:avLst/>
          </a:prstGeom>
          <a:solidFill>
            <a:srgbClr val="FFFFFF"/>
          </a:solidFill>
          <a:ln w="12700">
            <a:solidFill>
              <a:srgbClr val="E0DDD0"/>
            </a:solidFill>
            <a:prstDash val="solid"/>
          </a:ln>
        </p:spPr>
        <p:txBody>
          <a:bodyPr/>
          <a:lstStyle/>
          <a:p>
            <a:endParaRPr lang="en-US"/>
          </a:p>
        </p:txBody>
      </p:sp>
      <p:sp>
        <p:nvSpPr>
          <p:cNvPr id="4" name="Shape 2"/>
          <p:cNvSpPr/>
          <p:nvPr/>
        </p:nvSpPr>
        <p:spPr>
          <a:xfrm>
            <a:off x="457200" y="1554480"/>
            <a:ext cx="137160" cy="1280160"/>
          </a:xfrm>
          <a:prstGeom prst="rect">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777240" y="1874520"/>
            <a:ext cx="7680960" cy="731520"/>
          </a:xfrm>
          <a:prstGeom prst="rect">
            <a:avLst/>
          </a:prstGeom>
          <a:noFill/>
          <a:ln/>
        </p:spPr>
        <p:txBody>
          <a:bodyPr wrap="square" lIns="0" tIns="0" rIns="0" bIns="0" rtlCol="0" anchor="ctr"/>
          <a:lstStyle/>
          <a:p>
            <a:pPr marL="0" indent="0">
              <a:buNone/>
            </a:pPr>
            <a:r>
              <a:rPr lang="en-US" sz="1600" dirty="0">
                <a:solidFill>
                  <a:srgbClr val="1F2120"/>
                </a:solidFill>
                <a:latin typeface="Courier New" pitchFamily="34" charset="0"/>
                <a:ea typeface="Courier New" pitchFamily="34" charset="-122"/>
                <a:cs typeface="Courier New" pitchFamily="34" charset="-120"/>
              </a:rPr>
              <a:t>sns.pairplot(sales_df, hue='category')</a:t>
            </a:r>
            <a:endParaRPr lang="en-US" sz="1800" dirty="0"/>
          </a:p>
        </p:txBody>
      </p:sp>
      <p:sp>
        <p:nvSpPr>
          <p:cNvPr id="6" name="Text 4"/>
          <p:cNvSpPr/>
          <p:nvPr/>
        </p:nvSpPr>
        <p:spPr>
          <a:xfrm>
            <a:off x="457200" y="3108960"/>
            <a:ext cx="8229600" cy="457200"/>
          </a:xfrm>
          <a:prstGeom prst="rect">
            <a:avLst/>
          </a:prstGeom>
          <a:noFill/>
          <a:ln/>
        </p:spPr>
        <p:txBody>
          <a:bodyPr wrap="square" lIns="0" tIns="0" rIns="0" bIns="0" rtlCol="0" anchor="ctr"/>
          <a:lstStyle/>
          <a:p>
            <a:pPr marL="0" indent="0">
              <a:buNone/>
            </a:pPr>
            <a:r>
              <a:rPr lang="en-US" sz="1600" dirty="0">
                <a:solidFill>
                  <a:srgbClr val="1F2120"/>
                </a:solidFill>
                <a:latin typeface="Arial" pitchFamily="34" charset="0"/>
                <a:ea typeface="Arial" pitchFamily="34" charset="-122"/>
                <a:cs typeface="Arial" pitchFamily="34" charset="-120"/>
              </a:rPr>
              <a:t>One line. Every numeric variable plotted against every other one, color-coded by category.</a:t>
            </a:r>
            <a:endParaRPr lang="en-US" sz="1600" dirty="0"/>
          </a:p>
        </p:txBody>
      </p:sp>
      <p:sp>
        <p:nvSpPr>
          <p:cNvPr id="7" name="Text 5"/>
          <p:cNvSpPr/>
          <p:nvPr/>
        </p:nvSpPr>
        <p:spPr>
          <a:xfrm>
            <a:off x="457200" y="3566160"/>
            <a:ext cx="8229600" cy="365760"/>
          </a:xfrm>
          <a:prstGeom prst="rect">
            <a:avLst/>
          </a:prstGeom>
          <a:noFill/>
          <a:ln/>
        </p:spPr>
        <p:txBody>
          <a:bodyPr wrap="square" lIns="0" tIns="0" rIns="0" bIns="0" rtlCol="0" anchor="ctr"/>
          <a:lstStyle/>
          <a:p>
            <a:pPr marL="0" indent="0">
              <a:buNone/>
            </a:pPr>
            <a:r>
              <a:rPr lang="en-US" sz="1200" i="1" dirty="0">
                <a:solidFill>
                  <a:srgbClr val="707070"/>
                </a:solidFill>
                <a:latin typeface="Arial" pitchFamily="34" charset="0"/>
                <a:ea typeface="Arial" pitchFamily="34" charset="-122"/>
                <a:cs typeface="Arial" pitchFamily="34" charset="-120"/>
              </a:rPr>
              <a:t>Note: pairplots render slowly in cloud-backed PY() cells. Show, don't dwell.</a:t>
            </a:r>
            <a:endParaRPr lang="en-US" sz="1200" dirty="0"/>
          </a:p>
        </p:txBody>
      </p:sp>
      <p:sp>
        <p:nvSpPr>
          <p:cNvPr id="8" name="Text 6"/>
          <p:cNvSpPr/>
          <p:nvPr/>
        </p:nvSpPr>
        <p:spPr>
          <a:xfrm>
            <a:off x="457200" y="4206240"/>
            <a:ext cx="8229600" cy="548640"/>
          </a:xfrm>
          <a:prstGeom prst="rect">
            <a:avLst/>
          </a:prstGeom>
          <a:noFill/>
          <a:ln/>
        </p:spPr>
        <p:txBody>
          <a:bodyPr wrap="square" lIns="0" tIns="0" rIns="0" bIns="0" rtlCol="0" anchor="ctr"/>
          <a:lstStyle/>
          <a:p>
            <a:pPr marL="0" indent="0" algn="ctr">
              <a:buNone/>
            </a:pPr>
            <a:r>
              <a:rPr lang="en-US" sz="1600" b="1" i="1" dirty="0">
                <a:solidFill>
                  <a:srgbClr val="CF3338"/>
                </a:solidFill>
                <a:latin typeface="Arial" pitchFamily="34" charset="0"/>
                <a:ea typeface="Arial" pitchFamily="34" charset="-122"/>
                <a:cs typeface="Arial" pitchFamily="34" charset="-120"/>
              </a:rPr>
              <a:t>Where Excel charts feel ceremonial, seaborn one-liners feel like cheating.</a:t>
            </a:r>
            <a:endParaRPr lang="en-US" sz="1600" dirty="0"/>
          </a:p>
        </p:txBody>
      </p:sp>
    </p:spTree>
    <p:extLst>
      <p:ext uri="{BB962C8B-B14F-4D97-AF65-F5344CB8AC3E}">
        <p14:creationId xmlns:p14="http://schemas.microsoft.com/office/powerpoint/2010/main" val="19451351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marL="0" indent="0">
              <a:buNone/>
            </a:pPr>
            <a:r>
              <a:rPr lang="en-US" sz="2000" kern="0" spc="800" dirty="0">
                <a:solidFill>
                  <a:srgbClr val="FFFFFF"/>
                </a:solidFill>
                <a:latin typeface="Arial" pitchFamily="34" charset="0"/>
                <a:ea typeface="Arial" pitchFamily="34" charset="-122"/>
                <a:cs typeface="Arial" pitchFamily="34" charset="-120"/>
              </a:rPr>
              <a:t>Part 5</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marL="0" indent="0">
              <a:buNone/>
            </a:pPr>
            <a:r>
              <a:rPr lang="en-US" sz="4800" b="1" dirty="0">
                <a:solidFill>
                  <a:srgbClr val="FFFFFF"/>
                </a:solidFill>
                <a:latin typeface="Arial Black" pitchFamily="34" charset="0"/>
                <a:ea typeface="Arial Black" pitchFamily="34" charset="-122"/>
                <a:cs typeface="Arial Black" pitchFamily="34" charset="-120"/>
              </a:rPr>
              <a:t>Where to go from here.</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marL="0" indent="0">
              <a:buNone/>
            </a:pPr>
            <a:r>
              <a:rPr lang="en-US" sz="1800" i="1" dirty="0">
                <a:solidFill>
                  <a:srgbClr val="FFFFFF"/>
                </a:solidFill>
                <a:latin typeface="Arial" pitchFamily="34" charset="0"/>
                <a:ea typeface="Arial" pitchFamily="34" charset="-122"/>
                <a:cs typeface="Arial" pitchFamily="34" charset="-120"/>
              </a:rPr>
              <a:t>Reading list · my book · the cheat sheet you'll get.</a:t>
            </a:r>
            <a:endParaRPr lang="en-US" sz="1800" dirty="0"/>
          </a:p>
        </p:txBody>
      </p:sp>
    </p:spTree>
    <p:extLst>
      <p:ext uri="{BB962C8B-B14F-4D97-AF65-F5344CB8AC3E}">
        <p14:creationId xmlns:p14="http://schemas.microsoft.com/office/powerpoint/2010/main" val="27508510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Take this further</a:t>
            </a:r>
            <a:endParaRPr lang="en-US" sz="3000" dirty="0"/>
          </a:p>
        </p:txBody>
      </p:sp>
      <p:sp>
        <p:nvSpPr>
          <p:cNvPr id="3" name="Shape 1"/>
          <p:cNvSpPr/>
          <p:nvPr/>
        </p:nvSpPr>
        <p:spPr>
          <a:xfrm>
            <a:off x="365760" y="1371600"/>
            <a:ext cx="2697480" cy="3383280"/>
          </a:xfrm>
          <a:prstGeom prst="rect">
            <a:avLst/>
          </a:prstGeom>
          <a:solidFill>
            <a:srgbClr val="FFFFFF"/>
          </a:solidFill>
          <a:ln w="12700">
            <a:solidFill>
              <a:srgbClr val="E0DDD0"/>
            </a:solidFill>
            <a:prstDash val="solid"/>
          </a:ln>
        </p:spPr>
        <p:txBody>
          <a:bodyPr/>
          <a:lstStyle/>
          <a:p>
            <a:endParaRPr lang="en-US"/>
          </a:p>
        </p:txBody>
      </p:sp>
      <p:sp>
        <p:nvSpPr>
          <p:cNvPr id="4" name="Shape 2"/>
          <p:cNvSpPr/>
          <p:nvPr/>
        </p:nvSpPr>
        <p:spPr>
          <a:xfrm>
            <a:off x="365760" y="1371600"/>
            <a:ext cx="2697480" cy="365760"/>
          </a:xfrm>
          <a:prstGeom prst="rect">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502920" y="1399032"/>
            <a:ext cx="2423160" cy="320040"/>
          </a:xfrm>
          <a:prstGeom prst="rect">
            <a:avLst/>
          </a:prstGeom>
          <a:noFill/>
          <a:ln/>
        </p:spPr>
        <p:txBody>
          <a:bodyPr wrap="square" lIns="0" tIns="0" rIns="0" bIns="0" rtlCol="0" anchor="ctr"/>
          <a:lstStyle/>
          <a:p>
            <a:pPr marL="0" indent="0">
              <a:buNone/>
            </a:pPr>
            <a:r>
              <a:rPr lang="en-US" sz="1100" b="1" kern="0" spc="400" dirty="0">
                <a:solidFill>
                  <a:srgbClr val="FFFFFF"/>
                </a:solidFill>
                <a:latin typeface="Arial" pitchFamily="34" charset="0"/>
                <a:ea typeface="Arial" pitchFamily="34" charset="-122"/>
                <a:cs typeface="Arial" pitchFamily="34" charset="-120"/>
              </a:rPr>
              <a:t>OFFICIAL DOCS</a:t>
            </a:r>
            <a:endParaRPr lang="en-US" sz="1100" dirty="0"/>
          </a:p>
        </p:txBody>
      </p:sp>
      <p:sp>
        <p:nvSpPr>
          <p:cNvPr id="6" name="Text 4"/>
          <p:cNvSpPr/>
          <p:nvPr/>
        </p:nvSpPr>
        <p:spPr>
          <a:xfrm>
            <a:off x="548640" y="1874520"/>
            <a:ext cx="2331720" cy="822960"/>
          </a:xfrm>
          <a:prstGeom prst="rect">
            <a:avLst/>
          </a:prstGeom>
          <a:noFill/>
          <a:ln/>
        </p:spPr>
        <p:txBody>
          <a:bodyPr wrap="square" lIns="0" tIns="0" rIns="0" bIns="0" rtlCol="0" anchor="ctr"/>
          <a:lstStyle/>
          <a:p>
            <a:pPr marL="0" indent="0">
              <a:buNone/>
            </a:pPr>
            <a:r>
              <a:rPr lang="en-US" sz="1800" b="1" dirty="0">
                <a:solidFill>
                  <a:srgbClr val="1F2120"/>
                </a:solidFill>
                <a:latin typeface="Arial Black" pitchFamily="34" charset="0"/>
                <a:ea typeface="Arial Black" pitchFamily="34" charset="-122"/>
                <a:cs typeface="Arial Black" pitchFamily="34" charset="-120"/>
              </a:rPr>
              <a:t>Microsoft's Python in Excel docs</a:t>
            </a:r>
            <a:endParaRPr lang="en-US" sz="1800" dirty="0"/>
          </a:p>
        </p:txBody>
      </p:sp>
      <p:sp>
        <p:nvSpPr>
          <p:cNvPr id="7" name="Text 5"/>
          <p:cNvSpPr/>
          <p:nvPr/>
        </p:nvSpPr>
        <p:spPr>
          <a:xfrm>
            <a:off x="548640" y="2788920"/>
            <a:ext cx="2331720" cy="1554480"/>
          </a:xfrm>
          <a:prstGeom prst="rect">
            <a:avLst/>
          </a:prstGeom>
          <a:noFill/>
          <a:ln/>
        </p:spPr>
        <p:txBody>
          <a:bodyPr wrap="square" lIns="0" tIns="0" rIns="0" bIns="0" rtlCol="0" anchor="ctr"/>
          <a:lstStyle/>
          <a:p>
            <a:pPr marL="0" indent="0">
              <a:spcAft>
                <a:spcPts val="400"/>
              </a:spcAft>
              <a:buNone/>
            </a:pPr>
            <a:r>
              <a:rPr lang="en-US" sz="1200" dirty="0">
                <a:solidFill>
                  <a:srgbClr val="707070"/>
                </a:solidFill>
                <a:latin typeface="Arial" pitchFamily="34" charset="0"/>
                <a:ea typeface="Arial" pitchFamily="34" charset="-122"/>
                <a:cs typeface="Arial" pitchFamily="34" charset="-120"/>
              </a:rPr>
              <a:t>The source of truth for available packages, version requirements, and the latest features. The platform is still moving fast — bookmark it.</a:t>
            </a:r>
            <a:endParaRPr lang="en-US" sz="1200" dirty="0"/>
          </a:p>
        </p:txBody>
      </p:sp>
      <p:sp>
        <p:nvSpPr>
          <p:cNvPr id="8" name="Text 6"/>
          <p:cNvSpPr/>
          <p:nvPr/>
        </p:nvSpPr>
        <p:spPr>
          <a:xfrm>
            <a:off x="548640" y="4389120"/>
            <a:ext cx="2331720" cy="274320"/>
          </a:xfrm>
          <a:prstGeom prst="rect">
            <a:avLst/>
          </a:prstGeom>
          <a:noFill/>
          <a:ln/>
        </p:spPr>
        <p:txBody>
          <a:bodyPr wrap="square" lIns="0" tIns="0" rIns="0" bIns="0" rtlCol="0" anchor="ctr"/>
          <a:lstStyle/>
          <a:p>
            <a:pPr marL="0" indent="0">
              <a:buNone/>
            </a:pPr>
            <a:r>
              <a:rPr lang="en-US" sz="1100" i="1" dirty="0">
                <a:solidFill>
                  <a:srgbClr val="CF3338"/>
                </a:solidFill>
                <a:latin typeface="Arial" pitchFamily="34" charset="0"/>
                <a:ea typeface="Arial" pitchFamily="34" charset="-122"/>
                <a:cs typeface="Arial" pitchFamily="34" charset="-120"/>
              </a:rPr>
              <a:t>learn.microsoft.com</a:t>
            </a:r>
            <a:endParaRPr lang="en-US" sz="1100" dirty="0"/>
          </a:p>
        </p:txBody>
      </p:sp>
      <p:sp>
        <p:nvSpPr>
          <p:cNvPr id="9" name="Shape 7"/>
          <p:cNvSpPr/>
          <p:nvPr/>
        </p:nvSpPr>
        <p:spPr>
          <a:xfrm>
            <a:off x="3246120" y="1371600"/>
            <a:ext cx="2697480" cy="3383280"/>
          </a:xfrm>
          <a:prstGeom prst="rect">
            <a:avLst/>
          </a:prstGeom>
          <a:solidFill>
            <a:srgbClr val="FFFFFF"/>
          </a:solidFill>
          <a:ln w="12700">
            <a:solidFill>
              <a:srgbClr val="E0DDD0"/>
            </a:solidFill>
            <a:prstDash val="solid"/>
          </a:ln>
        </p:spPr>
        <p:txBody>
          <a:bodyPr/>
          <a:lstStyle/>
          <a:p>
            <a:endParaRPr lang="en-US"/>
          </a:p>
        </p:txBody>
      </p:sp>
      <p:sp>
        <p:nvSpPr>
          <p:cNvPr id="10" name="Shape 8"/>
          <p:cNvSpPr/>
          <p:nvPr/>
        </p:nvSpPr>
        <p:spPr>
          <a:xfrm>
            <a:off x="3246120" y="1371600"/>
            <a:ext cx="2697480" cy="365760"/>
          </a:xfrm>
          <a:prstGeom prst="rect">
            <a:avLst/>
          </a:prstGeom>
          <a:solidFill>
            <a:srgbClr val="CF3338"/>
          </a:solidFill>
          <a:ln w="12700">
            <a:solidFill>
              <a:srgbClr val="CF3338"/>
            </a:solidFill>
            <a:prstDash val="solid"/>
          </a:ln>
        </p:spPr>
        <p:txBody>
          <a:bodyPr/>
          <a:lstStyle/>
          <a:p>
            <a:endParaRPr lang="en-US"/>
          </a:p>
        </p:txBody>
      </p:sp>
      <p:sp>
        <p:nvSpPr>
          <p:cNvPr id="11" name="Text 9"/>
          <p:cNvSpPr/>
          <p:nvPr/>
        </p:nvSpPr>
        <p:spPr>
          <a:xfrm>
            <a:off x="3383280" y="1399032"/>
            <a:ext cx="2423160" cy="320040"/>
          </a:xfrm>
          <a:prstGeom prst="rect">
            <a:avLst/>
          </a:prstGeom>
          <a:noFill/>
          <a:ln/>
        </p:spPr>
        <p:txBody>
          <a:bodyPr wrap="square" lIns="0" tIns="0" rIns="0" bIns="0" rtlCol="0" anchor="ctr"/>
          <a:lstStyle/>
          <a:p>
            <a:pPr marL="0" indent="0">
              <a:buNone/>
            </a:pPr>
            <a:r>
              <a:rPr lang="en-US" sz="1100" b="1" kern="0" spc="400" dirty="0">
                <a:solidFill>
                  <a:srgbClr val="FFFFFF"/>
                </a:solidFill>
                <a:latin typeface="Arial" pitchFamily="34" charset="0"/>
                <a:ea typeface="Arial" pitchFamily="34" charset="-122"/>
                <a:cs typeface="Arial" pitchFamily="34" charset="-120"/>
              </a:rPr>
              <a:t>PRACTICE</a:t>
            </a:r>
            <a:endParaRPr lang="en-US" sz="1100" dirty="0"/>
          </a:p>
        </p:txBody>
      </p:sp>
      <p:sp>
        <p:nvSpPr>
          <p:cNvPr id="12" name="Text 10"/>
          <p:cNvSpPr/>
          <p:nvPr/>
        </p:nvSpPr>
        <p:spPr>
          <a:xfrm>
            <a:off x="3429000" y="1874520"/>
            <a:ext cx="2331720" cy="822960"/>
          </a:xfrm>
          <a:prstGeom prst="rect">
            <a:avLst/>
          </a:prstGeom>
          <a:noFill/>
          <a:ln/>
        </p:spPr>
        <p:txBody>
          <a:bodyPr wrap="square" lIns="0" tIns="0" rIns="0" bIns="0" rtlCol="0" anchor="ctr"/>
          <a:lstStyle/>
          <a:p>
            <a:pPr marL="0" indent="0">
              <a:buNone/>
            </a:pPr>
            <a:r>
              <a:rPr lang="en-US" sz="1800" b="1" dirty="0">
                <a:solidFill>
                  <a:srgbClr val="1F2120"/>
                </a:solidFill>
                <a:latin typeface="Arial Black" pitchFamily="34" charset="0"/>
                <a:ea typeface="Arial Black" pitchFamily="34" charset="-122"/>
                <a:cs typeface="Arial Black" pitchFamily="34" charset="-120"/>
              </a:rPr>
              <a:t>Today's workbooks</a:t>
            </a:r>
            <a:endParaRPr lang="en-US" sz="1800" dirty="0"/>
          </a:p>
        </p:txBody>
      </p:sp>
      <p:sp>
        <p:nvSpPr>
          <p:cNvPr id="13" name="Text 11"/>
          <p:cNvSpPr/>
          <p:nvPr/>
        </p:nvSpPr>
        <p:spPr>
          <a:xfrm>
            <a:off x="3429000" y="2788920"/>
            <a:ext cx="2331720" cy="1554480"/>
          </a:xfrm>
          <a:prstGeom prst="rect">
            <a:avLst/>
          </a:prstGeom>
          <a:noFill/>
          <a:ln/>
        </p:spPr>
        <p:txBody>
          <a:bodyPr wrap="square" lIns="0" tIns="0" rIns="0" bIns="0" rtlCol="0" anchor="ctr"/>
          <a:lstStyle/>
          <a:p>
            <a:pPr marL="0" indent="0">
              <a:spcAft>
                <a:spcPts val="400"/>
              </a:spcAft>
              <a:buNone/>
            </a:pPr>
            <a:r>
              <a:rPr lang="en-US" sz="1200" dirty="0">
                <a:solidFill>
                  <a:srgbClr val="707070"/>
                </a:solidFill>
                <a:latin typeface="Arial" pitchFamily="34" charset="0"/>
                <a:ea typeface="Arial" pitchFamily="34" charset="-122"/>
                <a:cs typeface="Arial" pitchFamily="34" charset="-120"/>
              </a:rPr>
              <a:t>The two files from this workshop are yours to keep. Re-run the demos in your own time, then point xl() at one of your own tables and see what falls out.</a:t>
            </a:r>
            <a:endParaRPr lang="en-US" sz="1200" dirty="0"/>
          </a:p>
        </p:txBody>
      </p:sp>
      <p:sp>
        <p:nvSpPr>
          <p:cNvPr id="14" name="Text 12"/>
          <p:cNvSpPr/>
          <p:nvPr/>
        </p:nvSpPr>
        <p:spPr>
          <a:xfrm>
            <a:off x="3429000" y="4389120"/>
            <a:ext cx="2331720" cy="274320"/>
          </a:xfrm>
          <a:prstGeom prst="rect">
            <a:avLst/>
          </a:prstGeom>
          <a:noFill/>
          <a:ln/>
        </p:spPr>
        <p:txBody>
          <a:bodyPr wrap="square" lIns="0" tIns="0" rIns="0" bIns="0" rtlCol="0" anchor="ctr"/>
          <a:lstStyle/>
          <a:p>
            <a:pPr marL="0" indent="0">
              <a:buNone/>
            </a:pPr>
            <a:r>
              <a:rPr lang="en-US" sz="1100" i="1" dirty="0">
                <a:solidFill>
                  <a:srgbClr val="CF3338"/>
                </a:solidFill>
                <a:latin typeface="Arial" pitchFamily="34" charset="0"/>
                <a:ea typeface="Arial" pitchFamily="34" charset="-122"/>
                <a:cs typeface="Arial" pitchFamily="34" charset="-120"/>
              </a:rPr>
              <a:t>in your inbox</a:t>
            </a:r>
            <a:endParaRPr lang="en-US" sz="1100" dirty="0"/>
          </a:p>
        </p:txBody>
      </p:sp>
      <p:sp>
        <p:nvSpPr>
          <p:cNvPr id="15" name="Shape 13"/>
          <p:cNvSpPr/>
          <p:nvPr/>
        </p:nvSpPr>
        <p:spPr>
          <a:xfrm>
            <a:off x="6126480" y="1371600"/>
            <a:ext cx="2697480" cy="3383280"/>
          </a:xfrm>
          <a:prstGeom prst="rect">
            <a:avLst/>
          </a:prstGeom>
          <a:solidFill>
            <a:srgbClr val="FFFFFF"/>
          </a:solidFill>
          <a:ln w="12700">
            <a:solidFill>
              <a:srgbClr val="E0DDD0"/>
            </a:solidFill>
            <a:prstDash val="solid"/>
          </a:ln>
        </p:spPr>
        <p:txBody>
          <a:bodyPr/>
          <a:lstStyle/>
          <a:p>
            <a:endParaRPr lang="en-US"/>
          </a:p>
        </p:txBody>
      </p:sp>
      <p:sp>
        <p:nvSpPr>
          <p:cNvPr id="16" name="Shape 14"/>
          <p:cNvSpPr/>
          <p:nvPr/>
        </p:nvSpPr>
        <p:spPr>
          <a:xfrm>
            <a:off x="6126480" y="1371600"/>
            <a:ext cx="2697480" cy="365760"/>
          </a:xfrm>
          <a:prstGeom prst="rect">
            <a:avLst/>
          </a:prstGeom>
          <a:solidFill>
            <a:srgbClr val="CF3338"/>
          </a:solidFill>
          <a:ln w="12700">
            <a:solidFill>
              <a:srgbClr val="CF3338"/>
            </a:solidFill>
            <a:prstDash val="solid"/>
          </a:ln>
        </p:spPr>
        <p:txBody>
          <a:bodyPr/>
          <a:lstStyle/>
          <a:p>
            <a:endParaRPr lang="en-US"/>
          </a:p>
        </p:txBody>
      </p:sp>
      <p:sp>
        <p:nvSpPr>
          <p:cNvPr id="17" name="Text 15"/>
          <p:cNvSpPr/>
          <p:nvPr/>
        </p:nvSpPr>
        <p:spPr>
          <a:xfrm>
            <a:off x="6263640" y="1399032"/>
            <a:ext cx="2423160" cy="320040"/>
          </a:xfrm>
          <a:prstGeom prst="rect">
            <a:avLst/>
          </a:prstGeom>
          <a:noFill/>
          <a:ln/>
        </p:spPr>
        <p:txBody>
          <a:bodyPr wrap="square" lIns="0" tIns="0" rIns="0" bIns="0" rtlCol="0" anchor="ctr"/>
          <a:lstStyle/>
          <a:p>
            <a:pPr marL="0" indent="0">
              <a:buNone/>
            </a:pPr>
            <a:r>
              <a:rPr lang="en-US" sz="1100" b="1" kern="0" spc="400" dirty="0">
                <a:solidFill>
                  <a:srgbClr val="FFFFFF"/>
                </a:solidFill>
                <a:latin typeface="Arial" pitchFamily="34" charset="0"/>
                <a:ea typeface="Arial" pitchFamily="34" charset="-122"/>
                <a:cs typeface="Arial" pitchFamily="34" charset="-120"/>
              </a:rPr>
              <a:t>GO DEEPER</a:t>
            </a:r>
            <a:endParaRPr lang="en-US" sz="1100" dirty="0"/>
          </a:p>
        </p:txBody>
      </p:sp>
      <p:sp>
        <p:nvSpPr>
          <p:cNvPr id="18" name="Text 16"/>
          <p:cNvSpPr/>
          <p:nvPr/>
        </p:nvSpPr>
        <p:spPr>
          <a:xfrm>
            <a:off x="6309360" y="1874520"/>
            <a:ext cx="2331720" cy="822960"/>
          </a:xfrm>
          <a:prstGeom prst="rect">
            <a:avLst/>
          </a:prstGeom>
          <a:noFill/>
          <a:ln/>
        </p:spPr>
        <p:txBody>
          <a:bodyPr wrap="square" lIns="0" tIns="0" rIns="0" bIns="0" rtlCol="0" anchor="ctr"/>
          <a:lstStyle/>
          <a:p>
            <a:pPr marL="0" indent="0">
              <a:buNone/>
            </a:pPr>
            <a:r>
              <a:rPr lang="en-US" sz="1800" b="1" dirty="0">
                <a:solidFill>
                  <a:srgbClr val="1F2120"/>
                </a:solidFill>
                <a:latin typeface="Arial Black" pitchFamily="34" charset="0"/>
                <a:ea typeface="Arial Black" pitchFamily="34" charset="-122"/>
                <a:cs typeface="Arial Black" pitchFamily="34" charset="-120"/>
              </a:rPr>
              <a:t>Python in Excel for Data Analytics</a:t>
            </a:r>
            <a:endParaRPr lang="en-US" sz="1800" dirty="0"/>
          </a:p>
        </p:txBody>
      </p:sp>
      <p:sp>
        <p:nvSpPr>
          <p:cNvPr id="19" name="Text 17"/>
          <p:cNvSpPr/>
          <p:nvPr/>
        </p:nvSpPr>
        <p:spPr>
          <a:xfrm>
            <a:off x="6309360" y="2788920"/>
            <a:ext cx="2331720" cy="1554480"/>
          </a:xfrm>
          <a:prstGeom prst="rect">
            <a:avLst/>
          </a:prstGeom>
          <a:noFill/>
          <a:ln/>
        </p:spPr>
        <p:txBody>
          <a:bodyPr wrap="square" lIns="0" tIns="0" rIns="0" bIns="0" rtlCol="0" anchor="ctr"/>
          <a:lstStyle/>
          <a:p>
            <a:pPr marL="0" indent="0">
              <a:spcAft>
                <a:spcPts val="400"/>
              </a:spcAft>
              <a:buNone/>
            </a:pPr>
            <a:r>
              <a:rPr lang="en-US" sz="1200" dirty="0">
                <a:solidFill>
                  <a:srgbClr val="707070"/>
                </a:solidFill>
                <a:latin typeface="Arial" pitchFamily="34" charset="0"/>
                <a:ea typeface="Arial" pitchFamily="34" charset="-122"/>
                <a:cs typeface="Arial" pitchFamily="34" charset="-120"/>
              </a:rPr>
              <a:t>The Packt book this workshop is built from. Chapters 1–2 cover today's material; later chapters take it through EDA, regression, and time series.</a:t>
            </a:r>
            <a:endParaRPr lang="en-US" sz="1200" dirty="0"/>
          </a:p>
        </p:txBody>
      </p:sp>
      <p:sp>
        <p:nvSpPr>
          <p:cNvPr id="20" name="Text 18"/>
          <p:cNvSpPr/>
          <p:nvPr/>
        </p:nvSpPr>
        <p:spPr>
          <a:xfrm>
            <a:off x="6309360" y="4389120"/>
            <a:ext cx="2331720" cy="274320"/>
          </a:xfrm>
          <a:prstGeom prst="rect">
            <a:avLst/>
          </a:prstGeom>
          <a:noFill/>
          <a:ln/>
        </p:spPr>
        <p:txBody>
          <a:bodyPr wrap="square" lIns="0" tIns="0" rIns="0" bIns="0" rtlCol="0" anchor="ctr"/>
          <a:lstStyle/>
          <a:p>
            <a:pPr marL="0" indent="0">
              <a:buNone/>
            </a:pPr>
            <a:r>
              <a:rPr lang="en-US" sz="1100" i="1" dirty="0">
                <a:solidFill>
                  <a:srgbClr val="CF3338"/>
                </a:solidFill>
                <a:latin typeface="Arial" pitchFamily="34" charset="0"/>
                <a:ea typeface="Arial" pitchFamily="34" charset="-122"/>
                <a:cs typeface="Arial" pitchFamily="34" charset="-120"/>
              </a:rPr>
              <a:t>Packt, 2026</a:t>
            </a:r>
            <a:endParaRPr lang="en-US" sz="1100" dirty="0"/>
          </a:p>
        </p:txBody>
      </p:sp>
    </p:spTree>
    <p:extLst>
      <p:ext uri="{BB962C8B-B14F-4D97-AF65-F5344CB8AC3E}">
        <p14:creationId xmlns:p14="http://schemas.microsoft.com/office/powerpoint/2010/main" val="2726582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marL="0" indent="0">
              <a:buNone/>
            </a:pPr>
            <a:r>
              <a:rPr lang="en-US" sz="3000" b="1" dirty="0">
                <a:solidFill>
                  <a:srgbClr val="1F2120"/>
                </a:solidFill>
                <a:latin typeface="Arial Black" pitchFamily="34" charset="0"/>
                <a:ea typeface="Arial Black" pitchFamily="34" charset="-122"/>
                <a:cs typeface="Arial Black" pitchFamily="34" charset="-120"/>
              </a:rPr>
              <a:t>Three things to remember tomorrow</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400" i="1" dirty="0">
                <a:solidFill>
                  <a:srgbClr val="707070"/>
                </a:solidFill>
                <a:latin typeface="Arial" pitchFamily="34" charset="0"/>
                <a:ea typeface="Arial" pitchFamily="34" charset="-122"/>
                <a:cs typeface="Arial" pitchFamily="34" charset="-120"/>
              </a:rPr>
              <a:t>Save yourself the support ticket.</a:t>
            </a:r>
            <a:endParaRPr lang="en-US" sz="1400" dirty="0"/>
          </a:p>
        </p:txBody>
      </p:sp>
      <p:sp>
        <p:nvSpPr>
          <p:cNvPr id="4" name="Shape 2"/>
          <p:cNvSpPr/>
          <p:nvPr/>
        </p:nvSpPr>
        <p:spPr>
          <a:xfrm>
            <a:off x="457200" y="1554480"/>
            <a:ext cx="640080" cy="640080"/>
          </a:xfrm>
          <a:prstGeom prst="ellipse">
            <a:avLst/>
          </a:prstGeom>
          <a:solidFill>
            <a:srgbClr val="CF3338"/>
          </a:solidFill>
          <a:ln w="12700">
            <a:solidFill>
              <a:srgbClr val="CF3338"/>
            </a:solidFill>
            <a:prstDash val="solid"/>
          </a:ln>
        </p:spPr>
        <p:txBody>
          <a:bodyPr/>
          <a:lstStyle/>
          <a:p>
            <a:endParaRPr lang="en-US"/>
          </a:p>
        </p:txBody>
      </p:sp>
      <p:sp>
        <p:nvSpPr>
          <p:cNvPr id="5" name="Text 3"/>
          <p:cNvSpPr/>
          <p:nvPr/>
        </p:nvSpPr>
        <p:spPr>
          <a:xfrm>
            <a:off x="457200" y="15544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Black" pitchFamily="34" charset="0"/>
                <a:ea typeface="Arial Black" pitchFamily="34" charset="-122"/>
                <a:cs typeface="Arial Black" pitchFamily="34" charset="-120"/>
              </a:rPr>
              <a:t>1</a:t>
            </a:r>
            <a:endParaRPr lang="en-US" sz="2400" dirty="0"/>
          </a:p>
        </p:txBody>
      </p:sp>
      <p:sp>
        <p:nvSpPr>
          <p:cNvPr id="6" name="Text 4"/>
          <p:cNvSpPr/>
          <p:nvPr/>
        </p:nvSpPr>
        <p:spPr>
          <a:xfrm>
            <a:off x="1280160" y="1554480"/>
            <a:ext cx="7132320" cy="365760"/>
          </a:xfrm>
          <a:prstGeom prst="rect">
            <a:avLst/>
          </a:prstGeom>
          <a:noFill/>
          <a:ln/>
        </p:spPr>
        <p:txBody>
          <a:bodyPr wrap="square" lIns="0" tIns="0" rIns="0" bIns="0" rtlCol="0" anchor="ctr"/>
          <a:lstStyle/>
          <a:p>
            <a:pPr marL="0" indent="0">
              <a:buNone/>
            </a:pPr>
            <a:r>
              <a:rPr lang="en-US" sz="1700" b="1" dirty="0">
                <a:solidFill>
                  <a:srgbClr val="1F2120"/>
                </a:solidFill>
                <a:latin typeface="Arial" pitchFamily="34" charset="0"/>
                <a:ea typeface="Arial" pitchFamily="34" charset="-122"/>
                <a:cs typeface="Arial" pitchFamily="34" charset="-120"/>
              </a:rPr>
              <a:t>Cells run top-left to bottom-right.</a:t>
            </a:r>
            <a:endParaRPr lang="en-US" sz="1700" dirty="0"/>
          </a:p>
        </p:txBody>
      </p:sp>
      <p:sp>
        <p:nvSpPr>
          <p:cNvPr id="7" name="Text 5"/>
          <p:cNvSpPr/>
          <p:nvPr/>
        </p:nvSpPr>
        <p:spPr>
          <a:xfrm>
            <a:off x="1280160" y="1920240"/>
            <a:ext cx="7132320" cy="548640"/>
          </a:xfrm>
          <a:prstGeom prst="rect">
            <a:avLst/>
          </a:prstGeom>
          <a:noFill/>
          <a:ln/>
        </p:spPr>
        <p:txBody>
          <a:bodyPr wrap="square" lIns="0" tIns="0" rIns="0" bIns="0" rtlCol="0" anchor="ctr"/>
          <a:lstStyle/>
          <a:p>
            <a:pPr marL="0" indent="0">
              <a:buNone/>
            </a:pPr>
            <a:r>
              <a:rPr lang="en-US" sz="1300" dirty="0">
                <a:solidFill>
                  <a:srgbClr val="1F2120"/>
                </a:solidFill>
                <a:latin typeface="Arial" pitchFamily="34" charset="0"/>
                <a:ea typeface="Arial" pitchFamily="34" charset="-122"/>
                <a:cs typeface="Arial" pitchFamily="34" charset="-120"/>
              </a:rPr>
              <a:t>If you reference a variable in a cell above or to the left of where it's defined, you'll get #PYTHON. Put your imports in the top-left and build down.</a:t>
            </a:r>
            <a:endParaRPr lang="en-US" sz="1300" dirty="0"/>
          </a:p>
        </p:txBody>
      </p:sp>
      <p:sp>
        <p:nvSpPr>
          <p:cNvPr id="8" name="Shape 6"/>
          <p:cNvSpPr/>
          <p:nvPr/>
        </p:nvSpPr>
        <p:spPr>
          <a:xfrm>
            <a:off x="457200" y="2560320"/>
            <a:ext cx="640080" cy="640080"/>
          </a:xfrm>
          <a:prstGeom prst="ellipse">
            <a:avLst/>
          </a:prstGeom>
          <a:solidFill>
            <a:srgbClr val="CF3338"/>
          </a:solidFill>
          <a:ln w="12700">
            <a:solidFill>
              <a:srgbClr val="CF3338"/>
            </a:solidFill>
            <a:prstDash val="solid"/>
          </a:ln>
        </p:spPr>
        <p:txBody>
          <a:bodyPr/>
          <a:lstStyle/>
          <a:p>
            <a:endParaRPr lang="en-US"/>
          </a:p>
        </p:txBody>
      </p:sp>
      <p:sp>
        <p:nvSpPr>
          <p:cNvPr id="9" name="Text 7"/>
          <p:cNvSpPr/>
          <p:nvPr/>
        </p:nvSpPr>
        <p:spPr>
          <a:xfrm>
            <a:off x="457200" y="25603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Black" pitchFamily="34" charset="0"/>
                <a:ea typeface="Arial Black" pitchFamily="34" charset="-122"/>
                <a:cs typeface="Arial Black" pitchFamily="34" charset="-120"/>
              </a:rPr>
              <a:t>2</a:t>
            </a:r>
            <a:endParaRPr lang="en-US" sz="2400" dirty="0"/>
          </a:p>
        </p:txBody>
      </p:sp>
      <p:sp>
        <p:nvSpPr>
          <p:cNvPr id="10" name="Text 8"/>
          <p:cNvSpPr/>
          <p:nvPr/>
        </p:nvSpPr>
        <p:spPr>
          <a:xfrm>
            <a:off x="1280160" y="2560320"/>
            <a:ext cx="7132320" cy="365760"/>
          </a:xfrm>
          <a:prstGeom prst="rect">
            <a:avLst/>
          </a:prstGeom>
          <a:noFill/>
          <a:ln/>
        </p:spPr>
        <p:txBody>
          <a:bodyPr wrap="square" lIns="0" tIns="0" rIns="0" bIns="0" rtlCol="0" anchor="ctr"/>
          <a:lstStyle/>
          <a:p>
            <a:pPr marL="0" indent="0">
              <a:buNone/>
            </a:pPr>
            <a:r>
              <a:rPr lang="en-US" sz="1700" b="1" dirty="0">
                <a:solidFill>
                  <a:srgbClr val="1F2120"/>
                </a:solidFill>
                <a:latin typeface="Arial" pitchFamily="34" charset="0"/>
                <a:ea typeface="Arial" pitchFamily="34" charset="-122"/>
                <a:cs typeface="Arial" pitchFamily="34" charset="-120"/>
              </a:rPr>
              <a:t>It runs in the cloud.</a:t>
            </a:r>
            <a:endParaRPr lang="en-US" sz="1700" dirty="0"/>
          </a:p>
        </p:txBody>
      </p:sp>
      <p:sp>
        <p:nvSpPr>
          <p:cNvPr id="11" name="Text 9"/>
          <p:cNvSpPr/>
          <p:nvPr/>
        </p:nvSpPr>
        <p:spPr>
          <a:xfrm>
            <a:off x="1280160" y="2926080"/>
            <a:ext cx="7132320" cy="548640"/>
          </a:xfrm>
          <a:prstGeom prst="rect">
            <a:avLst/>
          </a:prstGeom>
          <a:noFill/>
          <a:ln/>
        </p:spPr>
        <p:txBody>
          <a:bodyPr wrap="square" lIns="0" tIns="0" rIns="0" bIns="0" rtlCol="0" anchor="ctr"/>
          <a:lstStyle/>
          <a:p>
            <a:pPr marL="0" indent="0">
              <a:buNone/>
            </a:pPr>
            <a:r>
              <a:rPr lang="en-US" sz="1300" dirty="0">
                <a:solidFill>
                  <a:srgbClr val="1F2120"/>
                </a:solidFill>
                <a:latin typeface="Arial" pitchFamily="34" charset="0"/>
                <a:ea typeface="Arial" pitchFamily="34" charset="-122"/>
                <a:cs typeface="Arial" pitchFamily="34" charset="-120"/>
              </a:rPr>
              <a:t>No internet, no PY(). And don't expect web-scraping or local file I/O — you can only pull data from inside the workbook.</a:t>
            </a:r>
            <a:endParaRPr lang="en-US" sz="1300" dirty="0"/>
          </a:p>
        </p:txBody>
      </p:sp>
      <p:sp>
        <p:nvSpPr>
          <p:cNvPr id="12" name="Shape 10"/>
          <p:cNvSpPr/>
          <p:nvPr/>
        </p:nvSpPr>
        <p:spPr>
          <a:xfrm>
            <a:off x="457200" y="3566160"/>
            <a:ext cx="640080" cy="640080"/>
          </a:xfrm>
          <a:prstGeom prst="ellipse">
            <a:avLst/>
          </a:prstGeom>
          <a:solidFill>
            <a:srgbClr val="CF3338"/>
          </a:solidFill>
          <a:ln w="12700">
            <a:solidFill>
              <a:srgbClr val="CF3338"/>
            </a:solidFill>
            <a:prstDash val="solid"/>
          </a:ln>
        </p:spPr>
        <p:txBody>
          <a:bodyPr/>
          <a:lstStyle/>
          <a:p>
            <a:endParaRPr lang="en-US"/>
          </a:p>
        </p:txBody>
      </p:sp>
      <p:sp>
        <p:nvSpPr>
          <p:cNvPr id="13" name="Text 11"/>
          <p:cNvSpPr/>
          <p:nvPr/>
        </p:nvSpPr>
        <p:spPr>
          <a:xfrm>
            <a:off x="457200" y="356616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Black" pitchFamily="34" charset="0"/>
                <a:ea typeface="Arial Black" pitchFamily="34" charset="-122"/>
                <a:cs typeface="Arial Black" pitchFamily="34" charset="-120"/>
              </a:rPr>
              <a:t>3</a:t>
            </a:r>
            <a:endParaRPr lang="en-US" sz="2400" dirty="0"/>
          </a:p>
        </p:txBody>
      </p:sp>
      <p:sp>
        <p:nvSpPr>
          <p:cNvPr id="14" name="Text 12"/>
          <p:cNvSpPr/>
          <p:nvPr/>
        </p:nvSpPr>
        <p:spPr>
          <a:xfrm>
            <a:off x="1280160" y="3566160"/>
            <a:ext cx="7132320" cy="365760"/>
          </a:xfrm>
          <a:prstGeom prst="rect">
            <a:avLst/>
          </a:prstGeom>
          <a:noFill/>
          <a:ln/>
        </p:spPr>
        <p:txBody>
          <a:bodyPr wrap="square" lIns="0" tIns="0" rIns="0" bIns="0" rtlCol="0" anchor="ctr"/>
          <a:lstStyle/>
          <a:p>
            <a:pPr marL="0" indent="0">
              <a:buNone/>
            </a:pPr>
            <a:r>
              <a:rPr lang="en-US" sz="1700" b="1" dirty="0">
                <a:solidFill>
                  <a:srgbClr val="1F2120"/>
                </a:solidFill>
                <a:latin typeface="Arial" pitchFamily="34" charset="0"/>
                <a:ea typeface="Arial" pitchFamily="34" charset="-122"/>
                <a:cs typeface="Arial" pitchFamily="34" charset="-120"/>
              </a:rPr>
              <a:t>Default is Python Object, not Excel Value.</a:t>
            </a:r>
            <a:endParaRPr lang="en-US" sz="1700" dirty="0"/>
          </a:p>
        </p:txBody>
      </p:sp>
      <p:sp>
        <p:nvSpPr>
          <p:cNvPr id="15" name="Text 13"/>
          <p:cNvSpPr/>
          <p:nvPr/>
        </p:nvSpPr>
        <p:spPr>
          <a:xfrm>
            <a:off x="1280160" y="3931920"/>
            <a:ext cx="7132320" cy="548640"/>
          </a:xfrm>
          <a:prstGeom prst="rect">
            <a:avLst/>
          </a:prstGeom>
          <a:noFill/>
          <a:ln/>
        </p:spPr>
        <p:txBody>
          <a:bodyPr wrap="square" lIns="0" tIns="0" rIns="0" bIns="0" rtlCol="0" anchor="ctr"/>
          <a:lstStyle/>
          <a:p>
            <a:pPr marL="0" indent="0">
              <a:buNone/>
            </a:pPr>
            <a:r>
              <a:rPr lang="en-US" sz="1300" dirty="0">
                <a:solidFill>
                  <a:srgbClr val="1F2120"/>
                </a:solidFill>
                <a:latin typeface="Arial" pitchFamily="34" charset="0"/>
                <a:ea typeface="Arial" pitchFamily="34" charset="-122"/>
                <a:cs typeface="Arial" pitchFamily="34" charset="-120"/>
              </a:rPr>
              <a:t>If you want the data to spill into the grid, toggle: Ctrl + Alt + Shift + M. Otherwise you'll think nothing happened.</a:t>
            </a:r>
            <a:endParaRPr lang="en-US" sz="1300" dirty="0"/>
          </a:p>
        </p:txBody>
      </p:sp>
    </p:spTree>
    <p:extLst>
      <p:ext uri="{BB962C8B-B14F-4D97-AF65-F5344CB8AC3E}">
        <p14:creationId xmlns:p14="http://schemas.microsoft.com/office/powerpoint/2010/main" val="38354599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457200" y="1645920"/>
            <a:ext cx="8229600" cy="1280160"/>
          </a:xfrm>
          <a:prstGeom prst="rect">
            <a:avLst/>
          </a:prstGeom>
          <a:noFill/>
          <a:ln/>
        </p:spPr>
        <p:txBody>
          <a:bodyPr wrap="square" lIns="0" tIns="0" rIns="0" bIns="0" rtlCol="0" anchor="ctr"/>
          <a:lstStyle/>
          <a:p>
            <a:pPr marL="0" indent="0" algn="ctr">
              <a:buNone/>
            </a:pPr>
            <a:r>
              <a:rPr lang="en-US" sz="8800" b="1" dirty="0">
                <a:solidFill>
                  <a:srgbClr val="CF3338"/>
                </a:solidFill>
                <a:latin typeface="Arial Black" pitchFamily="34" charset="0"/>
                <a:ea typeface="Arial Black" pitchFamily="34" charset="-122"/>
                <a:cs typeface="Arial Black" pitchFamily="34" charset="-120"/>
              </a:rPr>
              <a:t>Questions?</a:t>
            </a:r>
            <a:endParaRPr lang="en-US" sz="8800" dirty="0"/>
          </a:p>
        </p:txBody>
      </p:sp>
      <p:sp>
        <p:nvSpPr>
          <p:cNvPr id="3" name="Text 1"/>
          <p:cNvSpPr/>
          <p:nvPr/>
        </p:nvSpPr>
        <p:spPr>
          <a:xfrm>
            <a:off x="457200" y="3017520"/>
            <a:ext cx="8229600" cy="457200"/>
          </a:xfrm>
          <a:prstGeom prst="rect">
            <a:avLst/>
          </a:prstGeom>
          <a:noFill/>
          <a:ln/>
        </p:spPr>
        <p:txBody>
          <a:bodyPr wrap="square" lIns="0" tIns="0" rIns="0" bIns="0" rtlCol="0" anchor="ctr"/>
          <a:lstStyle/>
          <a:p>
            <a:pPr marL="0" indent="0" algn="ctr">
              <a:buNone/>
            </a:pPr>
            <a:r>
              <a:rPr lang="en-US" sz="2000" i="1" dirty="0">
                <a:solidFill>
                  <a:srgbClr val="1F2120"/>
                </a:solidFill>
                <a:latin typeface="Arial" pitchFamily="34" charset="0"/>
                <a:ea typeface="Arial" pitchFamily="34" charset="-122"/>
                <a:cs typeface="Arial" pitchFamily="34" charset="-120"/>
              </a:rPr>
              <a:t>Drop them in chat — we'll work through as many as we can.</a:t>
            </a:r>
            <a:endParaRPr lang="en-US" sz="2000" dirty="0"/>
          </a:p>
        </p:txBody>
      </p:sp>
      <p:sp>
        <p:nvSpPr>
          <p:cNvPr id="4" name="Text 2"/>
          <p:cNvSpPr/>
          <p:nvPr/>
        </p:nvSpPr>
        <p:spPr>
          <a:xfrm>
            <a:off x="457200" y="3657600"/>
            <a:ext cx="8229600" cy="365760"/>
          </a:xfrm>
          <a:prstGeom prst="rect">
            <a:avLst/>
          </a:prstGeom>
          <a:noFill/>
          <a:ln/>
        </p:spPr>
        <p:txBody>
          <a:bodyPr wrap="square" lIns="0" tIns="0" rIns="0" bIns="0" rtlCol="0" anchor="ctr"/>
          <a:lstStyle/>
          <a:p>
            <a:pPr marL="0" indent="0" algn="ctr">
              <a:buNone/>
            </a:pPr>
            <a:r>
              <a:rPr lang="en-US" sz="1400" dirty="0">
                <a:solidFill>
                  <a:srgbClr val="707070"/>
                </a:solidFill>
                <a:latin typeface="Arial" pitchFamily="34" charset="0"/>
                <a:ea typeface="Arial" pitchFamily="34" charset="-122"/>
                <a:cs typeface="Arial" pitchFamily="34" charset="-120"/>
              </a:rPr>
              <a:t>Cheat sheet + sample files in your inbox after we wrap.</a:t>
            </a:r>
            <a:endParaRPr lang="en-US" sz="1400" dirty="0"/>
          </a:p>
        </p:txBody>
      </p:sp>
    </p:spTree>
    <p:extLst>
      <p:ext uri="{BB962C8B-B14F-4D97-AF65-F5344CB8AC3E}">
        <p14:creationId xmlns:p14="http://schemas.microsoft.com/office/powerpoint/2010/main" val="14918633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88"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787603C-C966-47E1-BA45-79ED3F5A0601}">
  <we:reference id="11d7cf85-ae5a-43b8-bc58-1e1a151cce24" version="1.0.0.1" store="EXCatalog" storeType="EXCatalog"/>
  <we:alternateReferences>
    <we:reference id="WA200010725" version="1.0.0.1" store="en-US" storeType="OMEX"/>
  </we:alternateReferences>
  <we:properties>
    <we:property name="claude.fileId" value="&quot;58eff9d7-b95c-4e78-9be9-e876933f198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78</TotalTime>
  <Words>5107</Words>
  <Application>Microsoft Office PowerPoint</Application>
  <PresentationFormat>On-screen Show (16:9)</PresentationFormat>
  <Paragraphs>366</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Arial Black</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in Excel: Your First Hour</dc:title>
  <dc:subject>PptxGenJS Presentation</dc:subject>
  <dc:creator>PptxGenJS</dc:creator>
  <cp:lastModifiedBy>George Mount</cp:lastModifiedBy>
  <cp:revision>2</cp:revision>
  <dcterms:created xsi:type="dcterms:W3CDTF">2026-05-17T21:09:48Z</dcterms:created>
  <dcterms:modified xsi:type="dcterms:W3CDTF">2026-05-17T22:39:01Z</dcterms:modified>
</cp:coreProperties>
</file>