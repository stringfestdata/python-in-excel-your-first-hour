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0" r:id="rId31"/>
    <p:sldId id="273" r:id="rId19"/>
    <p:sldId id="274" r:id="rId20"/>
    <p:sldId id="275" r:id="rId21"/>
    <p:sldId id="281" r:id="rId32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WORKSHOP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in Excel: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Hour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 real dataset · Explore it with pandas · Build a chart Excel can't touch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526280"/>
            <a:ext cx="1463040" cy="73152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for you if…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 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You've heard the words "Python in Excel" but haven't typed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=PY(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yet.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 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comfortable in Excel — formulas, tables, PivotTables — but the next step feels intimidating.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→  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You want to leave the next hour having </a:t>
            </a:r>
            <a:pPr indent="0" marL="0">
              <a:spcAft>
                <a:spcPts val="600"/>
              </a:spcAft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done it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watched a demo.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minute 60, you will have…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55448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your first PY() cell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Hello-world inside Excel — and you'll know exactly why your A1 reference broke.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55448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42900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Profiled a real dataset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sales orders, six pandas moves, fewer formulas than you'd guess.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309360" y="2468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chart that earns gasps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correlation heatmap in one line of code. Try doing that natively.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Python in Excel exists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when to reach for it instead of formulas or Power Query.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minutes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formulas start to feel cumbersome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Excel's grid is brilliant. Some tasks just don't fit on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137160" cy="1371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missing values across every column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Excel: nested COUNTBLANK per column.</a:t>
            </a:r>
            <a:pPr indent="0" marL="0">
              <a:buNone/>
            </a:pPr>
            <a:r>
              <a:rPr lang="en-US" sz="1300" b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|   </a:t>
            </a:r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 sales_df.isna().sum()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137160" cy="1371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and rolling-window time series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Excel: heroic helper columns.</a:t>
            </a:r>
            <a:pPr indent="0" marL="0">
              <a:buNone/>
            </a:pPr>
            <a:r>
              <a:rPr lang="en-US" sz="1300" b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|   </a:t>
            </a:r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 one .resample() call.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137160" cy="1371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multiples, jitter plots, heatmaps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Excel: not really.</a:t>
            </a:r>
            <a:pPr indent="0" marL="0">
              <a:buNone/>
            </a:pPr>
            <a:r>
              <a:rPr lang="en-US" sz="1300" b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|   </a:t>
            </a:r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seaborn: one line.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137160" cy="1371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Multi-variable descriptive statistics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Excel: Analysis ToolPak round-trip.</a:t>
            </a:r>
            <a:pPr indent="0" marL="0">
              <a:buNone/>
            </a:pPr>
            <a:r>
              <a:rPr lang="en-US" sz="1300" b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|   </a:t>
            </a:r>
            <a:pPr indent="0" marL="0">
              <a:buNone/>
            </a:pPr>
            <a:r>
              <a:rPr lang="en-US" sz="13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pandas: .describe()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to reach for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tools, three jobs. They are not competitors.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2697480" cy="109728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Formulas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lookups, references, ad-hoc math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the answer lives in nearby cells.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XLOOKUP, IF, SUMIFS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Cell-anchored logic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Volatile recalc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554480"/>
            <a:ext cx="2697480" cy="109728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data prep &amp; connections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the same prep runs again next month.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291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Connect &amp; combine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Clean &amp; shape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Refresh on demand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554480"/>
            <a:ext cx="2697480" cy="109728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783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in Excel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194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Analysis, stats, custom viz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651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when you need pandas, seaborn, or statsmodels.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291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DataFrames &amp; groupby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Heatmaps, pairplots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One-line summaries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Hello, world — in a cell.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PY() cell works · output modes · the calc-order gotcha.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minutes  •  open ch_01.xlsx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ways to insert a PY() cell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whichever feels least like 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91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Ribbon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Formulas tab → Insert Python.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discoverable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691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3017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=PY(  in any cell.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trust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916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26364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30175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Alt + Shift + 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931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you're showing off.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the green PY badge in the cell + formula bar — that's your confirmation.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ways to see your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Toggle: Ctrl + Alt + Shift + M  (or click the icon left of the formula bar)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41148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Object  (default)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 card icon, dimensions, preview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in one cell — no spill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mid-analysis: chain operations on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like a linked data type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54480"/>
            <a:ext cx="4023360" cy="41148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Value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Spills into the grid as a dynamic array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with normal Excel tools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at the end: hand-off to formulas / charts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it like any spilled range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one gotcha that will trip you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 Excel runs cells left-to-right, top-to-bottom — like reading a page.</a:t>
            </a:r>
            <a:endParaRPr lang="en-US" sz="1500" dirty="0"/>
          </a:p>
        </p:txBody>
      </p:sp>
      <p:pic>
        <p:nvPicPr>
          <p:cNvPr id="4" name="Image 0" descr="/sessions/festive-gallant-bohr/mnt/outputs/images/calc-or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0292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define my_object in B2, you can reference it in: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cell to the right of B2 in row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cell in rows 3, 4, 5, 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row 1 — A1 throws #PYTHON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move: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your imports and variables in the top-left. Build down and right.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Exploring a real dataset with pandas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orders. Six methods. Zero pivot tables.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 minutes  •  switch to ch_02.xlsx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Get the data into a DataFrame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range to an Excel Table first (Insert → Table). Name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37160" cy="137160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 = xl("sales[#All]", headers=True)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to notice: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xl() is the bridge from a worksheet range/table into Python.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headers=True is auto-added when you point it at a table — keep it.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the DataFrame on its own line shows the data card preview.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Profile in 30 seconds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moves before you do anything serious.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91440" cy="50292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sales_df.head()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1645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5 rows. Sanity check that it loaded.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59152"/>
            <a:ext cx="91440" cy="50292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91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sales_df.tail()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3591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5. Sanity check the bottom (often messier).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72384"/>
            <a:ext cx="91440" cy="50292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723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sales_df.sample(5)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0723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5. Catches issues a head/tail can hide.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85616"/>
            <a:ext cx="91440" cy="50292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856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sales_df.shape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37856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× columns. Mine for today: (200, 7).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more profiling wins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stats in one shot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sales_df.describe()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sales_df.describe(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percentiles=[.1, .5, .9])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sales_df.describe(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exclude='number')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by default. exclude='number' for text columns.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88720"/>
            <a:ext cx="4023360" cy="41148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isna().sum()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per column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sales_df.isna().sum()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 a 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sales_df.isna().sum() / len(sales_df)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&amp; 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(sales_df.isna().sum()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.sort_values(ascending=False))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customer_age has six gaps — perfect teaching moment.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Counting categories: value_counts()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PivotTable replacement for frequency.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37160" cy="301752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sales_df['country']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.value_counts()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proportions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sales_df['category']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.value_counts(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normalize=True)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States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43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Germany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43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United Kingdom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43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43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Australia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A43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groupby() — the PivotTable, in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→ apply → combine.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37160" cy="26517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Average price by country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sales_df.groupby('country')['unit_price'].mean()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stats at once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sales_df.groupby('country')['unit_price'].agg(['mean','min','max'])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 by two columns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sales_df.groupby(['country','category'])['unit_price'].mean()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an Excel PivotTable — except you can chain it, filter it, and feed it into a chart.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Stitching it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average price by category — but only in the US — sorted high to low?"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37160" cy="274320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 = sales_df[sales_df['country'] == 'United States']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by_cat = us.groupby('category')['unit_price'].mean()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by_cat.sort_values(ascending=False)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→ group → sort. Same shape as an Excel workflow, just spelled in code.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201168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chart that earns gasps.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correlation heatmap. In one line of code.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minutes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whole recipe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37160" cy="329184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sales_df['revenue'] =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sales_df['unit_price']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* sales_df['quantity']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sales_df.corr(numeric_only=True),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annot=True,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cmap='RdBu_r',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center=0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pic>
        <p:nvPicPr>
          <p:cNvPr id="6" name="Image 0" descr="/sessions/festive-gallant-bohr/mnt/outputs/images/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188720"/>
            <a:ext cx="45720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lines. A chart you'd lose 20 minutes to in native Excel.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Bonus flourish, if we have time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137160" cy="12801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sns.pairplot(sales_df, hue='category')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line. Every numeric variable plotted against every other one, color-coded by category.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pairplots render slowly in cloud-backed PY() cells. Show, don't dwell.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Excel charts feel ceremonial, seaborn one-liners feel like cheating.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to go from here.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list · my book · the cheat sheet you'll get.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 this further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2697480" cy="3657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99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Microsoft's Python in Excel docs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of truth for available packages, version requirements, and the latest features. The platform is still moving fast — bookmark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learn.microsoft.com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2697480" cy="3657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99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workbooks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files from this workshop are yours to keep. Re-run the demos in your own time, then point xl() at one of your own tables and see what falls out.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inbox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97480" cy="3657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99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Advancing into Analytics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O’Reilly book, From Excel to Python and R. Builds on today’s mindset — taking spreadsheet skills into a real analytics stack with statistics, EDA, and your first scripts in both languages.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389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43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stringfestanalytics.com/book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things to remember tomorrow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yourself the support ticket.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run top-left to bottom-right.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reference a variable in a cell above or to the left of where it's defined, you'll get #PYTHON. Put your imports in the top-left and build down.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560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in the cloud.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2926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internet, no PY(). And don't expect web-scraping or local file I/O — you can only pull data from inside the workbook.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is Python Object, not Excel Value.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want the data to spill into the grid, toggle: Ctrl + Alt + Shift + M. Otherwise you'll think nothing happened.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2A43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them in chat — we'll work through as many as we can.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 + sample files in your inbox after we wrap.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Bonus pandas moves, if we have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PivotTable-replacements. Each is one 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37160" cy="26517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by a column, descending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sales_df.sort_values('unit_price', ascending=False)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rows with .query()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sales_df.query("unit_price &gt; 100 and country == 'Germany'")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 N rows by a metric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sales_df.nlargest(5, 'quantity')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sort_values, .query(), nlargest — the three I reach for after groupby.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chart one-liners, if we have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seaborn views — each a single line of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37160" cy="2651760"/>
          </a:xfrm>
          <a:prstGeom prst="rect">
            <a:avLst/>
          </a:prstGeom>
          <a:solidFill>
            <a:srgbClr val="2A4365"/>
          </a:solidFill>
          <a:ln w="12700">
            <a:solidFill>
              <a:srgbClr val="2A43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Distribution of one numeric column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sns.histplot(sales_df, x='unit_price', bins=20)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Spread of a metric across categories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sns.boxplot(sales_df, x='category', y='unit_price')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 with a fitted regression 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sns.regplot(sales_df, x='quantity', y='unit_price')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Histogram, boxplot, regression scatter. Each would be a 10-minute fight in native Excel.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in Excel: Your First Hour</dc:title>
  <dc:subject>PptxGenJS Presentation</dc:subject>
  <dc:creator>PptxGenJS</dc:creator>
  <cp:lastModifiedBy>PptxGenJS</cp:lastModifiedBy>
  <cp:revision>1</cp:revision>
  <dcterms:created xsi:type="dcterms:W3CDTF">2026-05-18T13:45:11Z</dcterms:created>
  <dcterms:modified xsi:type="dcterms:W3CDTF">2026-05-18T13:45:11Z</dcterms:modified>
</cp:coreProperties>
</file>