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0" r:id="rId31"/>
    <p:sldId id="273" r:id="rId19"/>
    <p:sldId id="274" r:id="rId20"/>
    <p:sldId id="275" r:id="rId21"/>
    <p:sldId id="281" r:id="rId32"/>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18.xml"/><Relationship Id="rId3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If you're seeing this slide, you're in the right place — this is Python in Excel: Your First Hour.</a:t>
            </a:r>
          </a:p>
          <a:p/>
          <a:p>
            <a:r>
              <a:t>Here's the deal for the next sixty minutes. We're going to load a real dataset together. We're going to explore it with pandas. And we're going to build a chart Excel can't touch.</a:t>
            </a:r>
          </a:p>
          <a:p/>
          <a:p>
            <a:r>
              <a:t>You don't need to be a programmer. You just need to be comfortable in Excel. I'll do everything live, you can follow along, and you'll leave with the files we used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gut check. This session is for you if you've heard the words "Python in Excel" but haven't actually typed equals-P-Y yet.</a:t>
            </a:r>
          </a:p>
          <a:p/>
          <a:p>
            <a:r>
              <a:t>It's for you if you're comfortable in Excel — formulas, tables, PivotTables — but the jump into code feels intimidating.</a:t>
            </a:r>
          </a:p>
          <a:p/>
          <a:p>
            <a:r>
              <a:t>And it's for you if you want to leave the next hour having actually done it, not just watched a demo.</a:t>
            </a:r>
          </a:p>
          <a:p/>
          <a:p>
            <a:r>
              <a:t>If that's you, you're in the right room. Let's 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things you'll walk out with.</a:t>
            </a:r>
          </a:p>
          <a:p/>
          <a:p>
            <a:r>
              <a:t>One: you'll have written your first PY cell. Hello-world inside Excel. And — this is the part nobody warns you about — you'll know exactly why your A1 reference broke.</a:t>
            </a:r>
          </a:p>
          <a:p/>
          <a:p>
            <a:r>
              <a:t>Two: you'll have profiled a real dataset. Two hundred sales orders, six pandas moves, fewer formulas than you'd guess.</a:t>
            </a:r>
          </a:p>
          <a:p/>
          <a:p>
            <a:r>
              <a:t>Three: you'll have built a chart that earns gasps. A correlation heatmap in one line of code. Try doing that natively in Excel.</a:t>
            </a:r>
          </a:p>
          <a:p/>
          <a:p>
            <a:r>
              <a:t>Three things. One hour. Let's get into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one. Why Python in Excel even exists — and when to reach for it instead of formulas or Power Query. About ten minutes 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Excel's grid is brilliant. I love it. I built my career in it. But some tasks just don't fit on a grid.</a:t>
            </a:r>
          </a:p>
          <a:p/>
          <a:p>
            <a:r>
              <a:t>Counting missing values across every column. Native Excel — nested COUNTBLANK per column. Pandas — one expression, sales_df dot is-na dot sum.</a:t>
            </a:r>
          </a:p>
          <a:p/>
          <a:p>
            <a:r>
              <a:t>Resampling a time series. Excel — heroic helper columns. Pandas — one dot resample call.</a:t>
            </a:r>
          </a:p>
          <a:p/>
          <a:p>
            <a:r>
              <a:t>Small multiples, jitter plots, heatmaps. Excel — not really. Seaborn — one line.</a:t>
            </a:r>
          </a:p>
          <a:p/>
          <a:p>
            <a:r>
              <a:t>Multi-variable descriptive stats. Excel — Analysis ToolPak round-trip. Pandas — dot describe.</a:t>
            </a:r>
          </a:p>
          <a:p/>
          <a:p>
            <a:r>
              <a:t>This is the gap Python in Excel fills.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part I want you to remember. Python in Excel is not a competitor to formulas or Power Query. They each have a job.</a:t>
            </a:r>
          </a:p>
          <a:p/>
          <a:p>
            <a:r>
              <a:t>Formulas are for quick lookups, references, ad-hoc math. Cell-anchored logic. XLOOKUP, IF, SUMIFS.</a:t>
            </a:r>
          </a:p>
          <a:p/>
          <a:p>
            <a:r>
              <a:t>Power Query is for repeatable data prep. When the same cleanup has to run again next month — that's Power Query.</a:t>
            </a:r>
          </a:p>
          <a:p/>
          <a:p>
            <a:r>
              <a:t>Python in Excel is for analysis. Statistics. Custom visualizations. DataFrames, group-by, heatmaps.</a:t>
            </a:r>
          </a:p>
          <a:p/>
          <a:p>
            <a:r>
              <a:t>Three tools, three jobs. Reach for the right one and your life gets easier.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two. How a PY cell actually works. If you're following along, open the first workbook — zero one dash your dash first dash py dash cell. About ten minutes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ways to insert a Python cell. Use whichever feels least like work.</a:t>
            </a:r>
          </a:p>
          <a:p/>
          <a:p>
            <a:r>
              <a:t>One — the ribbon. Formulas tab, Insert Python. That's the discoverable one, especially the first few times.</a:t>
            </a:r>
          </a:p>
          <a:p/>
          <a:p>
            <a:r>
              <a:t>Two — just type equals-P-Y, open paren. Once you trust it, this is fastest.</a:t>
            </a:r>
          </a:p>
          <a:p/>
          <a:p>
            <a:r>
              <a:t>Three — keyboard shortcut. Control Alt Shift P. Once you're showing off in a meeting.</a:t>
            </a:r>
          </a:p>
          <a:p/>
          <a:p>
            <a:r>
              <a:t>Whichever you use, look for the green P-Y badge in the cell and the formula bar. That's your confirmation you're in a Python cell, not a regular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a Python cell runs, there are two ways to see the output. Toggle is Control Alt Shift M.</a:t>
            </a:r>
          </a:p>
          <a:p/>
          <a:p>
            <a:r>
              <a:t>Default is Python Object. You'll see a little card icon, the dimensions, and a preview. The output stays in one cell. That's great mid-analysis because you can chain operations on it.</a:t>
            </a:r>
          </a:p>
          <a:p/>
          <a:p>
            <a:r>
              <a:t>The other mode is Excel Value. The output spills into the grid as a dynamic array. Format it with normal Excel tools, reference it with normal formulas. That's great at the end, when you're handing off to charts.</a:t>
            </a:r>
          </a:p>
          <a:p/>
          <a:p>
            <a:r>
              <a:t>I'll stay in Python Object mode most of today. We'll flip to Excel Value when it makes sense.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Pay attention to this one, because it will bite you.</a:t>
            </a:r>
          </a:p>
          <a:p/>
          <a:p>
            <a:r>
              <a:t>Python in Excel runs cells left to right, top to bottom. Like reading a page.</a:t>
            </a:r>
          </a:p>
          <a:p/>
          <a:p>
            <a:r>
              <a:t>So if you define a variable in B2, you can reference it in any cell to the right of B2 in the same row. You can reference it in any cell in row three, row four, and below. But you cannot reference it in row one — A1 is above B2, and you'll get a hash-PYTHON error.</a:t>
            </a:r>
          </a:p>
          <a:p/>
          <a:p>
            <a:r>
              <a:t>The fix is simple. Put your imports and your variables in the top-left of the worksheet. Build down and to the right. Read it like a page.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three. This is the meat of the session. Switch over to the second workbook — zero two dash explore dash with dash pandas. Two hundred orders, six pandas methods, no pivot tables. About twenty-five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step — get the data into a DataFrame. One detail before we touch Python: convert your range to an Excel Table first. Insert, Table. Give it a name. Mine is called sales.</a:t>
            </a:r>
          </a:p>
          <a:p/>
          <a:p>
            <a:r>
              <a:t>Now in a PY cell — sales_df equals x-l, in parentheses, the string "sales hash all", then headers equals True. That x-l function is the bridge from a worksheet range into Python.</a:t>
            </a:r>
          </a:p>
          <a:p/>
          <a:p>
            <a:r>
              <a:t>Heads-up: headers equals True is added automatically when you point x-l at a Table. Keep it.</a:t>
            </a:r>
          </a:p>
          <a:p/>
          <a:p>
            <a:r>
              <a:t>And if you return the DataFrame on its own line — just type sales_df and press enter — you'll see the data card preview. Sanity check that the data made it 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moves I run before I do anything serious with a dataset.</a:t>
            </a:r>
          </a:p>
          <a:p/>
          <a:p>
            <a:r>
              <a:t>Dot head — first five rows. Sanity check it loaded.</a:t>
            </a:r>
          </a:p>
          <a:p/>
          <a:p>
            <a:r>
              <a:t>Dot tail — last five rows. Sanity check the bottom, which is often messier than the top.</a:t>
            </a:r>
          </a:p>
          <a:p/>
          <a:p>
            <a:r>
              <a:t>Dot sample five — five random rows. Catches issues a head or tail can hide.</a:t>
            </a:r>
          </a:p>
          <a:p/>
          <a:p>
            <a:r>
              <a:t>Dot shape — rows by columns. Today's dataset is two hundred by seven. Now I know what I'm working with.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more profiling wins.</a:t>
            </a:r>
          </a:p>
          <a:p/>
          <a:p>
            <a:r>
              <a:t>Dot describe gives you summary stats in one shot. Mean, standard deviation, min, max, quartiles. Numeric by default. Pass exclude equals number and it'll describe the text columns instead.</a:t>
            </a:r>
          </a:p>
          <a:p/>
          <a:p>
            <a:r>
              <a:t>Dot is-na dot sum gives you missing values per column. Divide by len of the DataFrame if you want a percent. Sort it if you want the worst columns first.</a:t>
            </a:r>
          </a:p>
          <a:p/>
          <a:p>
            <a:r>
              <a:t>In our dataset, customer-age has six gaps. That's perfect — gives us a teaching moment about missing data.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Value counts. This is your PivotTable replacement for frequency.</a:t>
            </a:r>
          </a:p>
          <a:p/>
          <a:p>
            <a:r>
              <a:t>Sales_df, square brackets country, dot value-counts. You get a sorted count of every country in the data. United States seventy-seven, Germany forty-three, U-K thirty-nine, Canada twenty-six, Australia fifteen.</a:t>
            </a:r>
          </a:p>
          <a:p/>
          <a:p>
            <a:r>
              <a:t>Want proportions instead of raw counts? Pass normalize equals True. Now you're looking at percentages.</a:t>
            </a:r>
          </a:p>
          <a:p/>
          <a:p>
            <a:r>
              <a:t>One line. In a PivotTable you'd be dragging fields. Not bad.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Group-by is the PivotTable, in code. Split. Apply. Combine.</a:t>
            </a:r>
          </a:p>
          <a:p/>
          <a:p>
            <a:r>
              <a:t>Sales_df dot group-by country, then bracket unit_price, dot mean. That's average unit price by country.</a:t>
            </a:r>
          </a:p>
          <a:p/>
          <a:p>
            <a:r>
              <a:t>Want multiple stats at once? Dot a-g-g, list of mean, min, max. Boom — three columns of summary.</a:t>
            </a:r>
          </a:p>
          <a:p/>
          <a:p>
            <a:r>
              <a:t>Group by two columns? Pass a list — country and category. Now you have a nested summary.</a:t>
            </a:r>
          </a:p>
          <a:p/>
          <a:p>
            <a:r>
              <a:t>It's like a PivotTable, except you can chain it. You can filter it. You can feed it directly into a chart.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let's stitch it together. Real question: "What's the average price by category — but only in the U-S — sorted high to low?"</a:t>
            </a:r>
          </a:p>
          <a:p/>
          <a:p>
            <a:r>
              <a:t>First line — filter sales_df where country equals United States. Call that "us".</a:t>
            </a:r>
          </a:p>
          <a:p/>
          <a:p>
            <a:r>
              <a:t>Second line — group us by category, take the mean of unit_price. Call that "by_cat".</a:t>
            </a:r>
          </a:p>
          <a:p/>
          <a:p>
            <a:r>
              <a:t>Third line — by_cat dot sort-values, ascending equals False.</a:t>
            </a:r>
          </a:p>
          <a:p/>
          <a:p>
            <a:r>
              <a:t>Filter. Group. Sort. Same shape as an Excel workflow. Just spelled in code.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four. One chart Excel can't natively produce. About ten minutes.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whole recipe. Eight lines.</a:t>
            </a:r>
          </a:p>
          <a:p/>
          <a:p>
            <a:r>
              <a:t>Import seaborn as s-n-s.</a:t>
            </a:r>
          </a:p>
          <a:p/>
          <a:p>
            <a:r>
              <a:t>Compute a revenue column as unit_price times quantity. Just so we have one more numeric column to play with.</a:t>
            </a:r>
          </a:p>
          <a:p/>
          <a:p>
            <a:r>
              <a:t>Then — s-n-s dot heatmap, sales_df dot corr with numeric_only equals True, annot equals True so we see the numbers, c-map equals R-d-B-u underscore r so red is negative and blue is positive, center equals zero so the color scale balances around zero.</a:t>
            </a:r>
          </a:p>
          <a:p/>
          <a:p>
            <a:r>
              <a:t>Run it. That's a correlation heatmap. You'd lose twenty minutes to that natively in Excel. We did it in eight lines.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we have time, here's a bonus flourish. One line.</a:t>
            </a:r>
          </a:p>
          <a:p/>
          <a:p>
            <a:r>
              <a:t>S-n-s dot pair-plot, sales_df, hue equals category. Every numeric variable plotted against every other one, color-coded by category.</a:t>
            </a:r>
          </a:p>
          <a:p/>
          <a:p>
            <a:r>
              <a:t>Heads-up — pair-plots render slowly in cloud-backed PY cells. Show it, don't dwell on it.</a:t>
            </a:r>
          </a:p>
          <a:p/>
          <a:p>
            <a:r>
              <a:t>Where Excel charts feel ceremonial, seaborn one-liners feel like cheating.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five. Where to go from here. Quick section — about five minutes including takeaways.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resources to take this further.</a:t>
            </a:r>
          </a:p>
          <a:p/>
          <a:p>
            <a:r>
              <a:t>First — Microsoft's Python in Excel docs. Bookmark them. The platform is still moving fast. Packages and features get added. That's where you check what's current.</a:t>
            </a:r>
          </a:p>
          <a:p/>
          <a:p>
            <a:r>
              <a:t>Second — today's workbooks. The two files we used are yours to keep. Re-run the demos in your own time. Then — and this is the part that makes it stick — point x-l at one of your own tables and see what falls out.</a:t>
            </a:r>
          </a:p>
          <a:p/>
          <a:p>
            <a:r>
              <a:t>Third — if you want to go all the way from Excel into the analytics stack, my O'Reilly book, Advancing into Analytics, walks you through statistics, exploratory data analysis, and your first scripts in both Python and R. Link is stringfest analytics dot com slash book.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remember three things tomorrow, make it these.</a:t>
            </a:r>
          </a:p>
          <a:p/>
          <a:p>
            <a:r>
              <a:t>One. Cells run top-left to bottom-right. If you reference a variable above or to the left of where it's defined, you'll get hash-PYTHON. Put your imports in the top-left and build down.</a:t>
            </a:r>
          </a:p>
          <a:p/>
          <a:p>
            <a:r>
              <a:t>Two. It runs in the cloud. No internet, no PY. And don't expect web scraping or local file I-O — you can only pull data from inside the workbook.</a:t>
            </a:r>
          </a:p>
          <a:p/>
          <a:p>
            <a:r>
              <a:t>Three. The default output is Python Object, not Excel Value. If you want data to spill into the grid, toggle — Control Alt Shift M. Otherwise you'll think nothing happened.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the hour. Drop questions in chat — we'll work through as many as we can.</a:t>
            </a:r>
          </a:p>
          <a:p/>
          <a:p>
            <a:r>
              <a:t>Cheat sheet and sample files will be in your inbox after we wrap. Thanks for spending the hour with me.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we're moving fast, here are three more I reach for after group-by.</a:t>
            </a:r>
          </a:p>
          <a:p/>
          <a:p>
            <a:r>
              <a:t>Sort_values — sort the whole DataFrame by a column. Pass ascending equals False if you want descending.</a:t>
            </a:r>
          </a:p>
          <a:p/>
          <a:p>
            <a:r>
              <a:t>Dot query — filter rows with an English-like expression. Quote the whole filter as a string. Unit_price greater than one hundred, and country equals Germany.</a:t>
            </a:r>
          </a:p>
          <a:p/>
          <a:p>
            <a:r>
              <a:t>Dot n-largest — top N rows by a metric. N-largest five, quantity, gives you the five biggest orders.</a:t>
            </a:r>
          </a:p>
          <a:p/>
          <a:p>
            <a:r>
              <a:t>Three more lines. Three more PivotTable replacements. Skip this slide if we're short on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seaborn one-liners worth having in your back pocket.</a:t>
            </a:r>
          </a:p>
          <a:p/>
          <a:p>
            <a:r>
              <a:t>Hist-plot — distribution of one numeric column. Sales_df, x equals unit_price, bins equals twenty.</a:t>
            </a:r>
          </a:p>
          <a:p/>
          <a:p>
            <a:r>
              <a:t>Box-plot — spread of a metric across categories. X equals category, y equals unit_price.</a:t>
            </a:r>
          </a:p>
          <a:p/>
          <a:p>
            <a:r>
              <a:t>Reg-plot — scatter with a fitted regression line. X equals quantity, y equals unit_price.</a:t>
            </a:r>
          </a:p>
          <a:p/>
          <a:p>
            <a:r>
              <a:t>Each one's a line. Each would be a ten-minute fight in native Excel. Skip if we're running long.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457200"/>
            <a:ext cx="8229600" cy="365760"/>
          </a:xfrm>
          <a:prstGeom prst="rect">
            <a:avLst/>
          </a:prstGeom>
          <a:noFill/>
          <a:ln/>
        </p:spPr>
        <p:txBody>
          <a:bodyPr wrap="square" lIns="0" tIns="0" rIns="0" bIns="0" rtlCol="0" anchor="ctr"/>
          <a:lstStyle/>
          <a:p>
            <a:pPr indent="0" marL="0">
              <a:buNone/>
            </a:pPr>
            <a:r>
              <a:rPr lang="en-US" sz="1400" b="1" spc="800" kern="0" dirty="0">
                <a:solidFill>
                  <a:srgbClr val="2A4365"/>
                </a:solidFill>
                <a:latin typeface="Arial" pitchFamily="34" charset="0"/>
                <a:ea typeface="Arial" pitchFamily="34" charset="-122"/>
                <a:cs typeface="Arial" pitchFamily="34" charset="-120"/>
              </a:rPr>
              <a:t>A LIVE WORKSHOP</a:t>
            </a:r>
            <a:endParaRPr lang="en-US" sz="1400" dirty="0"/>
          </a:p>
        </p:txBody>
      </p:sp>
      <p:sp>
        <p:nvSpPr>
          <p:cNvPr id="3" name="Text 1"/>
          <p:cNvSpPr/>
          <p:nvPr/>
        </p:nvSpPr>
        <p:spPr>
          <a:xfrm>
            <a:off x="457200" y="1737360"/>
            <a:ext cx="8229600" cy="914400"/>
          </a:xfrm>
          <a:prstGeom prst="rect">
            <a:avLst/>
          </a:prstGeom>
          <a:noFill/>
          <a:ln/>
        </p:spPr>
        <p:txBody>
          <a:bodyPr wrap="square" lIns="0" tIns="0" rIns="0" bIns="0" rtlCol="0" anchor="ctr"/>
          <a:lstStyle/>
          <a:p>
            <a:pPr indent="0" marL="0">
              <a:buNone/>
            </a:pPr>
            <a:r>
              <a:rPr lang="en-US" sz="6000" b="1" dirty="0">
                <a:solidFill>
                  <a:srgbClr val="2A4365"/>
                </a:solidFill>
                <a:latin typeface="Arial Black" pitchFamily="34" charset="0"/>
                <a:ea typeface="Arial Black" pitchFamily="34" charset="-122"/>
                <a:cs typeface="Arial Black" pitchFamily="34" charset="-120"/>
              </a:rPr>
              <a:t>Python in Excel:</a:t>
            </a:r>
            <a:endParaRPr lang="en-US" sz="6000" dirty="0"/>
          </a:p>
        </p:txBody>
      </p:sp>
      <p:sp>
        <p:nvSpPr>
          <p:cNvPr id="4" name="Text 2"/>
          <p:cNvSpPr/>
          <p:nvPr/>
        </p:nvSpPr>
        <p:spPr>
          <a:xfrm>
            <a:off x="457200" y="2606040"/>
            <a:ext cx="8229600" cy="914400"/>
          </a:xfrm>
          <a:prstGeom prst="rect">
            <a:avLst/>
          </a:prstGeom>
          <a:noFill/>
          <a:ln/>
        </p:spPr>
        <p:txBody>
          <a:bodyPr wrap="square" lIns="0" tIns="0" rIns="0" bIns="0" rtlCol="0" anchor="ctr"/>
          <a:lstStyle/>
          <a:p>
            <a:pPr indent="0" marL="0">
              <a:buNone/>
            </a:pPr>
            <a:r>
              <a:rPr lang="en-US" sz="6000" b="1" dirty="0">
                <a:solidFill>
                  <a:srgbClr val="1A202C"/>
                </a:solidFill>
                <a:latin typeface="Arial Black" pitchFamily="34" charset="0"/>
                <a:ea typeface="Arial Black" pitchFamily="34" charset="-122"/>
                <a:cs typeface="Arial Black" pitchFamily="34" charset="-120"/>
              </a:rPr>
              <a:t>Your First Hour</a:t>
            </a:r>
            <a:endParaRPr lang="en-US" sz="6000" dirty="0"/>
          </a:p>
        </p:txBody>
      </p:sp>
      <p:sp>
        <p:nvSpPr>
          <p:cNvPr id="5" name="Text 3"/>
          <p:cNvSpPr/>
          <p:nvPr/>
        </p:nvSpPr>
        <p:spPr>
          <a:xfrm>
            <a:off x="457200" y="3931920"/>
            <a:ext cx="8229600" cy="365760"/>
          </a:xfrm>
          <a:prstGeom prst="rect">
            <a:avLst/>
          </a:prstGeom>
          <a:noFill/>
          <a:ln/>
        </p:spPr>
        <p:txBody>
          <a:bodyPr wrap="square" lIns="0" tIns="0" rIns="0" bIns="0" rtlCol="0" anchor="ctr"/>
          <a:lstStyle/>
          <a:p>
            <a:pPr indent="0" marL="0">
              <a:buNone/>
            </a:pPr>
            <a:r>
              <a:rPr lang="en-US" sz="1600" i="1" dirty="0">
                <a:solidFill>
                  <a:srgbClr val="4A5568"/>
                </a:solidFill>
                <a:latin typeface="Arial" pitchFamily="34" charset="0"/>
                <a:ea typeface="Arial" pitchFamily="34" charset="-122"/>
                <a:cs typeface="Arial" pitchFamily="34" charset="-120"/>
              </a:rPr>
              <a:t>Load a real dataset · Explore it with pandas · Build a chart Excel can't touch</a:t>
            </a:r>
            <a:endParaRPr lang="en-US" sz="1600" dirty="0"/>
          </a:p>
        </p:txBody>
      </p:sp>
      <p:sp>
        <p:nvSpPr>
          <p:cNvPr id="6" name="Shape 4"/>
          <p:cNvSpPr/>
          <p:nvPr/>
        </p:nvSpPr>
        <p:spPr>
          <a:xfrm>
            <a:off x="457200" y="4526280"/>
            <a:ext cx="1463040" cy="73152"/>
          </a:xfrm>
          <a:prstGeom prst="rect">
            <a:avLst/>
          </a:prstGeom>
          <a:solidFill>
            <a:srgbClr val="2A4365"/>
          </a:solidFill>
          <a:ln w="12700">
            <a:solidFill>
              <a:srgbClr val="2A436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548640" y="640080"/>
            <a:ext cx="82296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Black" pitchFamily="34" charset="0"/>
                <a:ea typeface="Arial Black" pitchFamily="34" charset="-122"/>
                <a:cs typeface="Arial Black" pitchFamily="34" charset="-120"/>
              </a:rPr>
              <a:t>This is for you if…</a:t>
            </a:r>
            <a:endParaRPr lang="en-US" sz="4200" dirty="0"/>
          </a:p>
        </p:txBody>
      </p:sp>
      <p:sp>
        <p:nvSpPr>
          <p:cNvPr id="3" name="Text 1"/>
          <p:cNvSpPr/>
          <p:nvPr/>
        </p:nvSpPr>
        <p:spPr>
          <a:xfrm>
            <a:off x="548640" y="1645920"/>
            <a:ext cx="8046720" cy="274320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You've heard the words "Python in Excel" but haven't typed </a:t>
            </a:r>
            <a:pPr indent="0" marL="0">
              <a:spcAft>
                <a:spcPts val="600"/>
              </a:spcAft>
              <a:buNone/>
            </a:pPr>
            <a:r>
              <a:rPr lang="en-US" sz="2000" b="1" dirty="0">
                <a:solidFill>
                  <a:srgbClr val="FFFFFF"/>
                </a:solidFill>
                <a:latin typeface="Courier New" pitchFamily="34" charset="0"/>
                <a:ea typeface="Courier New" pitchFamily="34" charset="-122"/>
                <a:cs typeface="Courier New" pitchFamily="34" charset="-120"/>
              </a:rPr>
              <a:t>=PY(</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 yet.</a:t>
            </a:r>
            <a:endParaRPr lang="en-US" sz="2000" dirty="0"/>
          </a:p>
          <a:p>
            <a:pPr indent="0" marL="0">
              <a:spcAft>
                <a:spcPts val="600"/>
              </a:spcAft>
              <a:buNone/>
            </a:pPr>
            <a:r>
              <a:rPr lang="en-US" sz="800" dirty="0">
                <a:solidFill>
                  <a:srgbClr val="000000"/>
                </a:solidFill>
                <a:latin typeface="Arial" pitchFamily="34" charset="0"/>
                <a:ea typeface="Arial" pitchFamily="34" charset="-122"/>
                <a:cs typeface="Arial" pitchFamily="34" charset="-120"/>
              </a:rPr>
              <a:t xml:space="preserve"> </a:t>
            </a:r>
            <a:endParaRPr lang="en-US" sz="2000" dirty="0"/>
          </a:p>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You're comfortable in Excel — formulas, tables, PivotTables — but the next step feels intimidating.</a:t>
            </a:r>
            <a:endParaRPr lang="en-US" sz="2000" dirty="0"/>
          </a:p>
          <a:p>
            <a:pPr indent="0" marL="0">
              <a:spcAft>
                <a:spcPts val="600"/>
              </a:spcAft>
              <a:buNone/>
            </a:pPr>
            <a:r>
              <a:rPr lang="en-US" sz="800" dirty="0">
                <a:solidFill>
                  <a:srgbClr val="000000"/>
                </a:solidFill>
                <a:latin typeface="Arial" pitchFamily="34" charset="0"/>
                <a:ea typeface="Arial" pitchFamily="34" charset="-122"/>
                <a:cs typeface="Arial" pitchFamily="34" charset="-120"/>
              </a:rPr>
              <a:t xml:space="preserve"> </a:t>
            </a:r>
            <a:endParaRPr lang="en-US" sz="2000" dirty="0"/>
          </a:p>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You want to leave the next hour having </a:t>
            </a:r>
            <a:pPr indent="0" marL="0">
              <a:spcAft>
                <a:spcPts val="600"/>
              </a:spcAft>
              <a:buNone/>
            </a:pPr>
            <a:r>
              <a:rPr lang="en-US" sz="2000" b="1" i="1" dirty="0">
                <a:solidFill>
                  <a:srgbClr val="FFFFFF"/>
                </a:solidFill>
                <a:latin typeface="Arial" pitchFamily="34" charset="0"/>
                <a:ea typeface="Arial" pitchFamily="34" charset="-122"/>
                <a:cs typeface="Arial" pitchFamily="34" charset="-120"/>
              </a:rPr>
              <a:t>actually done it</a:t>
            </a:r>
            <a:pPr indent="0" marL="0">
              <a:spcAft>
                <a:spcPts val="600"/>
              </a:spcAft>
              <a:buNone/>
            </a:pPr>
            <a:r>
              <a:rPr lang="en-US" sz="2000" dirty="0">
                <a:solidFill>
                  <a:srgbClr val="FFFFFF"/>
                </a:solidFill>
                <a:latin typeface="Arial" pitchFamily="34" charset="0"/>
                <a:ea typeface="Arial" pitchFamily="34" charset="-122"/>
                <a:cs typeface="Arial" pitchFamily="34" charset="-120"/>
              </a:rPr>
              <a:t>, not just watched a demo.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lIns="0" tIns="0" rIns="0" bIns="0" rtlCol="0" anchor="ctr"/>
          <a:lstStyle/>
          <a:p>
            <a:pPr indent="0" marL="0">
              <a:buNone/>
            </a:pPr>
            <a:r>
              <a:rPr lang="en-US" sz="3600" b="1" dirty="0">
                <a:solidFill>
                  <a:srgbClr val="2A4365"/>
                </a:solidFill>
                <a:latin typeface="Arial Black" pitchFamily="34" charset="0"/>
                <a:ea typeface="Arial Black" pitchFamily="34" charset="-122"/>
                <a:cs typeface="Arial Black" pitchFamily="34" charset="-120"/>
              </a:rPr>
              <a:t>By minute 60, you will have…</a:t>
            </a:r>
            <a:endParaRPr lang="en-US" sz="3600" dirty="0"/>
          </a:p>
        </p:txBody>
      </p:sp>
      <p:sp>
        <p:nvSpPr>
          <p:cNvPr id="3" name="Shape 1"/>
          <p:cNvSpPr/>
          <p:nvPr/>
        </p:nvSpPr>
        <p:spPr>
          <a:xfrm>
            <a:off x="365760" y="1554480"/>
            <a:ext cx="2697480" cy="2926080"/>
          </a:xfrm>
          <a:prstGeom prst="rect">
            <a:avLst/>
          </a:prstGeom>
          <a:solidFill>
            <a:srgbClr val="FFFFFF"/>
          </a:solidFill>
          <a:ln w="12700">
            <a:solidFill>
              <a:srgbClr val="E2E1DC"/>
            </a:solidFill>
            <a:prstDash val="solid"/>
          </a:ln>
        </p:spPr>
      </p:sp>
      <p:sp>
        <p:nvSpPr>
          <p:cNvPr id="4" name="Text 2"/>
          <p:cNvSpPr/>
          <p:nvPr/>
        </p:nvSpPr>
        <p:spPr>
          <a:xfrm>
            <a:off x="36576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1</a:t>
            </a:r>
            <a:endParaRPr lang="en-US" sz="5600" dirty="0"/>
          </a:p>
        </p:txBody>
      </p:sp>
      <p:sp>
        <p:nvSpPr>
          <p:cNvPr id="5" name="Text 3"/>
          <p:cNvSpPr/>
          <p:nvPr/>
        </p:nvSpPr>
        <p:spPr>
          <a:xfrm>
            <a:off x="54864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Written your first PY() cell</a:t>
            </a:r>
            <a:endParaRPr lang="en-US" sz="1700" dirty="0"/>
          </a:p>
        </p:txBody>
      </p:sp>
      <p:sp>
        <p:nvSpPr>
          <p:cNvPr id="6" name="Text 4"/>
          <p:cNvSpPr/>
          <p:nvPr/>
        </p:nvSpPr>
        <p:spPr>
          <a:xfrm>
            <a:off x="54864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Hello-world inside Excel — and you'll know exactly why your A1 reference broke.</a:t>
            </a:r>
            <a:endParaRPr lang="en-US" sz="1300" dirty="0"/>
          </a:p>
        </p:txBody>
      </p:sp>
      <p:sp>
        <p:nvSpPr>
          <p:cNvPr id="7" name="Shape 5"/>
          <p:cNvSpPr/>
          <p:nvPr/>
        </p:nvSpPr>
        <p:spPr>
          <a:xfrm>
            <a:off x="3246120" y="1554480"/>
            <a:ext cx="2697480" cy="2926080"/>
          </a:xfrm>
          <a:prstGeom prst="rect">
            <a:avLst/>
          </a:prstGeom>
          <a:solidFill>
            <a:srgbClr val="FFFFFF"/>
          </a:solidFill>
          <a:ln w="12700">
            <a:solidFill>
              <a:srgbClr val="E2E1DC"/>
            </a:solidFill>
            <a:prstDash val="solid"/>
          </a:ln>
        </p:spPr>
      </p:sp>
      <p:sp>
        <p:nvSpPr>
          <p:cNvPr id="8" name="Text 6"/>
          <p:cNvSpPr/>
          <p:nvPr/>
        </p:nvSpPr>
        <p:spPr>
          <a:xfrm>
            <a:off x="324612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2</a:t>
            </a:r>
            <a:endParaRPr lang="en-US" sz="5600" dirty="0"/>
          </a:p>
        </p:txBody>
      </p:sp>
      <p:sp>
        <p:nvSpPr>
          <p:cNvPr id="9" name="Text 7"/>
          <p:cNvSpPr/>
          <p:nvPr/>
        </p:nvSpPr>
        <p:spPr>
          <a:xfrm>
            <a:off x="342900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Profiled a real dataset</a:t>
            </a:r>
            <a:endParaRPr lang="en-US" sz="1700" dirty="0"/>
          </a:p>
        </p:txBody>
      </p:sp>
      <p:sp>
        <p:nvSpPr>
          <p:cNvPr id="10" name="Text 8"/>
          <p:cNvSpPr/>
          <p:nvPr/>
        </p:nvSpPr>
        <p:spPr>
          <a:xfrm>
            <a:off x="342900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200 sales orders, six pandas moves, fewer formulas than you'd guess.</a:t>
            </a:r>
            <a:endParaRPr lang="en-US" sz="1300" dirty="0"/>
          </a:p>
        </p:txBody>
      </p:sp>
      <p:sp>
        <p:nvSpPr>
          <p:cNvPr id="11" name="Shape 9"/>
          <p:cNvSpPr/>
          <p:nvPr/>
        </p:nvSpPr>
        <p:spPr>
          <a:xfrm>
            <a:off x="6126480" y="1554480"/>
            <a:ext cx="2697480" cy="2926080"/>
          </a:xfrm>
          <a:prstGeom prst="rect">
            <a:avLst/>
          </a:prstGeom>
          <a:solidFill>
            <a:srgbClr val="FFFFFF"/>
          </a:solidFill>
          <a:ln w="12700">
            <a:solidFill>
              <a:srgbClr val="E2E1DC"/>
            </a:solidFill>
            <a:prstDash val="solid"/>
          </a:ln>
        </p:spPr>
      </p:sp>
      <p:sp>
        <p:nvSpPr>
          <p:cNvPr id="12" name="Text 10"/>
          <p:cNvSpPr/>
          <p:nvPr/>
        </p:nvSpPr>
        <p:spPr>
          <a:xfrm>
            <a:off x="612648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3</a:t>
            </a:r>
            <a:endParaRPr lang="en-US" sz="5600" dirty="0"/>
          </a:p>
        </p:txBody>
      </p:sp>
      <p:sp>
        <p:nvSpPr>
          <p:cNvPr id="13" name="Text 11"/>
          <p:cNvSpPr/>
          <p:nvPr/>
        </p:nvSpPr>
        <p:spPr>
          <a:xfrm>
            <a:off x="630936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Built a chart that earns gasps</a:t>
            </a:r>
            <a:endParaRPr lang="en-US" sz="1700" dirty="0"/>
          </a:p>
        </p:txBody>
      </p:sp>
      <p:sp>
        <p:nvSpPr>
          <p:cNvPr id="14" name="Text 12"/>
          <p:cNvSpPr/>
          <p:nvPr/>
        </p:nvSpPr>
        <p:spPr>
          <a:xfrm>
            <a:off x="630936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A correlation heatmap in one line of code. Try doing that natively.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1</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Why Python in Excel exists</a:t>
            </a:r>
            <a:endParaRPr lang="en-US" sz="40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…and when to reach for it instead of formulas or Power Query.</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Where formulas start to feel cumbersome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Excel's grid is brilliant. Some tasks just don't fit on it.</a:t>
            </a:r>
            <a:endParaRPr lang="en-US" sz="1500" dirty="0"/>
          </a:p>
        </p:txBody>
      </p:sp>
      <p:sp>
        <p:nvSpPr>
          <p:cNvPr id="4" name="Shape 2"/>
          <p:cNvSpPr/>
          <p:nvPr/>
        </p:nvSpPr>
        <p:spPr>
          <a:xfrm>
            <a:off x="457200" y="1664208"/>
            <a:ext cx="137160" cy="137160"/>
          </a:xfrm>
          <a:prstGeom prst="rect">
            <a:avLst/>
          </a:prstGeom>
          <a:solidFill>
            <a:srgbClr val="2A4365"/>
          </a:solidFill>
          <a:ln w="12700">
            <a:solidFill>
              <a:srgbClr val="2A4365"/>
            </a:solidFill>
            <a:prstDash val="solid"/>
          </a:ln>
        </p:spPr>
      </p:sp>
      <p:sp>
        <p:nvSpPr>
          <p:cNvPr id="5" name="Text 3"/>
          <p:cNvSpPr/>
          <p:nvPr/>
        </p:nvSpPr>
        <p:spPr>
          <a:xfrm>
            <a:off x="731520" y="155448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Counting missing values across every column</a:t>
            </a:r>
            <a:endParaRPr lang="en-US" sz="1600" dirty="0"/>
          </a:p>
        </p:txBody>
      </p:sp>
      <p:sp>
        <p:nvSpPr>
          <p:cNvPr id="6" name="Text 4"/>
          <p:cNvSpPr/>
          <p:nvPr/>
        </p:nvSpPr>
        <p:spPr>
          <a:xfrm>
            <a:off x="731520" y="187452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nested COUNTBLANK per column.</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sales_df.isna().sum()</a:t>
            </a:r>
            <a:endParaRPr lang="en-US" sz="1300" dirty="0"/>
          </a:p>
        </p:txBody>
      </p:sp>
      <p:sp>
        <p:nvSpPr>
          <p:cNvPr id="7" name="Shape 5"/>
          <p:cNvSpPr/>
          <p:nvPr/>
        </p:nvSpPr>
        <p:spPr>
          <a:xfrm>
            <a:off x="457200" y="2441448"/>
            <a:ext cx="137160" cy="137160"/>
          </a:xfrm>
          <a:prstGeom prst="rect">
            <a:avLst/>
          </a:prstGeom>
          <a:solidFill>
            <a:srgbClr val="2A4365"/>
          </a:solidFill>
          <a:ln w="12700">
            <a:solidFill>
              <a:srgbClr val="2A4365"/>
            </a:solidFill>
            <a:prstDash val="solid"/>
          </a:ln>
        </p:spPr>
      </p:sp>
      <p:sp>
        <p:nvSpPr>
          <p:cNvPr id="8" name="Text 6"/>
          <p:cNvSpPr/>
          <p:nvPr/>
        </p:nvSpPr>
        <p:spPr>
          <a:xfrm>
            <a:off x="731520" y="233172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Resampling and rolling-window time series</a:t>
            </a:r>
            <a:endParaRPr lang="en-US" sz="1600" dirty="0"/>
          </a:p>
        </p:txBody>
      </p:sp>
      <p:sp>
        <p:nvSpPr>
          <p:cNvPr id="9" name="Text 7"/>
          <p:cNvSpPr/>
          <p:nvPr/>
        </p:nvSpPr>
        <p:spPr>
          <a:xfrm>
            <a:off x="731520" y="265176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heroic helper columns.</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one .resample() call.</a:t>
            </a:r>
            <a:endParaRPr lang="en-US" sz="1300" dirty="0"/>
          </a:p>
        </p:txBody>
      </p:sp>
      <p:sp>
        <p:nvSpPr>
          <p:cNvPr id="10" name="Shape 8"/>
          <p:cNvSpPr/>
          <p:nvPr/>
        </p:nvSpPr>
        <p:spPr>
          <a:xfrm>
            <a:off x="457200" y="3218688"/>
            <a:ext cx="137160" cy="137160"/>
          </a:xfrm>
          <a:prstGeom prst="rect">
            <a:avLst/>
          </a:prstGeom>
          <a:solidFill>
            <a:srgbClr val="2A4365"/>
          </a:solidFill>
          <a:ln w="12700">
            <a:solidFill>
              <a:srgbClr val="2A4365"/>
            </a:solidFill>
            <a:prstDash val="solid"/>
          </a:ln>
        </p:spPr>
      </p:sp>
      <p:sp>
        <p:nvSpPr>
          <p:cNvPr id="11" name="Text 9"/>
          <p:cNvSpPr/>
          <p:nvPr/>
        </p:nvSpPr>
        <p:spPr>
          <a:xfrm>
            <a:off x="731520" y="310896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Small multiples, jitter plots, heatmaps</a:t>
            </a:r>
            <a:endParaRPr lang="en-US" sz="1600" dirty="0"/>
          </a:p>
        </p:txBody>
      </p:sp>
      <p:sp>
        <p:nvSpPr>
          <p:cNvPr id="12" name="Text 10"/>
          <p:cNvSpPr/>
          <p:nvPr/>
        </p:nvSpPr>
        <p:spPr>
          <a:xfrm>
            <a:off x="731520" y="342900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not really.</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seaborn: one line.</a:t>
            </a:r>
            <a:endParaRPr lang="en-US" sz="1300" dirty="0"/>
          </a:p>
        </p:txBody>
      </p:sp>
      <p:sp>
        <p:nvSpPr>
          <p:cNvPr id="13" name="Shape 11"/>
          <p:cNvSpPr/>
          <p:nvPr/>
        </p:nvSpPr>
        <p:spPr>
          <a:xfrm>
            <a:off x="457200" y="3995928"/>
            <a:ext cx="137160" cy="137160"/>
          </a:xfrm>
          <a:prstGeom prst="rect">
            <a:avLst/>
          </a:prstGeom>
          <a:solidFill>
            <a:srgbClr val="2A4365"/>
          </a:solidFill>
          <a:ln w="12700">
            <a:solidFill>
              <a:srgbClr val="2A4365"/>
            </a:solidFill>
            <a:prstDash val="solid"/>
          </a:ln>
        </p:spPr>
      </p:sp>
      <p:sp>
        <p:nvSpPr>
          <p:cNvPr id="14" name="Text 12"/>
          <p:cNvSpPr/>
          <p:nvPr/>
        </p:nvSpPr>
        <p:spPr>
          <a:xfrm>
            <a:off x="731520" y="388620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Multi-variable descriptive statistics</a:t>
            </a:r>
            <a:endParaRPr lang="en-US" sz="1600" dirty="0"/>
          </a:p>
        </p:txBody>
      </p:sp>
      <p:sp>
        <p:nvSpPr>
          <p:cNvPr id="15" name="Text 13"/>
          <p:cNvSpPr/>
          <p:nvPr/>
        </p:nvSpPr>
        <p:spPr>
          <a:xfrm>
            <a:off x="731520" y="420624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Analysis ToolPak round-trip.</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.describe()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When to reach for what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tools, three jobs. They are not competitors.</a:t>
            </a:r>
            <a:endParaRPr lang="en-US" sz="1500" dirty="0"/>
          </a:p>
        </p:txBody>
      </p:sp>
      <p:sp>
        <p:nvSpPr>
          <p:cNvPr id="4" name="Shape 2"/>
          <p:cNvSpPr/>
          <p:nvPr/>
        </p:nvSpPr>
        <p:spPr>
          <a:xfrm>
            <a:off x="365760" y="1554480"/>
            <a:ext cx="2697480" cy="3200400"/>
          </a:xfrm>
          <a:prstGeom prst="rect">
            <a:avLst/>
          </a:prstGeom>
          <a:solidFill>
            <a:srgbClr val="FFFFFF"/>
          </a:solidFill>
          <a:ln w="12700">
            <a:solidFill>
              <a:srgbClr val="E2E1DC"/>
            </a:solidFill>
            <a:prstDash val="solid"/>
          </a:ln>
        </p:spPr>
      </p:sp>
      <p:sp>
        <p:nvSpPr>
          <p:cNvPr id="5" name="Shape 3"/>
          <p:cNvSpPr/>
          <p:nvPr/>
        </p:nvSpPr>
        <p:spPr>
          <a:xfrm>
            <a:off x="365760" y="1554480"/>
            <a:ext cx="2697480" cy="109728"/>
          </a:xfrm>
          <a:prstGeom prst="rect">
            <a:avLst/>
          </a:prstGeom>
          <a:solidFill>
            <a:srgbClr val="2A4365"/>
          </a:solidFill>
          <a:ln w="12700">
            <a:solidFill>
              <a:srgbClr val="2A4365"/>
            </a:solidFill>
            <a:prstDash val="solid"/>
          </a:ln>
        </p:spPr>
      </p:sp>
      <p:sp>
        <p:nvSpPr>
          <p:cNvPr id="6" name="Text 4"/>
          <p:cNvSpPr/>
          <p:nvPr/>
        </p:nvSpPr>
        <p:spPr>
          <a:xfrm>
            <a:off x="50292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Formulas</a:t>
            </a:r>
            <a:endParaRPr lang="en-US" sz="2000" dirty="0"/>
          </a:p>
        </p:txBody>
      </p:sp>
      <p:sp>
        <p:nvSpPr>
          <p:cNvPr id="7" name="Text 5"/>
          <p:cNvSpPr/>
          <p:nvPr/>
        </p:nvSpPr>
        <p:spPr>
          <a:xfrm>
            <a:off x="50292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Quick lookups, references, ad-hoc math</a:t>
            </a:r>
            <a:endParaRPr lang="en-US" sz="1200" dirty="0"/>
          </a:p>
        </p:txBody>
      </p:sp>
      <p:sp>
        <p:nvSpPr>
          <p:cNvPr id="8" name="Text 6"/>
          <p:cNvSpPr/>
          <p:nvPr/>
        </p:nvSpPr>
        <p:spPr>
          <a:xfrm>
            <a:off x="50292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the answer lives in nearby cells.</a:t>
            </a:r>
            <a:endParaRPr lang="en-US" sz="1200" dirty="0"/>
          </a:p>
        </p:txBody>
      </p:sp>
      <p:sp>
        <p:nvSpPr>
          <p:cNvPr id="9" name="Text 7"/>
          <p:cNvSpPr/>
          <p:nvPr/>
        </p:nvSpPr>
        <p:spPr>
          <a:xfrm>
            <a:off x="54864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XLOOKUP, IF, SUMIFS</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Cell-anchored logic</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Volatile recalc</a:t>
            </a:r>
            <a:endParaRPr lang="en-US" sz="1200" dirty="0"/>
          </a:p>
        </p:txBody>
      </p:sp>
      <p:sp>
        <p:nvSpPr>
          <p:cNvPr id="10" name="Shape 8"/>
          <p:cNvSpPr/>
          <p:nvPr/>
        </p:nvSpPr>
        <p:spPr>
          <a:xfrm>
            <a:off x="3246120" y="1554480"/>
            <a:ext cx="2697480" cy="3200400"/>
          </a:xfrm>
          <a:prstGeom prst="rect">
            <a:avLst/>
          </a:prstGeom>
          <a:solidFill>
            <a:srgbClr val="FFFFFF"/>
          </a:solidFill>
          <a:ln w="12700">
            <a:solidFill>
              <a:srgbClr val="E2E1DC"/>
            </a:solidFill>
            <a:prstDash val="solid"/>
          </a:ln>
        </p:spPr>
      </p:sp>
      <p:sp>
        <p:nvSpPr>
          <p:cNvPr id="11" name="Shape 9"/>
          <p:cNvSpPr/>
          <p:nvPr/>
        </p:nvSpPr>
        <p:spPr>
          <a:xfrm>
            <a:off x="3246120" y="1554480"/>
            <a:ext cx="2697480" cy="109728"/>
          </a:xfrm>
          <a:prstGeom prst="rect">
            <a:avLst/>
          </a:prstGeom>
          <a:solidFill>
            <a:srgbClr val="2A4365"/>
          </a:solidFill>
          <a:ln w="12700">
            <a:solidFill>
              <a:srgbClr val="2A4365"/>
            </a:solidFill>
            <a:prstDash val="solid"/>
          </a:ln>
        </p:spPr>
      </p:sp>
      <p:sp>
        <p:nvSpPr>
          <p:cNvPr id="12" name="Text 10"/>
          <p:cNvSpPr/>
          <p:nvPr/>
        </p:nvSpPr>
        <p:spPr>
          <a:xfrm>
            <a:off x="338328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Power Query</a:t>
            </a:r>
            <a:endParaRPr lang="en-US" sz="2000" dirty="0"/>
          </a:p>
        </p:txBody>
      </p:sp>
      <p:sp>
        <p:nvSpPr>
          <p:cNvPr id="13" name="Text 11"/>
          <p:cNvSpPr/>
          <p:nvPr/>
        </p:nvSpPr>
        <p:spPr>
          <a:xfrm>
            <a:off x="338328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Repeatable data prep &amp; connections</a:t>
            </a:r>
            <a:endParaRPr lang="en-US" sz="1200" dirty="0"/>
          </a:p>
        </p:txBody>
      </p:sp>
      <p:sp>
        <p:nvSpPr>
          <p:cNvPr id="14" name="Text 12"/>
          <p:cNvSpPr/>
          <p:nvPr/>
        </p:nvSpPr>
        <p:spPr>
          <a:xfrm>
            <a:off x="338328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the same prep runs again next month.</a:t>
            </a:r>
            <a:endParaRPr lang="en-US" sz="1200" dirty="0"/>
          </a:p>
        </p:txBody>
      </p:sp>
      <p:sp>
        <p:nvSpPr>
          <p:cNvPr id="15" name="Text 13"/>
          <p:cNvSpPr/>
          <p:nvPr/>
        </p:nvSpPr>
        <p:spPr>
          <a:xfrm>
            <a:off x="342900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Connect &amp; combine</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Clean &amp; shape</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Refresh on demand</a:t>
            </a:r>
            <a:endParaRPr lang="en-US" sz="1200" dirty="0"/>
          </a:p>
        </p:txBody>
      </p:sp>
      <p:sp>
        <p:nvSpPr>
          <p:cNvPr id="16" name="Shape 14"/>
          <p:cNvSpPr/>
          <p:nvPr/>
        </p:nvSpPr>
        <p:spPr>
          <a:xfrm>
            <a:off x="6126480" y="1554480"/>
            <a:ext cx="2697480" cy="3200400"/>
          </a:xfrm>
          <a:prstGeom prst="rect">
            <a:avLst/>
          </a:prstGeom>
          <a:solidFill>
            <a:srgbClr val="FFFFFF"/>
          </a:solidFill>
          <a:ln w="12700">
            <a:solidFill>
              <a:srgbClr val="E2E1DC"/>
            </a:solidFill>
            <a:prstDash val="solid"/>
          </a:ln>
        </p:spPr>
      </p:sp>
      <p:sp>
        <p:nvSpPr>
          <p:cNvPr id="17" name="Shape 15"/>
          <p:cNvSpPr/>
          <p:nvPr/>
        </p:nvSpPr>
        <p:spPr>
          <a:xfrm>
            <a:off x="6126480" y="1554480"/>
            <a:ext cx="2697480" cy="109728"/>
          </a:xfrm>
          <a:prstGeom prst="rect">
            <a:avLst/>
          </a:prstGeom>
          <a:solidFill>
            <a:srgbClr val="2A4365"/>
          </a:solidFill>
          <a:ln w="12700">
            <a:solidFill>
              <a:srgbClr val="2A4365"/>
            </a:solidFill>
            <a:prstDash val="solid"/>
          </a:ln>
        </p:spPr>
      </p:sp>
      <p:sp>
        <p:nvSpPr>
          <p:cNvPr id="18" name="Text 16"/>
          <p:cNvSpPr/>
          <p:nvPr/>
        </p:nvSpPr>
        <p:spPr>
          <a:xfrm>
            <a:off x="626364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Python in Excel</a:t>
            </a:r>
            <a:endParaRPr lang="en-US" sz="2000" dirty="0"/>
          </a:p>
        </p:txBody>
      </p:sp>
      <p:sp>
        <p:nvSpPr>
          <p:cNvPr id="19" name="Text 17"/>
          <p:cNvSpPr/>
          <p:nvPr/>
        </p:nvSpPr>
        <p:spPr>
          <a:xfrm>
            <a:off x="626364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Analysis, stats, custom viz</a:t>
            </a:r>
            <a:endParaRPr lang="en-US" sz="1200" dirty="0"/>
          </a:p>
        </p:txBody>
      </p:sp>
      <p:sp>
        <p:nvSpPr>
          <p:cNvPr id="20" name="Text 18"/>
          <p:cNvSpPr/>
          <p:nvPr/>
        </p:nvSpPr>
        <p:spPr>
          <a:xfrm>
            <a:off x="626364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you need pandas, seaborn, or statsmodels.</a:t>
            </a:r>
            <a:endParaRPr lang="en-US" sz="1200" dirty="0"/>
          </a:p>
        </p:txBody>
      </p:sp>
      <p:sp>
        <p:nvSpPr>
          <p:cNvPr id="21" name="Text 19"/>
          <p:cNvSpPr/>
          <p:nvPr/>
        </p:nvSpPr>
        <p:spPr>
          <a:xfrm>
            <a:off x="630936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DataFrames &amp; groupby</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Heatmaps, pairplots</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One-line summaries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2</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800" b="1" dirty="0">
                <a:solidFill>
                  <a:srgbClr val="FFFFFF"/>
                </a:solidFill>
                <a:latin typeface="Arial Black" pitchFamily="34" charset="0"/>
                <a:ea typeface="Arial Black" pitchFamily="34" charset="-122"/>
                <a:cs typeface="Arial Black" pitchFamily="34" charset="-120"/>
              </a:rPr>
              <a:t>Hello, world — in a cell.</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How a PY() cell works · output modes · the calc-order gotcha.</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  •  open ch_01.xlsx</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Three ways to insert a PY() cell</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Use whichever feels least like work.</a:t>
            </a:r>
            <a:endParaRPr lang="en-US" sz="1500" dirty="0"/>
          </a:p>
        </p:txBody>
      </p:sp>
      <p:sp>
        <p:nvSpPr>
          <p:cNvPr id="4" name="Shape 2"/>
          <p:cNvSpPr/>
          <p:nvPr/>
        </p:nvSpPr>
        <p:spPr>
          <a:xfrm>
            <a:off x="365760" y="1554480"/>
            <a:ext cx="2697480" cy="3017520"/>
          </a:xfrm>
          <a:prstGeom prst="rect">
            <a:avLst/>
          </a:prstGeom>
          <a:solidFill>
            <a:srgbClr val="FFFFFF"/>
          </a:solidFill>
          <a:ln w="12700">
            <a:solidFill>
              <a:srgbClr val="E2E1DC"/>
            </a:solidFill>
            <a:prstDash val="solid"/>
          </a:ln>
        </p:spPr>
      </p:sp>
      <p:sp>
        <p:nvSpPr>
          <p:cNvPr id="5" name="Text 3"/>
          <p:cNvSpPr/>
          <p:nvPr/>
        </p:nvSpPr>
        <p:spPr>
          <a:xfrm>
            <a:off x="36576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1</a:t>
            </a:r>
            <a:endParaRPr lang="en-US" sz="6400" dirty="0"/>
          </a:p>
        </p:txBody>
      </p:sp>
      <p:sp>
        <p:nvSpPr>
          <p:cNvPr id="6" name="Text 4"/>
          <p:cNvSpPr/>
          <p:nvPr/>
        </p:nvSpPr>
        <p:spPr>
          <a:xfrm>
            <a:off x="50292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Ribbon</a:t>
            </a:r>
            <a:endParaRPr lang="en-US" sz="1800" dirty="0"/>
          </a:p>
        </p:txBody>
      </p:sp>
      <p:sp>
        <p:nvSpPr>
          <p:cNvPr id="7" name="Text 5"/>
          <p:cNvSpPr/>
          <p:nvPr/>
        </p:nvSpPr>
        <p:spPr>
          <a:xfrm>
            <a:off x="50292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Formulas tab → Insert Python.</a:t>
            </a:r>
            <a:endParaRPr lang="en-US" sz="1600" dirty="0"/>
          </a:p>
        </p:txBody>
      </p:sp>
      <p:sp>
        <p:nvSpPr>
          <p:cNvPr id="8" name="Text 6"/>
          <p:cNvSpPr/>
          <p:nvPr/>
        </p:nvSpPr>
        <p:spPr>
          <a:xfrm>
            <a:off x="50292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The discoverable one.</a:t>
            </a:r>
            <a:endParaRPr lang="en-US" sz="1200" dirty="0"/>
          </a:p>
        </p:txBody>
      </p:sp>
      <p:sp>
        <p:nvSpPr>
          <p:cNvPr id="9" name="Shape 7"/>
          <p:cNvSpPr/>
          <p:nvPr/>
        </p:nvSpPr>
        <p:spPr>
          <a:xfrm>
            <a:off x="3246120" y="1554480"/>
            <a:ext cx="2697480" cy="3017520"/>
          </a:xfrm>
          <a:prstGeom prst="rect">
            <a:avLst/>
          </a:prstGeom>
          <a:solidFill>
            <a:srgbClr val="FFFFFF"/>
          </a:solidFill>
          <a:ln w="12700">
            <a:solidFill>
              <a:srgbClr val="E2E1DC"/>
            </a:solidFill>
            <a:prstDash val="solid"/>
          </a:ln>
        </p:spPr>
      </p:sp>
      <p:sp>
        <p:nvSpPr>
          <p:cNvPr id="10" name="Text 8"/>
          <p:cNvSpPr/>
          <p:nvPr/>
        </p:nvSpPr>
        <p:spPr>
          <a:xfrm>
            <a:off x="324612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2</a:t>
            </a:r>
            <a:endParaRPr lang="en-US" sz="6400" dirty="0"/>
          </a:p>
        </p:txBody>
      </p:sp>
      <p:sp>
        <p:nvSpPr>
          <p:cNvPr id="11" name="Text 9"/>
          <p:cNvSpPr/>
          <p:nvPr/>
        </p:nvSpPr>
        <p:spPr>
          <a:xfrm>
            <a:off x="338328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Type it</a:t>
            </a:r>
            <a:endParaRPr lang="en-US" sz="1800" dirty="0"/>
          </a:p>
        </p:txBody>
      </p:sp>
      <p:sp>
        <p:nvSpPr>
          <p:cNvPr id="12" name="Text 10"/>
          <p:cNvSpPr/>
          <p:nvPr/>
        </p:nvSpPr>
        <p:spPr>
          <a:xfrm>
            <a:off x="338328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=PY(  in any cell.</a:t>
            </a:r>
            <a:endParaRPr lang="en-US" sz="1600" dirty="0"/>
          </a:p>
        </p:txBody>
      </p:sp>
      <p:sp>
        <p:nvSpPr>
          <p:cNvPr id="13" name="Text 11"/>
          <p:cNvSpPr/>
          <p:nvPr/>
        </p:nvSpPr>
        <p:spPr>
          <a:xfrm>
            <a:off x="338328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Once you trust it.</a:t>
            </a:r>
            <a:endParaRPr lang="en-US" sz="1200" dirty="0"/>
          </a:p>
        </p:txBody>
      </p:sp>
      <p:sp>
        <p:nvSpPr>
          <p:cNvPr id="14" name="Shape 12"/>
          <p:cNvSpPr/>
          <p:nvPr/>
        </p:nvSpPr>
        <p:spPr>
          <a:xfrm>
            <a:off x="6126480" y="1554480"/>
            <a:ext cx="2697480" cy="3017520"/>
          </a:xfrm>
          <a:prstGeom prst="rect">
            <a:avLst/>
          </a:prstGeom>
          <a:solidFill>
            <a:srgbClr val="FFFFFF"/>
          </a:solidFill>
          <a:ln w="12700">
            <a:solidFill>
              <a:srgbClr val="E2E1DC"/>
            </a:solidFill>
            <a:prstDash val="solid"/>
          </a:ln>
        </p:spPr>
      </p:sp>
      <p:sp>
        <p:nvSpPr>
          <p:cNvPr id="15" name="Text 13"/>
          <p:cNvSpPr/>
          <p:nvPr/>
        </p:nvSpPr>
        <p:spPr>
          <a:xfrm>
            <a:off x="612648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3</a:t>
            </a:r>
            <a:endParaRPr lang="en-US" sz="6400" dirty="0"/>
          </a:p>
        </p:txBody>
      </p:sp>
      <p:sp>
        <p:nvSpPr>
          <p:cNvPr id="16" name="Text 14"/>
          <p:cNvSpPr/>
          <p:nvPr/>
        </p:nvSpPr>
        <p:spPr>
          <a:xfrm>
            <a:off x="626364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Keyboard</a:t>
            </a:r>
            <a:endParaRPr lang="en-US" sz="1800" dirty="0"/>
          </a:p>
        </p:txBody>
      </p:sp>
      <p:sp>
        <p:nvSpPr>
          <p:cNvPr id="17" name="Text 15"/>
          <p:cNvSpPr/>
          <p:nvPr/>
        </p:nvSpPr>
        <p:spPr>
          <a:xfrm>
            <a:off x="626364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Ctrl + Alt + Shift + P</a:t>
            </a:r>
            <a:endParaRPr lang="en-US" sz="1600" dirty="0"/>
          </a:p>
        </p:txBody>
      </p:sp>
      <p:sp>
        <p:nvSpPr>
          <p:cNvPr id="18" name="Text 16"/>
          <p:cNvSpPr/>
          <p:nvPr/>
        </p:nvSpPr>
        <p:spPr>
          <a:xfrm>
            <a:off x="626364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Once you're showing off.</a:t>
            </a:r>
            <a:endParaRPr lang="en-US" sz="1200" dirty="0"/>
          </a:p>
        </p:txBody>
      </p:sp>
      <p:sp>
        <p:nvSpPr>
          <p:cNvPr id="19" name="Text 17"/>
          <p:cNvSpPr/>
          <p:nvPr/>
        </p:nvSpPr>
        <p:spPr>
          <a:xfrm>
            <a:off x="457200" y="4663440"/>
            <a:ext cx="8229600" cy="32004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Look for the green PY badge in the cell + formula bar — that's your confirmation.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Two ways to see your output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Toggle: Ctrl + Alt + Shift + M  (or click the icon left of the formula bar)</a:t>
            </a:r>
            <a:endParaRPr lang="en-US" sz="1400" dirty="0"/>
          </a:p>
        </p:txBody>
      </p:sp>
      <p:sp>
        <p:nvSpPr>
          <p:cNvPr id="4" name="Shape 2"/>
          <p:cNvSpPr/>
          <p:nvPr/>
        </p:nvSpPr>
        <p:spPr>
          <a:xfrm>
            <a:off x="457200" y="1554480"/>
            <a:ext cx="4023360" cy="3200400"/>
          </a:xfrm>
          <a:prstGeom prst="rect">
            <a:avLst/>
          </a:prstGeom>
          <a:solidFill>
            <a:srgbClr val="FFFFFF"/>
          </a:solidFill>
          <a:ln w="12700">
            <a:solidFill>
              <a:srgbClr val="E2E1DC"/>
            </a:solidFill>
            <a:prstDash val="solid"/>
          </a:ln>
        </p:spPr>
      </p:sp>
      <p:sp>
        <p:nvSpPr>
          <p:cNvPr id="5" name="Shape 3"/>
          <p:cNvSpPr/>
          <p:nvPr/>
        </p:nvSpPr>
        <p:spPr>
          <a:xfrm>
            <a:off x="457200" y="1554480"/>
            <a:ext cx="4023360" cy="411480"/>
          </a:xfrm>
          <a:prstGeom prst="rect">
            <a:avLst/>
          </a:prstGeom>
          <a:solidFill>
            <a:srgbClr val="2A4365"/>
          </a:solidFill>
          <a:ln w="12700">
            <a:solidFill>
              <a:srgbClr val="2A4365"/>
            </a:solidFill>
            <a:prstDash val="solid"/>
          </a:ln>
        </p:spPr>
      </p:sp>
      <p:sp>
        <p:nvSpPr>
          <p:cNvPr id="6" name="Text 4"/>
          <p:cNvSpPr/>
          <p:nvPr/>
        </p:nvSpPr>
        <p:spPr>
          <a:xfrm>
            <a:off x="594360" y="1572768"/>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Python Object  (default)</a:t>
            </a:r>
            <a:endParaRPr lang="en-US" sz="1600" dirty="0"/>
          </a:p>
        </p:txBody>
      </p:sp>
      <p:sp>
        <p:nvSpPr>
          <p:cNvPr id="7" name="Text 5"/>
          <p:cNvSpPr/>
          <p:nvPr/>
        </p:nvSpPr>
        <p:spPr>
          <a:xfrm>
            <a:off x="64008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Shows a card icon, dimensions, preview</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Stays in one cell — no spill</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Best mid-analysis: chain operations on it</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Acts like a linked data type</a:t>
            </a:r>
            <a:endParaRPr lang="en-US" sz="1600" dirty="0"/>
          </a:p>
        </p:txBody>
      </p:sp>
      <p:sp>
        <p:nvSpPr>
          <p:cNvPr id="8" name="Shape 6"/>
          <p:cNvSpPr/>
          <p:nvPr/>
        </p:nvSpPr>
        <p:spPr>
          <a:xfrm>
            <a:off x="4663440" y="1554480"/>
            <a:ext cx="4023360" cy="3200400"/>
          </a:xfrm>
          <a:prstGeom prst="rect">
            <a:avLst/>
          </a:prstGeom>
          <a:solidFill>
            <a:srgbClr val="FFFFFF"/>
          </a:solidFill>
          <a:ln w="12700">
            <a:solidFill>
              <a:srgbClr val="E2E1DC"/>
            </a:solidFill>
            <a:prstDash val="solid"/>
          </a:ln>
        </p:spPr>
      </p:sp>
      <p:sp>
        <p:nvSpPr>
          <p:cNvPr id="9" name="Shape 7"/>
          <p:cNvSpPr/>
          <p:nvPr/>
        </p:nvSpPr>
        <p:spPr>
          <a:xfrm>
            <a:off x="4663440" y="1554480"/>
            <a:ext cx="4023360" cy="411480"/>
          </a:xfrm>
          <a:prstGeom prst="rect">
            <a:avLst/>
          </a:prstGeom>
          <a:solidFill>
            <a:srgbClr val="1A202C"/>
          </a:solidFill>
          <a:ln w="12700">
            <a:solidFill>
              <a:srgbClr val="1A202C"/>
            </a:solidFill>
            <a:prstDash val="solid"/>
          </a:ln>
        </p:spPr>
      </p:sp>
      <p:sp>
        <p:nvSpPr>
          <p:cNvPr id="10" name="Text 8"/>
          <p:cNvSpPr/>
          <p:nvPr/>
        </p:nvSpPr>
        <p:spPr>
          <a:xfrm>
            <a:off x="4800600" y="1572768"/>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Excel Value</a:t>
            </a:r>
            <a:endParaRPr lang="en-US" sz="1600" dirty="0"/>
          </a:p>
        </p:txBody>
      </p:sp>
      <p:sp>
        <p:nvSpPr>
          <p:cNvPr id="11" name="Text 9"/>
          <p:cNvSpPr/>
          <p:nvPr/>
        </p:nvSpPr>
        <p:spPr>
          <a:xfrm>
            <a:off x="484632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Spills into the grid as a dynamic array</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Format with normal Excel tools</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Best at the end: hand-off to formulas / charts</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Reference it like any spilled range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2A4365"/>
                </a:solidFill>
                <a:latin typeface="Arial Black" pitchFamily="34" charset="0"/>
                <a:ea typeface="Arial Black" pitchFamily="34" charset="-122"/>
                <a:cs typeface="Arial Black" pitchFamily="34" charset="-120"/>
              </a:rPr>
              <a:t>The one gotcha that will trip you up</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1A202C"/>
                </a:solidFill>
                <a:latin typeface="Arial" pitchFamily="34" charset="0"/>
                <a:ea typeface="Arial" pitchFamily="34" charset="-122"/>
                <a:cs typeface="Arial" pitchFamily="34" charset="-120"/>
              </a:rPr>
              <a:t>Python in Excel runs cells left-to-right, top-to-bottom — like reading a page.</a:t>
            </a:r>
            <a:endParaRPr lang="en-US" sz="1500" dirty="0"/>
          </a:p>
        </p:txBody>
      </p:sp>
      <p:pic>
        <p:nvPicPr>
          <p:cNvPr id="4" name="Image 0" descr="/sessions/festive-gallant-bohr/mnt/outputs/images/calc-order.png"/>
          <p:cNvPicPr>
            <a:picLocks noChangeAspect="1"/>
          </p:cNvPicPr>
          <p:nvPr/>
        </p:nvPicPr>
        <p:blipFill>
          <a:blip r:embed="rId1"/>
          <a:stretch>
            <a:fillRect/>
          </a:stretch>
        </p:blipFill>
        <p:spPr>
          <a:xfrm>
            <a:off x="457200" y="1463040"/>
            <a:ext cx="5029200" cy="3108960"/>
          </a:xfrm>
          <a:prstGeom prst="rect">
            <a:avLst/>
          </a:prstGeom>
        </p:spPr>
      </p:pic>
      <p:sp>
        <p:nvSpPr>
          <p:cNvPr id="5" name="Text 2"/>
          <p:cNvSpPr/>
          <p:nvPr/>
        </p:nvSpPr>
        <p:spPr>
          <a:xfrm>
            <a:off x="5669280" y="1554480"/>
            <a:ext cx="3108960" cy="365760"/>
          </a:xfrm>
          <a:prstGeom prst="rect">
            <a:avLst/>
          </a:prstGeom>
          <a:noFill/>
          <a:ln/>
        </p:spPr>
        <p:txBody>
          <a:bodyPr wrap="square" lIns="0" tIns="0" rIns="0" bIns="0" rtlCol="0" anchor="ctr"/>
          <a:lstStyle/>
          <a:p>
            <a:pPr indent="0" marL="0">
              <a:buNone/>
            </a:pPr>
            <a:r>
              <a:rPr lang="en-US" sz="1300" b="1" dirty="0">
                <a:solidFill>
                  <a:srgbClr val="1A202C"/>
                </a:solidFill>
                <a:latin typeface="Arial" pitchFamily="34" charset="0"/>
                <a:ea typeface="Arial" pitchFamily="34" charset="-122"/>
                <a:cs typeface="Arial" pitchFamily="34" charset="-120"/>
              </a:rPr>
              <a:t>If you define my_object in B2, you can reference it in:</a:t>
            </a:r>
            <a:endParaRPr lang="en-US" sz="1300" dirty="0"/>
          </a:p>
        </p:txBody>
      </p:sp>
      <p:sp>
        <p:nvSpPr>
          <p:cNvPr id="6" name="Text 3"/>
          <p:cNvSpPr/>
          <p:nvPr/>
        </p:nvSpPr>
        <p:spPr>
          <a:xfrm>
            <a:off x="5669280" y="1965960"/>
            <a:ext cx="31089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any cell to the right of B2 in row 2</a:t>
            </a:r>
            <a:endParaRPr lang="en-US" sz="1300" dirty="0"/>
          </a:p>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any cell in rows 3, 4, 5, …</a:t>
            </a:r>
            <a:endParaRPr lang="en-US" sz="1300" dirty="0"/>
          </a:p>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NOT in row 1 — A1 throws #PYTHON</a:t>
            </a:r>
            <a:endParaRPr lang="en-US" sz="1300" dirty="0"/>
          </a:p>
        </p:txBody>
      </p:sp>
      <p:sp>
        <p:nvSpPr>
          <p:cNvPr id="7" name="Text 4"/>
          <p:cNvSpPr/>
          <p:nvPr/>
        </p:nvSpPr>
        <p:spPr>
          <a:xfrm>
            <a:off x="5669280" y="3383280"/>
            <a:ext cx="3108960" cy="274320"/>
          </a:xfrm>
          <a:prstGeom prst="rect">
            <a:avLst/>
          </a:prstGeom>
          <a:noFill/>
          <a:ln/>
        </p:spPr>
        <p:txBody>
          <a:bodyPr wrap="square" lIns="0" tIns="0" rIns="0" bIns="0" rtlCol="0" anchor="ctr"/>
          <a:lstStyle/>
          <a:p>
            <a:pPr indent="0" marL="0">
              <a:buNone/>
            </a:pPr>
            <a:r>
              <a:rPr lang="en-US" sz="1300" b="1" dirty="0">
                <a:solidFill>
                  <a:srgbClr val="1A202C"/>
                </a:solidFill>
                <a:latin typeface="Arial" pitchFamily="34" charset="0"/>
                <a:ea typeface="Arial" pitchFamily="34" charset="-122"/>
                <a:cs typeface="Arial" pitchFamily="34" charset="-120"/>
              </a:rPr>
              <a:t>Recovery move:</a:t>
            </a:r>
            <a:endParaRPr lang="en-US" sz="1300" dirty="0"/>
          </a:p>
        </p:txBody>
      </p:sp>
      <p:sp>
        <p:nvSpPr>
          <p:cNvPr id="8" name="Text 5"/>
          <p:cNvSpPr/>
          <p:nvPr/>
        </p:nvSpPr>
        <p:spPr>
          <a:xfrm>
            <a:off x="5669280" y="3657600"/>
            <a:ext cx="3108960" cy="9144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Put your imports and variables in the top-left. Build down and right.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3</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Exploring a real dataset with pandas</a:t>
            </a:r>
            <a:endParaRPr lang="en-US" sz="44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200 orders. Six methods. Zero pivot tables.</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25 minutes  •  switch to ch_02.xlsx</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2800" b="1" dirty="0">
                <a:solidFill>
                  <a:srgbClr val="1A202C"/>
                </a:solidFill>
                <a:latin typeface="Arial Black" pitchFamily="34" charset="0"/>
                <a:ea typeface="Arial Black" pitchFamily="34" charset="-122"/>
                <a:cs typeface="Arial Black" pitchFamily="34" charset="-120"/>
              </a:rPr>
              <a:t>Step 1: Get the data into a DataFrame</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Convert the range to an Excel Table first (Insert → Table). Name it.</a:t>
            </a:r>
            <a:endParaRPr lang="en-US" sz="1400" dirty="0"/>
          </a:p>
        </p:txBody>
      </p:sp>
      <p:sp>
        <p:nvSpPr>
          <p:cNvPr id="4" name="Shape 2"/>
          <p:cNvSpPr/>
          <p:nvPr/>
        </p:nvSpPr>
        <p:spPr>
          <a:xfrm>
            <a:off x="457200" y="1554480"/>
            <a:ext cx="8229600" cy="1371600"/>
          </a:xfrm>
          <a:prstGeom prst="rect">
            <a:avLst/>
          </a:prstGeom>
          <a:solidFill>
            <a:srgbClr val="FFFFFF"/>
          </a:solidFill>
          <a:ln w="12700">
            <a:solidFill>
              <a:srgbClr val="E2E1DC"/>
            </a:solidFill>
            <a:prstDash val="solid"/>
          </a:ln>
        </p:spPr>
      </p:sp>
      <p:sp>
        <p:nvSpPr>
          <p:cNvPr id="5" name="Shape 3"/>
          <p:cNvSpPr/>
          <p:nvPr/>
        </p:nvSpPr>
        <p:spPr>
          <a:xfrm>
            <a:off x="457200" y="1554480"/>
            <a:ext cx="137160" cy="1371600"/>
          </a:xfrm>
          <a:prstGeom prst="rect">
            <a:avLst/>
          </a:prstGeom>
          <a:solidFill>
            <a:srgbClr val="2A4365"/>
          </a:solidFill>
          <a:ln w="12700">
            <a:solidFill>
              <a:srgbClr val="2A4365"/>
            </a:solidFill>
            <a:prstDash val="solid"/>
          </a:ln>
        </p:spPr>
      </p:sp>
      <p:sp>
        <p:nvSpPr>
          <p:cNvPr id="6" name="Text 4"/>
          <p:cNvSpPr/>
          <p:nvPr/>
        </p:nvSpPr>
        <p:spPr>
          <a:xfrm>
            <a:off x="777240" y="1691640"/>
            <a:ext cx="7772400" cy="118872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sales_df = xl("sales[#All]", headers=True)</a:t>
            </a: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sales_df</a:t>
            </a:r>
            <a:endParaRPr lang="en-US" sz="1600" dirty="0"/>
          </a:p>
        </p:txBody>
      </p:sp>
      <p:sp>
        <p:nvSpPr>
          <p:cNvPr id="7" name="Text 5"/>
          <p:cNvSpPr/>
          <p:nvPr/>
        </p:nvSpPr>
        <p:spPr>
          <a:xfrm>
            <a:off x="457200" y="3108960"/>
            <a:ext cx="8229600" cy="36576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Two things to notice:</a:t>
            </a:r>
            <a:endParaRPr lang="en-US" sz="1600" dirty="0"/>
          </a:p>
        </p:txBody>
      </p:sp>
      <p:sp>
        <p:nvSpPr>
          <p:cNvPr id="8" name="Text 6"/>
          <p:cNvSpPr/>
          <p:nvPr/>
        </p:nvSpPr>
        <p:spPr>
          <a:xfrm>
            <a:off x="457200" y="3474720"/>
            <a:ext cx="8229600" cy="137160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xl() is the bridge from a worksheet range/table into Python.</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headers=True is auto-added when you point it at a table — keep it.</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Returning the DataFrame on its own line shows the data card preview.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Profile in 30 seconds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Four moves before you do anything serious.</a:t>
            </a:r>
            <a:endParaRPr lang="en-US" sz="1500" dirty="0"/>
          </a:p>
        </p:txBody>
      </p:sp>
      <p:sp>
        <p:nvSpPr>
          <p:cNvPr id="4" name="Shape 2"/>
          <p:cNvSpPr/>
          <p:nvPr/>
        </p:nvSpPr>
        <p:spPr>
          <a:xfrm>
            <a:off x="457200" y="1645920"/>
            <a:ext cx="3291840" cy="502920"/>
          </a:xfrm>
          <a:prstGeom prst="rect">
            <a:avLst/>
          </a:prstGeom>
          <a:solidFill>
            <a:srgbClr val="FFFFFF"/>
          </a:solidFill>
          <a:ln w="12700">
            <a:solidFill>
              <a:srgbClr val="E2E1DC"/>
            </a:solidFill>
            <a:prstDash val="solid"/>
          </a:ln>
        </p:spPr>
      </p:sp>
      <p:sp>
        <p:nvSpPr>
          <p:cNvPr id="5" name="Shape 3"/>
          <p:cNvSpPr/>
          <p:nvPr/>
        </p:nvSpPr>
        <p:spPr>
          <a:xfrm>
            <a:off x="457200" y="1645920"/>
            <a:ext cx="91440" cy="502920"/>
          </a:xfrm>
          <a:prstGeom prst="rect">
            <a:avLst/>
          </a:prstGeom>
          <a:solidFill>
            <a:srgbClr val="2A4365"/>
          </a:solidFill>
          <a:ln w="12700">
            <a:solidFill>
              <a:srgbClr val="2A4365"/>
            </a:solidFill>
            <a:prstDash val="solid"/>
          </a:ln>
        </p:spPr>
      </p:sp>
      <p:sp>
        <p:nvSpPr>
          <p:cNvPr id="6" name="Text 4"/>
          <p:cNvSpPr/>
          <p:nvPr/>
        </p:nvSpPr>
        <p:spPr>
          <a:xfrm>
            <a:off x="640080" y="1645920"/>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sales_df.head()</a:t>
            </a:r>
            <a:endParaRPr lang="en-US" sz="1500" dirty="0"/>
          </a:p>
        </p:txBody>
      </p:sp>
      <p:sp>
        <p:nvSpPr>
          <p:cNvPr id="7" name="Text 5"/>
          <p:cNvSpPr/>
          <p:nvPr/>
        </p:nvSpPr>
        <p:spPr>
          <a:xfrm>
            <a:off x="3931920" y="1645920"/>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First 5 rows. Sanity check that it loaded.</a:t>
            </a:r>
            <a:endParaRPr lang="en-US" sz="1400" dirty="0"/>
          </a:p>
        </p:txBody>
      </p:sp>
      <p:sp>
        <p:nvSpPr>
          <p:cNvPr id="8" name="Shape 6"/>
          <p:cNvSpPr/>
          <p:nvPr/>
        </p:nvSpPr>
        <p:spPr>
          <a:xfrm>
            <a:off x="457200" y="2359152"/>
            <a:ext cx="3291840" cy="502920"/>
          </a:xfrm>
          <a:prstGeom prst="rect">
            <a:avLst/>
          </a:prstGeom>
          <a:solidFill>
            <a:srgbClr val="FFFFFF"/>
          </a:solidFill>
          <a:ln w="12700">
            <a:solidFill>
              <a:srgbClr val="E2E1DC"/>
            </a:solidFill>
            <a:prstDash val="solid"/>
          </a:ln>
        </p:spPr>
      </p:sp>
      <p:sp>
        <p:nvSpPr>
          <p:cNvPr id="9" name="Shape 7"/>
          <p:cNvSpPr/>
          <p:nvPr/>
        </p:nvSpPr>
        <p:spPr>
          <a:xfrm>
            <a:off x="457200" y="2359152"/>
            <a:ext cx="91440" cy="502920"/>
          </a:xfrm>
          <a:prstGeom prst="rect">
            <a:avLst/>
          </a:prstGeom>
          <a:solidFill>
            <a:srgbClr val="2A4365"/>
          </a:solidFill>
          <a:ln w="12700">
            <a:solidFill>
              <a:srgbClr val="2A4365"/>
            </a:solidFill>
            <a:prstDash val="solid"/>
          </a:ln>
        </p:spPr>
      </p:sp>
      <p:sp>
        <p:nvSpPr>
          <p:cNvPr id="10" name="Text 8"/>
          <p:cNvSpPr/>
          <p:nvPr/>
        </p:nvSpPr>
        <p:spPr>
          <a:xfrm>
            <a:off x="640080" y="2359152"/>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sales_df.tail()</a:t>
            </a:r>
            <a:endParaRPr lang="en-US" sz="1500" dirty="0"/>
          </a:p>
        </p:txBody>
      </p:sp>
      <p:sp>
        <p:nvSpPr>
          <p:cNvPr id="11" name="Text 9"/>
          <p:cNvSpPr/>
          <p:nvPr/>
        </p:nvSpPr>
        <p:spPr>
          <a:xfrm>
            <a:off x="3931920" y="2359152"/>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Last 5. Sanity check the bottom (often messier).</a:t>
            </a:r>
            <a:endParaRPr lang="en-US" sz="1400" dirty="0"/>
          </a:p>
        </p:txBody>
      </p:sp>
      <p:sp>
        <p:nvSpPr>
          <p:cNvPr id="12" name="Shape 10"/>
          <p:cNvSpPr/>
          <p:nvPr/>
        </p:nvSpPr>
        <p:spPr>
          <a:xfrm>
            <a:off x="457200" y="3072384"/>
            <a:ext cx="3291840" cy="502920"/>
          </a:xfrm>
          <a:prstGeom prst="rect">
            <a:avLst/>
          </a:prstGeom>
          <a:solidFill>
            <a:srgbClr val="FFFFFF"/>
          </a:solidFill>
          <a:ln w="12700">
            <a:solidFill>
              <a:srgbClr val="E2E1DC"/>
            </a:solidFill>
            <a:prstDash val="solid"/>
          </a:ln>
        </p:spPr>
      </p:sp>
      <p:sp>
        <p:nvSpPr>
          <p:cNvPr id="13" name="Shape 11"/>
          <p:cNvSpPr/>
          <p:nvPr/>
        </p:nvSpPr>
        <p:spPr>
          <a:xfrm>
            <a:off x="457200" y="3072384"/>
            <a:ext cx="91440" cy="502920"/>
          </a:xfrm>
          <a:prstGeom prst="rect">
            <a:avLst/>
          </a:prstGeom>
          <a:solidFill>
            <a:srgbClr val="2A4365"/>
          </a:solidFill>
          <a:ln w="12700">
            <a:solidFill>
              <a:srgbClr val="2A4365"/>
            </a:solidFill>
            <a:prstDash val="solid"/>
          </a:ln>
        </p:spPr>
      </p:sp>
      <p:sp>
        <p:nvSpPr>
          <p:cNvPr id="14" name="Text 12"/>
          <p:cNvSpPr/>
          <p:nvPr/>
        </p:nvSpPr>
        <p:spPr>
          <a:xfrm>
            <a:off x="640080" y="3072384"/>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sales_df.sample(5)</a:t>
            </a:r>
            <a:endParaRPr lang="en-US" sz="1500" dirty="0"/>
          </a:p>
        </p:txBody>
      </p:sp>
      <p:sp>
        <p:nvSpPr>
          <p:cNvPr id="15" name="Text 13"/>
          <p:cNvSpPr/>
          <p:nvPr/>
        </p:nvSpPr>
        <p:spPr>
          <a:xfrm>
            <a:off x="3931920" y="3072384"/>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Random 5. Catches issues a head/tail can hide.</a:t>
            </a:r>
            <a:endParaRPr lang="en-US" sz="1400" dirty="0"/>
          </a:p>
        </p:txBody>
      </p:sp>
      <p:sp>
        <p:nvSpPr>
          <p:cNvPr id="16" name="Shape 14"/>
          <p:cNvSpPr/>
          <p:nvPr/>
        </p:nvSpPr>
        <p:spPr>
          <a:xfrm>
            <a:off x="457200" y="3785616"/>
            <a:ext cx="3291840" cy="502920"/>
          </a:xfrm>
          <a:prstGeom prst="rect">
            <a:avLst/>
          </a:prstGeom>
          <a:solidFill>
            <a:srgbClr val="FFFFFF"/>
          </a:solidFill>
          <a:ln w="12700">
            <a:solidFill>
              <a:srgbClr val="E2E1DC"/>
            </a:solidFill>
            <a:prstDash val="solid"/>
          </a:ln>
        </p:spPr>
      </p:sp>
      <p:sp>
        <p:nvSpPr>
          <p:cNvPr id="17" name="Shape 15"/>
          <p:cNvSpPr/>
          <p:nvPr/>
        </p:nvSpPr>
        <p:spPr>
          <a:xfrm>
            <a:off x="457200" y="3785616"/>
            <a:ext cx="91440" cy="502920"/>
          </a:xfrm>
          <a:prstGeom prst="rect">
            <a:avLst/>
          </a:prstGeom>
          <a:solidFill>
            <a:srgbClr val="2A4365"/>
          </a:solidFill>
          <a:ln w="12700">
            <a:solidFill>
              <a:srgbClr val="2A4365"/>
            </a:solidFill>
            <a:prstDash val="solid"/>
          </a:ln>
        </p:spPr>
      </p:sp>
      <p:sp>
        <p:nvSpPr>
          <p:cNvPr id="18" name="Text 16"/>
          <p:cNvSpPr/>
          <p:nvPr/>
        </p:nvSpPr>
        <p:spPr>
          <a:xfrm>
            <a:off x="640080" y="3785616"/>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sales_df.shape</a:t>
            </a:r>
            <a:endParaRPr lang="en-US" sz="1500" dirty="0"/>
          </a:p>
        </p:txBody>
      </p:sp>
      <p:sp>
        <p:nvSpPr>
          <p:cNvPr id="19" name="Text 17"/>
          <p:cNvSpPr/>
          <p:nvPr/>
        </p:nvSpPr>
        <p:spPr>
          <a:xfrm>
            <a:off x="3931920" y="3785616"/>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Rows × columns. Mine for today: (200, 7).</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Two more profiling wins</a:t>
            </a:r>
            <a:endParaRPr lang="en-US" sz="3000" dirty="0"/>
          </a:p>
        </p:txBody>
      </p:sp>
      <p:sp>
        <p:nvSpPr>
          <p:cNvPr id="3" name="Shape 1"/>
          <p:cNvSpPr/>
          <p:nvPr/>
        </p:nvSpPr>
        <p:spPr>
          <a:xfrm>
            <a:off x="457200" y="1188720"/>
            <a:ext cx="4023360" cy="3474720"/>
          </a:xfrm>
          <a:prstGeom prst="rect">
            <a:avLst/>
          </a:prstGeom>
          <a:solidFill>
            <a:srgbClr val="FFFFFF"/>
          </a:solidFill>
          <a:ln w="12700">
            <a:solidFill>
              <a:srgbClr val="E2E1DC"/>
            </a:solidFill>
            <a:prstDash val="solid"/>
          </a:ln>
        </p:spPr>
      </p:sp>
      <p:sp>
        <p:nvSpPr>
          <p:cNvPr id="4" name="Shape 2"/>
          <p:cNvSpPr/>
          <p:nvPr/>
        </p:nvSpPr>
        <p:spPr>
          <a:xfrm>
            <a:off x="457200" y="1188720"/>
            <a:ext cx="4023360" cy="411480"/>
          </a:xfrm>
          <a:prstGeom prst="rect">
            <a:avLst/>
          </a:prstGeom>
          <a:solidFill>
            <a:srgbClr val="2A4365"/>
          </a:solidFill>
          <a:ln w="12700">
            <a:solidFill>
              <a:srgbClr val="2A4365"/>
            </a:solidFill>
            <a:prstDash val="solid"/>
          </a:ln>
        </p:spPr>
      </p:sp>
      <p:sp>
        <p:nvSpPr>
          <p:cNvPr id="5" name="Text 3"/>
          <p:cNvSpPr/>
          <p:nvPr/>
        </p:nvSpPr>
        <p:spPr>
          <a:xfrm>
            <a:off x="594360" y="1216152"/>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describe()</a:t>
            </a:r>
            <a:endParaRPr lang="en-US" sz="1600" dirty="0"/>
          </a:p>
        </p:txBody>
      </p:sp>
      <p:sp>
        <p:nvSpPr>
          <p:cNvPr id="6" name="Text 4"/>
          <p:cNvSpPr/>
          <p:nvPr/>
        </p:nvSpPr>
        <p:spPr>
          <a:xfrm>
            <a:off x="640080" y="1737360"/>
            <a:ext cx="374904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Summary stats in one shot</a:t>
            </a:r>
            <a:endParaRPr lang="en-US" sz="1300" dirty="0"/>
          </a:p>
        </p:txBody>
      </p:sp>
      <p:sp>
        <p:nvSpPr>
          <p:cNvPr id="7" name="Text 5"/>
          <p:cNvSpPr/>
          <p:nvPr/>
        </p:nvSpPr>
        <p:spPr>
          <a:xfrm>
            <a:off x="640080" y="2148840"/>
            <a:ext cx="3749040" cy="2103120"/>
          </a:xfrm>
          <a:prstGeom prst="rect">
            <a:avLst/>
          </a:prstGeom>
          <a:noFill/>
          <a:ln/>
        </p:spPr>
        <p:txBody>
          <a:bodyPr wrap="square" lIns="0" tIns="0" rIns="0" bIns="0" rtlCol="0" anchor="ctr"/>
          <a:lstStyle/>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percentiles=[.1, .5, .9])</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exclude='number')</a:t>
            </a:r>
            <a:endParaRPr lang="en-US" sz="1300" dirty="0"/>
          </a:p>
        </p:txBody>
      </p:sp>
      <p:sp>
        <p:nvSpPr>
          <p:cNvPr id="8" name="Text 6"/>
          <p:cNvSpPr/>
          <p:nvPr/>
        </p:nvSpPr>
        <p:spPr>
          <a:xfrm>
            <a:off x="640080" y="4343400"/>
            <a:ext cx="3749040" cy="292608"/>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Numeric by default. exclude='number' for text columns.</a:t>
            </a:r>
            <a:endParaRPr lang="en-US" sz="1100" dirty="0"/>
          </a:p>
        </p:txBody>
      </p:sp>
      <p:sp>
        <p:nvSpPr>
          <p:cNvPr id="9" name="Shape 7"/>
          <p:cNvSpPr/>
          <p:nvPr/>
        </p:nvSpPr>
        <p:spPr>
          <a:xfrm>
            <a:off x="4663440" y="1188720"/>
            <a:ext cx="4023360" cy="3474720"/>
          </a:xfrm>
          <a:prstGeom prst="rect">
            <a:avLst/>
          </a:prstGeom>
          <a:solidFill>
            <a:srgbClr val="FFFFFF"/>
          </a:solidFill>
          <a:ln w="12700">
            <a:solidFill>
              <a:srgbClr val="E2E1DC"/>
            </a:solidFill>
            <a:prstDash val="solid"/>
          </a:ln>
        </p:spPr>
      </p:sp>
      <p:sp>
        <p:nvSpPr>
          <p:cNvPr id="10" name="Shape 8"/>
          <p:cNvSpPr/>
          <p:nvPr/>
        </p:nvSpPr>
        <p:spPr>
          <a:xfrm>
            <a:off x="4663440" y="1188720"/>
            <a:ext cx="4023360" cy="411480"/>
          </a:xfrm>
          <a:prstGeom prst="rect">
            <a:avLst/>
          </a:prstGeom>
          <a:solidFill>
            <a:srgbClr val="2A4365"/>
          </a:solidFill>
          <a:ln w="12700">
            <a:solidFill>
              <a:srgbClr val="2A4365"/>
            </a:solidFill>
            <a:prstDash val="solid"/>
          </a:ln>
        </p:spPr>
      </p:sp>
      <p:sp>
        <p:nvSpPr>
          <p:cNvPr id="11" name="Text 9"/>
          <p:cNvSpPr/>
          <p:nvPr/>
        </p:nvSpPr>
        <p:spPr>
          <a:xfrm>
            <a:off x="4800600" y="1216152"/>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isna().sum()</a:t>
            </a:r>
            <a:endParaRPr lang="en-US" sz="1600" dirty="0"/>
          </a:p>
        </p:txBody>
      </p:sp>
      <p:sp>
        <p:nvSpPr>
          <p:cNvPr id="12" name="Text 10"/>
          <p:cNvSpPr/>
          <p:nvPr/>
        </p:nvSpPr>
        <p:spPr>
          <a:xfrm>
            <a:off x="4846320" y="1737360"/>
            <a:ext cx="374904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Missing values per column</a:t>
            </a:r>
            <a:endParaRPr lang="en-US" sz="1300" dirty="0"/>
          </a:p>
        </p:txBody>
      </p:sp>
      <p:sp>
        <p:nvSpPr>
          <p:cNvPr id="13" name="Text 11"/>
          <p:cNvSpPr/>
          <p:nvPr/>
        </p:nvSpPr>
        <p:spPr>
          <a:xfrm>
            <a:off x="4846320" y="2148840"/>
            <a:ext cx="3749040" cy="1920240"/>
          </a:xfrm>
          <a:prstGeom prst="rect">
            <a:avLst/>
          </a:prstGeom>
          <a:noFill/>
          <a:ln/>
        </p:spPr>
        <p:txBody>
          <a:bodyPr wrap="square" lIns="0" tIns="0" rIns="0" bIns="0" rtlCol="0" anchor="ctr"/>
          <a:lstStyle/>
          <a:p>
            <a:pPr indent="0" marL="0">
              <a:buNone/>
            </a:pPr>
            <a:r>
              <a:rPr lang="en-US" sz="1200" dirty="0">
                <a:solidFill>
                  <a:srgbClr val="1A202C"/>
                </a:solidFill>
                <a:latin typeface="Courier New" pitchFamily="34" charset="0"/>
                <a:ea typeface="Courier New" pitchFamily="34" charset="-122"/>
                <a:cs typeface="Courier New" pitchFamily="34" charset="-120"/>
              </a:rPr>
              <a:t>sales_df.isna().sum()</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as a %</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sales_df.isna().sum() / len(sales_df)</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sort &amp; chain</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(sales_df.isna().sum()</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.sort_values(ascending=False))</a:t>
            </a:r>
            <a:endParaRPr lang="en-US" sz="1200" dirty="0"/>
          </a:p>
        </p:txBody>
      </p:sp>
      <p:sp>
        <p:nvSpPr>
          <p:cNvPr id="14" name="Text 12"/>
          <p:cNvSpPr/>
          <p:nvPr/>
        </p:nvSpPr>
        <p:spPr>
          <a:xfrm>
            <a:off x="4846320" y="4160520"/>
            <a:ext cx="3749040" cy="45720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Our customer_age has six gaps — perfect teaching moment.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Counting categories: value_counts()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The PivotTable replacement for frequency.</a:t>
            </a:r>
            <a:endParaRPr lang="en-US" sz="1500" dirty="0"/>
          </a:p>
        </p:txBody>
      </p:sp>
      <p:sp>
        <p:nvSpPr>
          <p:cNvPr id="4" name="Shape 2"/>
          <p:cNvSpPr/>
          <p:nvPr/>
        </p:nvSpPr>
        <p:spPr>
          <a:xfrm>
            <a:off x="457200" y="1554480"/>
            <a:ext cx="4023360" cy="3017520"/>
          </a:xfrm>
          <a:prstGeom prst="rect">
            <a:avLst/>
          </a:prstGeom>
          <a:solidFill>
            <a:srgbClr val="FFFFFF"/>
          </a:solidFill>
          <a:ln w="12700">
            <a:solidFill>
              <a:srgbClr val="E2E1DC"/>
            </a:solidFill>
            <a:prstDash val="solid"/>
          </a:ln>
        </p:spPr>
      </p:sp>
      <p:sp>
        <p:nvSpPr>
          <p:cNvPr id="5" name="Shape 3"/>
          <p:cNvSpPr/>
          <p:nvPr/>
        </p:nvSpPr>
        <p:spPr>
          <a:xfrm>
            <a:off x="457200" y="1554480"/>
            <a:ext cx="137160" cy="3017520"/>
          </a:xfrm>
          <a:prstGeom prst="rect">
            <a:avLst/>
          </a:prstGeom>
          <a:solidFill>
            <a:srgbClr val="2A4365"/>
          </a:solidFill>
          <a:ln w="12700">
            <a:solidFill>
              <a:srgbClr val="2A4365"/>
            </a:solidFill>
            <a:prstDash val="solid"/>
          </a:ln>
        </p:spPr>
      </p:sp>
      <p:sp>
        <p:nvSpPr>
          <p:cNvPr id="6" name="Text 4"/>
          <p:cNvSpPr/>
          <p:nvPr/>
        </p:nvSpPr>
        <p:spPr>
          <a:xfrm>
            <a:off x="777240" y="1627632"/>
            <a:ext cx="3657600" cy="32004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Code</a:t>
            </a:r>
            <a:endParaRPr lang="en-US" sz="1100" dirty="0"/>
          </a:p>
        </p:txBody>
      </p:sp>
      <p:sp>
        <p:nvSpPr>
          <p:cNvPr id="7" name="Text 5"/>
          <p:cNvSpPr/>
          <p:nvPr/>
        </p:nvSpPr>
        <p:spPr>
          <a:xfrm>
            <a:off x="777240" y="2011680"/>
            <a:ext cx="3657600" cy="2468880"/>
          </a:xfrm>
          <a:prstGeom prst="rect">
            <a:avLst/>
          </a:prstGeom>
          <a:noFill/>
          <a:ln/>
        </p:spPr>
        <p:txBody>
          <a:bodyPr wrap="square" lIns="0" tIns="0" rIns="0" bIns="0" rtlCol="0" anchor="ctr"/>
          <a:lstStyle/>
          <a:p>
            <a:pPr indent="0" marL="0">
              <a:buNone/>
            </a:pPr>
            <a:r>
              <a:rPr lang="en-US" sz="1300" dirty="0">
                <a:solidFill>
                  <a:srgbClr val="1A202C"/>
                </a:solidFill>
                <a:latin typeface="Courier New" pitchFamily="34" charset="0"/>
                <a:ea typeface="Courier New" pitchFamily="34" charset="-122"/>
                <a:cs typeface="Courier New" pitchFamily="34" charset="-120"/>
              </a:rPr>
              <a:t>sales_df['country']</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.value_counts()</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proportions</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sales_df['category']</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.value_counts(</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normalize=True)</a:t>
            </a:r>
            <a:endParaRPr lang="en-US" sz="1300" dirty="0"/>
          </a:p>
        </p:txBody>
      </p:sp>
      <p:sp>
        <p:nvSpPr>
          <p:cNvPr id="8" name="Shape 6"/>
          <p:cNvSpPr/>
          <p:nvPr/>
        </p:nvSpPr>
        <p:spPr>
          <a:xfrm>
            <a:off x="4663440" y="1554480"/>
            <a:ext cx="4023360" cy="3017520"/>
          </a:xfrm>
          <a:prstGeom prst="rect">
            <a:avLst/>
          </a:prstGeom>
          <a:solidFill>
            <a:srgbClr val="FFFFFF"/>
          </a:solidFill>
          <a:ln w="12700">
            <a:solidFill>
              <a:srgbClr val="E2E1DC"/>
            </a:solidFill>
            <a:prstDash val="solid"/>
          </a:ln>
        </p:spPr>
      </p:sp>
      <p:sp>
        <p:nvSpPr>
          <p:cNvPr id="9" name="Text 7"/>
          <p:cNvSpPr/>
          <p:nvPr/>
        </p:nvSpPr>
        <p:spPr>
          <a:xfrm>
            <a:off x="4800600" y="1627632"/>
            <a:ext cx="3749040" cy="32004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Expected output</a:t>
            </a:r>
            <a:endParaRPr lang="en-US" sz="1100" dirty="0"/>
          </a:p>
        </p:txBody>
      </p:sp>
      <p:sp>
        <p:nvSpPr>
          <p:cNvPr id="10" name="Text 8"/>
          <p:cNvSpPr/>
          <p:nvPr/>
        </p:nvSpPr>
        <p:spPr>
          <a:xfrm>
            <a:off x="4937760" y="201168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United States</a:t>
            </a:r>
            <a:endParaRPr lang="en-US" sz="1400" dirty="0"/>
          </a:p>
        </p:txBody>
      </p:sp>
      <p:sp>
        <p:nvSpPr>
          <p:cNvPr id="11" name="Text 9"/>
          <p:cNvSpPr/>
          <p:nvPr/>
        </p:nvSpPr>
        <p:spPr>
          <a:xfrm>
            <a:off x="7498080" y="201168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77</a:t>
            </a:r>
            <a:endParaRPr lang="en-US" sz="1400" dirty="0"/>
          </a:p>
        </p:txBody>
      </p:sp>
      <p:sp>
        <p:nvSpPr>
          <p:cNvPr id="12" name="Text 10"/>
          <p:cNvSpPr/>
          <p:nvPr/>
        </p:nvSpPr>
        <p:spPr>
          <a:xfrm>
            <a:off x="4937760" y="242316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Germany</a:t>
            </a:r>
            <a:endParaRPr lang="en-US" sz="1400" dirty="0"/>
          </a:p>
        </p:txBody>
      </p:sp>
      <p:sp>
        <p:nvSpPr>
          <p:cNvPr id="13" name="Text 11"/>
          <p:cNvSpPr/>
          <p:nvPr/>
        </p:nvSpPr>
        <p:spPr>
          <a:xfrm>
            <a:off x="7498080" y="242316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43</a:t>
            </a:r>
            <a:endParaRPr lang="en-US" sz="1400" dirty="0"/>
          </a:p>
        </p:txBody>
      </p:sp>
      <p:sp>
        <p:nvSpPr>
          <p:cNvPr id="14" name="Text 12"/>
          <p:cNvSpPr/>
          <p:nvPr/>
        </p:nvSpPr>
        <p:spPr>
          <a:xfrm>
            <a:off x="4937760" y="283464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United Kingdom</a:t>
            </a:r>
            <a:endParaRPr lang="en-US" sz="1400" dirty="0"/>
          </a:p>
        </p:txBody>
      </p:sp>
      <p:sp>
        <p:nvSpPr>
          <p:cNvPr id="15" name="Text 13"/>
          <p:cNvSpPr/>
          <p:nvPr/>
        </p:nvSpPr>
        <p:spPr>
          <a:xfrm>
            <a:off x="7498080" y="283464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39</a:t>
            </a:r>
            <a:endParaRPr lang="en-US" sz="1400" dirty="0"/>
          </a:p>
        </p:txBody>
      </p:sp>
      <p:sp>
        <p:nvSpPr>
          <p:cNvPr id="16" name="Text 14"/>
          <p:cNvSpPr/>
          <p:nvPr/>
        </p:nvSpPr>
        <p:spPr>
          <a:xfrm>
            <a:off x="4937760" y="324612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Canada</a:t>
            </a:r>
            <a:endParaRPr lang="en-US" sz="1400" dirty="0"/>
          </a:p>
        </p:txBody>
      </p:sp>
      <p:sp>
        <p:nvSpPr>
          <p:cNvPr id="17" name="Text 15"/>
          <p:cNvSpPr/>
          <p:nvPr/>
        </p:nvSpPr>
        <p:spPr>
          <a:xfrm>
            <a:off x="7498080" y="324612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26</a:t>
            </a:r>
            <a:endParaRPr lang="en-US" sz="1400" dirty="0"/>
          </a:p>
        </p:txBody>
      </p:sp>
      <p:sp>
        <p:nvSpPr>
          <p:cNvPr id="18" name="Text 16"/>
          <p:cNvSpPr/>
          <p:nvPr/>
        </p:nvSpPr>
        <p:spPr>
          <a:xfrm>
            <a:off x="4937760" y="365760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Australia</a:t>
            </a:r>
            <a:endParaRPr lang="en-US" sz="1400" dirty="0"/>
          </a:p>
        </p:txBody>
      </p:sp>
      <p:sp>
        <p:nvSpPr>
          <p:cNvPr id="19" name="Text 17"/>
          <p:cNvSpPr/>
          <p:nvPr/>
        </p:nvSpPr>
        <p:spPr>
          <a:xfrm>
            <a:off x="7498080" y="365760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groupby() — the PivotTable, in code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Split → apply → combine.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Average price by country</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sales_df.groupby('country')['unit_price'].mean()</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Multiple stats at once</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sales_df.groupby('country')['unit_price'].agg(['mean','min','max'])</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Group by two columns</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sales_df.groupby(['country','category'])['unit_price'].mean()</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Like an Excel PivotTable — except you can chain it, filter it, and feed it into a chart.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A202C"/>
                </a:solidFill>
                <a:latin typeface="Arial Black" pitchFamily="34" charset="0"/>
                <a:ea typeface="Arial Black" pitchFamily="34" charset="-122"/>
                <a:cs typeface="Arial Black" pitchFamily="34" charset="-120"/>
              </a:rPr>
              <a:t>Stitching it together</a:t>
            </a:r>
            <a:endParaRPr lang="en-US" sz="3200" dirty="0"/>
          </a:p>
        </p:txBody>
      </p:sp>
      <p:sp>
        <p:nvSpPr>
          <p:cNvPr id="3" name="Text 1"/>
          <p:cNvSpPr/>
          <p:nvPr/>
        </p:nvSpPr>
        <p:spPr>
          <a:xfrm>
            <a:off x="457200" y="1051560"/>
            <a:ext cx="8229600" cy="41148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"What's the average price by category — but only in the US — sorted high to low?"</a:t>
            </a:r>
            <a:endParaRPr lang="en-US" sz="1400" dirty="0"/>
          </a:p>
        </p:txBody>
      </p:sp>
      <p:sp>
        <p:nvSpPr>
          <p:cNvPr id="4" name="Shape 2"/>
          <p:cNvSpPr/>
          <p:nvPr/>
        </p:nvSpPr>
        <p:spPr>
          <a:xfrm>
            <a:off x="457200" y="1645920"/>
            <a:ext cx="8229600" cy="2743200"/>
          </a:xfrm>
          <a:prstGeom prst="rect">
            <a:avLst/>
          </a:prstGeom>
          <a:solidFill>
            <a:srgbClr val="FFFFFF"/>
          </a:solidFill>
          <a:ln w="12700">
            <a:solidFill>
              <a:srgbClr val="E2E1DC"/>
            </a:solidFill>
            <a:prstDash val="solid"/>
          </a:ln>
        </p:spPr>
      </p:sp>
      <p:sp>
        <p:nvSpPr>
          <p:cNvPr id="5" name="Shape 3"/>
          <p:cNvSpPr/>
          <p:nvPr/>
        </p:nvSpPr>
        <p:spPr>
          <a:xfrm>
            <a:off x="457200" y="1645920"/>
            <a:ext cx="137160" cy="2743200"/>
          </a:xfrm>
          <a:prstGeom prst="rect">
            <a:avLst/>
          </a:prstGeom>
          <a:solidFill>
            <a:srgbClr val="2A4365"/>
          </a:solidFill>
          <a:ln w="12700">
            <a:solidFill>
              <a:srgbClr val="2A4365"/>
            </a:solidFill>
            <a:prstDash val="solid"/>
          </a:ln>
        </p:spPr>
      </p:sp>
      <p:sp>
        <p:nvSpPr>
          <p:cNvPr id="6" name="Text 4"/>
          <p:cNvSpPr/>
          <p:nvPr/>
        </p:nvSpPr>
        <p:spPr>
          <a:xfrm>
            <a:off x="777240" y="1874520"/>
            <a:ext cx="7680960" cy="246888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us = sales_df[sales_df['country'] == 'United States']</a:t>
            </a:r>
            <a:endParaRPr lang="en-US" sz="1600" dirty="0"/>
          </a:p>
          <a:p>
            <a:pPr indent="0" marL="0">
              <a:buNone/>
            </a:pP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by_cat = us.groupby('category')['unit_price'].mean()</a:t>
            </a:r>
            <a:endParaRPr lang="en-US" sz="1600" dirty="0"/>
          </a:p>
          <a:p>
            <a:pPr indent="0" marL="0">
              <a:buNone/>
            </a:pP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by_cat.sort_values(ascending=False)</a:t>
            </a:r>
            <a:endParaRPr lang="en-US" sz="1600" dirty="0"/>
          </a:p>
        </p:txBody>
      </p:sp>
      <p:sp>
        <p:nvSpPr>
          <p:cNvPr id="7" name="Text 5"/>
          <p:cNvSpPr/>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Filter → group → sort. Same shape as an Excel workflow, just spelled in code.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Bonus pandas moves, if we have time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more PivotTable-replacements. Each is one line.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Sort by a column, descending</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sales_df.sort_values('unit_price', ascending=False)</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Filter rows with .query()</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sales_df.query("unit_price &gt; 100 and country == 'Germany'")</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Top N rows by a metric</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sales_df.nlargest(5, 'quantity')</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sort_values, .query(), nlargest — the three I reach for after groupby.</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4</a:t>
            </a:r>
            <a:endParaRPr lang="en-US" sz="2000" dirty="0"/>
          </a:p>
        </p:txBody>
      </p:sp>
      <p:sp>
        <p:nvSpPr>
          <p:cNvPr id="3" name="Text 1"/>
          <p:cNvSpPr/>
          <p:nvPr/>
        </p:nvSpPr>
        <p:spPr>
          <a:xfrm>
            <a:off x="274320" y="2011680"/>
            <a:ext cx="8595360" cy="1280160"/>
          </a:xfrm>
          <a:prstGeom prst="rect">
            <a:avLst/>
          </a:prstGeom>
          <a:noFill/>
          <a:ln/>
        </p:spPr>
        <p:txBody>
          <a:bodyPr wrap="square" lIns="0" tIns="0" rIns="0" bIns="0"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One chart that earns gasps.</a:t>
            </a:r>
            <a:endParaRPr lang="en-US" sz="36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A correlation heatmap. In one line of code.</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The whole recipe</a:t>
            </a:r>
            <a:endParaRPr lang="en-US" sz="3000" dirty="0"/>
          </a:p>
        </p:txBody>
      </p:sp>
      <p:sp>
        <p:nvSpPr>
          <p:cNvPr id="3" name="Shape 1"/>
          <p:cNvSpPr/>
          <p:nvPr/>
        </p:nvSpPr>
        <p:spPr>
          <a:xfrm>
            <a:off x="457200" y="1188720"/>
            <a:ext cx="3657600" cy="3291840"/>
          </a:xfrm>
          <a:prstGeom prst="rect">
            <a:avLst/>
          </a:prstGeom>
          <a:solidFill>
            <a:srgbClr val="FFFFFF"/>
          </a:solidFill>
          <a:ln w="12700">
            <a:solidFill>
              <a:srgbClr val="E2E1DC"/>
            </a:solidFill>
            <a:prstDash val="solid"/>
          </a:ln>
        </p:spPr>
      </p:sp>
      <p:sp>
        <p:nvSpPr>
          <p:cNvPr id="4" name="Shape 2"/>
          <p:cNvSpPr/>
          <p:nvPr/>
        </p:nvSpPr>
        <p:spPr>
          <a:xfrm>
            <a:off x="457200" y="1188720"/>
            <a:ext cx="137160" cy="3291840"/>
          </a:xfrm>
          <a:prstGeom prst="rect">
            <a:avLst/>
          </a:prstGeom>
          <a:solidFill>
            <a:srgbClr val="2A4365"/>
          </a:solidFill>
          <a:ln w="12700">
            <a:solidFill>
              <a:srgbClr val="2A4365"/>
            </a:solidFill>
            <a:prstDash val="solid"/>
          </a:ln>
        </p:spPr>
      </p:sp>
      <p:sp>
        <p:nvSpPr>
          <p:cNvPr id="5" name="Text 3"/>
          <p:cNvSpPr/>
          <p:nvPr/>
        </p:nvSpPr>
        <p:spPr>
          <a:xfrm>
            <a:off x="777240" y="1325880"/>
            <a:ext cx="3246120" cy="3108960"/>
          </a:xfrm>
          <a:prstGeom prst="rect">
            <a:avLst/>
          </a:prstGeom>
          <a:noFill/>
          <a:ln/>
        </p:spPr>
        <p:txBody>
          <a:bodyPr wrap="square" lIns="0" tIns="0" rIns="0" bIns="0" rtlCol="0" anchor="ctr"/>
          <a:lstStyle/>
          <a:p>
            <a:pPr indent="0" marL="0">
              <a:buNone/>
            </a:pPr>
            <a:r>
              <a:rPr lang="en-US" sz="1200" dirty="0">
                <a:solidFill>
                  <a:srgbClr val="1A202C"/>
                </a:solidFill>
                <a:latin typeface="Courier New" pitchFamily="34" charset="0"/>
                <a:ea typeface="Courier New" pitchFamily="34" charset="-122"/>
                <a:cs typeface="Courier New" pitchFamily="34" charset="-120"/>
              </a:rPr>
              <a:t>import seaborn as sns</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sales_df['revenue'] = (</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sales_df['unit_price']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 sales_df['quantity']</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sns.heatmap(</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sales_df.corr(numeric_only=True),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annot=True,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cmap='RdBu_r',</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center=0</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a:t>
            </a:r>
            <a:endParaRPr lang="en-US" sz="1200" dirty="0"/>
          </a:p>
        </p:txBody>
      </p:sp>
      <p:pic>
        <p:nvPicPr>
          <p:cNvPr id="6" name="Image 0" descr="/sessions/festive-gallant-bohr/mnt/outputs/images/heatmap.png"/>
          <p:cNvPicPr>
            <a:picLocks noChangeAspect="1"/>
          </p:cNvPicPr>
          <p:nvPr/>
        </p:nvPicPr>
        <p:blipFill>
          <a:blip r:embed="rId1"/>
          <a:stretch>
            <a:fillRect/>
          </a:stretch>
        </p:blipFill>
        <p:spPr>
          <a:xfrm>
            <a:off x="4297680" y="1188720"/>
            <a:ext cx="4572000" cy="3291840"/>
          </a:xfrm>
          <a:prstGeom prst="rect">
            <a:avLst/>
          </a:prstGeom>
        </p:spPr>
      </p:pic>
      <p:sp>
        <p:nvSpPr>
          <p:cNvPr id="7" name="Text 4"/>
          <p:cNvSpPr/>
          <p:nvPr/>
        </p:nvSpPr>
        <p:spPr>
          <a:xfrm>
            <a:off x="457200" y="4572000"/>
            <a:ext cx="8229600" cy="365760"/>
          </a:xfrm>
          <a:prstGeom prst="rect">
            <a:avLst/>
          </a:prstGeom>
          <a:noFill/>
          <a:ln/>
        </p:spPr>
        <p:txBody>
          <a:bodyPr wrap="square" lIns="0" tIns="0" rIns="0" bIns="0" rtlCol="0" anchor="ctr"/>
          <a:lstStyle/>
          <a:p>
            <a:pPr algn="ctr" indent="0" marL="0">
              <a:buNone/>
            </a:pPr>
            <a:r>
              <a:rPr lang="en-US" sz="1300" b="1" i="1" dirty="0">
                <a:solidFill>
                  <a:srgbClr val="2A4365"/>
                </a:solidFill>
                <a:latin typeface="Arial" pitchFamily="34" charset="0"/>
                <a:ea typeface="Arial" pitchFamily="34" charset="-122"/>
                <a:cs typeface="Arial" pitchFamily="34" charset="-120"/>
              </a:rPr>
              <a:t>Eight lines. A chart you'd lose 20 minutes to in native Excel.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Bonus flourish, if we have time</a:t>
            </a:r>
            <a:endParaRPr lang="en-US" sz="3000" dirty="0"/>
          </a:p>
        </p:txBody>
      </p:sp>
      <p:sp>
        <p:nvSpPr>
          <p:cNvPr id="3" name="Shape 1"/>
          <p:cNvSpPr/>
          <p:nvPr/>
        </p:nvSpPr>
        <p:spPr>
          <a:xfrm>
            <a:off x="457200" y="1554480"/>
            <a:ext cx="8229600" cy="1280160"/>
          </a:xfrm>
          <a:prstGeom prst="rect">
            <a:avLst/>
          </a:prstGeom>
          <a:solidFill>
            <a:srgbClr val="FFFFFF"/>
          </a:solidFill>
          <a:ln w="12700">
            <a:solidFill>
              <a:srgbClr val="E2E1DC"/>
            </a:solidFill>
            <a:prstDash val="solid"/>
          </a:ln>
        </p:spPr>
      </p:sp>
      <p:sp>
        <p:nvSpPr>
          <p:cNvPr id="4" name="Shape 2"/>
          <p:cNvSpPr/>
          <p:nvPr/>
        </p:nvSpPr>
        <p:spPr>
          <a:xfrm>
            <a:off x="457200" y="1554480"/>
            <a:ext cx="137160" cy="1280160"/>
          </a:xfrm>
          <a:prstGeom prst="rect">
            <a:avLst/>
          </a:prstGeom>
          <a:solidFill>
            <a:srgbClr val="2A4365"/>
          </a:solidFill>
          <a:ln w="12700">
            <a:solidFill>
              <a:srgbClr val="2A4365"/>
            </a:solidFill>
            <a:prstDash val="solid"/>
          </a:ln>
        </p:spPr>
      </p:sp>
      <p:sp>
        <p:nvSpPr>
          <p:cNvPr id="5" name="Text 3"/>
          <p:cNvSpPr/>
          <p:nvPr/>
        </p:nvSpPr>
        <p:spPr>
          <a:xfrm>
            <a:off x="777240" y="1874520"/>
            <a:ext cx="7680960" cy="73152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sns.pairplot(sales_df, hue='category')</a:t>
            </a:r>
            <a:endParaRPr lang="en-US" sz="1800" dirty="0"/>
          </a:p>
        </p:txBody>
      </p:sp>
      <p:sp>
        <p:nvSpPr>
          <p:cNvPr id="6" name="Text 4"/>
          <p:cNvSpPr/>
          <p:nvPr/>
        </p:nvSpPr>
        <p:spPr>
          <a:xfrm>
            <a:off x="457200" y="3108960"/>
            <a:ext cx="8229600" cy="457200"/>
          </a:xfrm>
          <a:prstGeom prst="rect">
            <a:avLst/>
          </a:prstGeom>
          <a:noFill/>
          <a:ln/>
        </p:spPr>
        <p:txBody>
          <a:bodyPr wrap="square" lIns="0" tIns="0" rIns="0" bIns="0" rtlCol="0" anchor="ctr"/>
          <a:lstStyle/>
          <a:p>
            <a:pPr indent="0" marL="0">
              <a:buNone/>
            </a:pPr>
            <a:r>
              <a:rPr lang="en-US" sz="1600" dirty="0">
                <a:solidFill>
                  <a:srgbClr val="1A202C"/>
                </a:solidFill>
                <a:latin typeface="Arial" pitchFamily="34" charset="0"/>
                <a:ea typeface="Arial" pitchFamily="34" charset="-122"/>
                <a:cs typeface="Arial" pitchFamily="34" charset="-120"/>
              </a:rPr>
              <a:t>One line. Every numeric variable plotted against every other one, color-coded by category.</a:t>
            </a:r>
            <a:endParaRPr lang="en-US" sz="1600" dirty="0"/>
          </a:p>
        </p:txBody>
      </p:sp>
      <p:sp>
        <p:nvSpPr>
          <p:cNvPr id="7" name="Text 5"/>
          <p:cNvSpPr/>
          <p:nvPr/>
        </p:nvSpPr>
        <p:spPr>
          <a:xfrm>
            <a:off x="457200" y="3566160"/>
            <a:ext cx="8229600" cy="36576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Note: pairplots render slowly in cloud-backed PY() cells. Show, don't dwell.</a:t>
            </a:r>
            <a:endParaRPr lang="en-US" sz="1200" dirty="0"/>
          </a:p>
        </p:txBody>
      </p:sp>
      <p:sp>
        <p:nvSpPr>
          <p:cNvPr id="8" name="Text 6"/>
          <p:cNvSpPr/>
          <p:nvPr/>
        </p:nvSpPr>
        <p:spPr>
          <a:xfrm>
            <a:off x="457200" y="4206240"/>
            <a:ext cx="8229600" cy="548640"/>
          </a:xfrm>
          <a:prstGeom prst="rect">
            <a:avLst/>
          </a:prstGeom>
          <a:noFill/>
          <a:ln/>
        </p:spPr>
        <p:txBody>
          <a:bodyPr wrap="square" lIns="0" tIns="0" rIns="0" bIns="0" rtlCol="0" anchor="ctr"/>
          <a:lstStyle/>
          <a:p>
            <a:pPr algn="ctr" indent="0" marL="0">
              <a:buNone/>
            </a:pPr>
            <a:r>
              <a:rPr lang="en-US" sz="1600" b="1" i="1" dirty="0">
                <a:solidFill>
                  <a:srgbClr val="2A4365"/>
                </a:solidFill>
                <a:latin typeface="Arial" pitchFamily="34" charset="0"/>
                <a:ea typeface="Arial" pitchFamily="34" charset="-122"/>
                <a:cs typeface="Arial" pitchFamily="34" charset="-120"/>
              </a:rPr>
              <a:t>Where Excel charts feel ceremonial, seaborn one-liners feel like cheating.</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More chart one-liners, if we have time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more seaborn views — each a single line of code.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Distribution of one numeric column</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sns.histplot(sales_df, x='unit_price', bins=20)</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Spread of a metric across categories</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sns.boxplot(sales_df, x='category', y='unit_price')</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Scatter with a fitted regression line</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sns.regplot(sales_df, x='quantity', y='unit_price')</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Histogram, boxplot, regression scatter. Each would be a 10-minute fight in native Excel.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5</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800" b="1" dirty="0">
                <a:solidFill>
                  <a:srgbClr val="FFFFFF"/>
                </a:solidFill>
                <a:latin typeface="Arial Black" pitchFamily="34" charset="0"/>
                <a:ea typeface="Arial Black" pitchFamily="34" charset="-122"/>
                <a:cs typeface="Arial Black" pitchFamily="34" charset="-120"/>
              </a:rPr>
              <a:t>Where to go from here.</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Reading list · my book · the cheat sheet you'll get.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Take this further</a:t>
            </a:r>
            <a:endParaRPr lang="en-US" sz="3000" dirty="0"/>
          </a:p>
        </p:txBody>
      </p:sp>
      <p:sp>
        <p:nvSpPr>
          <p:cNvPr id="3" name="Shape 1"/>
          <p:cNvSpPr/>
          <p:nvPr/>
        </p:nvSpPr>
        <p:spPr>
          <a:xfrm>
            <a:off x="365760" y="1371600"/>
            <a:ext cx="2697480" cy="3383280"/>
          </a:xfrm>
          <a:prstGeom prst="rect">
            <a:avLst/>
          </a:prstGeom>
          <a:solidFill>
            <a:srgbClr val="FFFFFF"/>
          </a:solidFill>
          <a:ln w="12700">
            <a:solidFill>
              <a:srgbClr val="E2E1DC"/>
            </a:solidFill>
            <a:prstDash val="solid"/>
          </a:ln>
        </p:spPr>
      </p:sp>
      <p:sp>
        <p:nvSpPr>
          <p:cNvPr id="4" name="Shape 2"/>
          <p:cNvSpPr/>
          <p:nvPr/>
        </p:nvSpPr>
        <p:spPr>
          <a:xfrm>
            <a:off x="365760" y="1371600"/>
            <a:ext cx="2697480" cy="365760"/>
          </a:xfrm>
          <a:prstGeom prst="rect">
            <a:avLst/>
          </a:prstGeom>
          <a:solidFill>
            <a:srgbClr val="2A4365"/>
          </a:solidFill>
          <a:ln w="12700">
            <a:solidFill>
              <a:srgbClr val="2A4365"/>
            </a:solidFill>
            <a:prstDash val="solid"/>
          </a:ln>
        </p:spPr>
      </p:sp>
      <p:sp>
        <p:nvSpPr>
          <p:cNvPr id="5" name="Text 3"/>
          <p:cNvSpPr/>
          <p:nvPr/>
        </p:nvSpPr>
        <p:spPr>
          <a:xfrm>
            <a:off x="50292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OFFICIAL DOCS</a:t>
            </a:r>
            <a:endParaRPr lang="en-US" sz="1100" dirty="0"/>
          </a:p>
        </p:txBody>
      </p:sp>
      <p:sp>
        <p:nvSpPr>
          <p:cNvPr id="6" name="Text 4"/>
          <p:cNvSpPr/>
          <p:nvPr/>
        </p:nvSpPr>
        <p:spPr>
          <a:xfrm>
            <a:off x="54864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Microsoft's Python in Excel docs</a:t>
            </a:r>
            <a:endParaRPr lang="en-US" sz="1800" dirty="0"/>
          </a:p>
        </p:txBody>
      </p:sp>
      <p:sp>
        <p:nvSpPr>
          <p:cNvPr id="7" name="Text 5"/>
          <p:cNvSpPr/>
          <p:nvPr/>
        </p:nvSpPr>
        <p:spPr>
          <a:xfrm>
            <a:off x="54864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The source of truth for available packages, version requirements, and the latest features. The platform is still moving fast — bookmark it.</a:t>
            </a:r>
            <a:endParaRPr lang="en-US" sz="1200" dirty="0"/>
          </a:p>
        </p:txBody>
      </p:sp>
      <p:sp>
        <p:nvSpPr>
          <p:cNvPr id="8" name="Text 6"/>
          <p:cNvSpPr/>
          <p:nvPr/>
        </p:nvSpPr>
        <p:spPr>
          <a:xfrm>
            <a:off x="54864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learn.microsoft.com</a:t>
            </a:r>
            <a:endParaRPr lang="en-US" sz="1100" dirty="0"/>
          </a:p>
        </p:txBody>
      </p:sp>
      <p:sp>
        <p:nvSpPr>
          <p:cNvPr id="9" name="Shape 7"/>
          <p:cNvSpPr/>
          <p:nvPr/>
        </p:nvSpPr>
        <p:spPr>
          <a:xfrm>
            <a:off x="3246120" y="1371600"/>
            <a:ext cx="2697480" cy="3383280"/>
          </a:xfrm>
          <a:prstGeom prst="rect">
            <a:avLst/>
          </a:prstGeom>
          <a:solidFill>
            <a:srgbClr val="FFFFFF"/>
          </a:solidFill>
          <a:ln w="12700">
            <a:solidFill>
              <a:srgbClr val="E2E1DC"/>
            </a:solidFill>
            <a:prstDash val="solid"/>
          </a:ln>
        </p:spPr>
      </p:sp>
      <p:sp>
        <p:nvSpPr>
          <p:cNvPr id="10" name="Shape 8"/>
          <p:cNvSpPr/>
          <p:nvPr/>
        </p:nvSpPr>
        <p:spPr>
          <a:xfrm>
            <a:off x="3246120" y="1371600"/>
            <a:ext cx="2697480" cy="365760"/>
          </a:xfrm>
          <a:prstGeom prst="rect">
            <a:avLst/>
          </a:prstGeom>
          <a:solidFill>
            <a:srgbClr val="2A4365"/>
          </a:solidFill>
          <a:ln w="12700">
            <a:solidFill>
              <a:srgbClr val="2A4365"/>
            </a:solidFill>
            <a:prstDash val="solid"/>
          </a:ln>
        </p:spPr>
      </p:sp>
      <p:sp>
        <p:nvSpPr>
          <p:cNvPr id="11" name="Text 9"/>
          <p:cNvSpPr/>
          <p:nvPr/>
        </p:nvSpPr>
        <p:spPr>
          <a:xfrm>
            <a:off x="338328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PRACTICE</a:t>
            </a:r>
            <a:endParaRPr lang="en-US" sz="1100" dirty="0"/>
          </a:p>
        </p:txBody>
      </p:sp>
      <p:sp>
        <p:nvSpPr>
          <p:cNvPr id="12" name="Text 10"/>
          <p:cNvSpPr/>
          <p:nvPr/>
        </p:nvSpPr>
        <p:spPr>
          <a:xfrm>
            <a:off x="342900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Today's workbooks</a:t>
            </a:r>
            <a:endParaRPr lang="en-US" sz="1800" dirty="0"/>
          </a:p>
        </p:txBody>
      </p:sp>
      <p:sp>
        <p:nvSpPr>
          <p:cNvPr id="13" name="Text 11"/>
          <p:cNvSpPr/>
          <p:nvPr/>
        </p:nvSpPr>
        <p:spPr>
          <a:xfrm>
            <a:off x="342900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The two files from this workshop are yours to keep. Re-run the demos in your own time, then point xl() at one of your own tables and see what falls out.</a:t>
            </a:r>
            <a:endParaRPr lang="en-US" sz="1200" dirty="0"/>
          </a:p>
        </p:txBody>
      </p:sp>
      <p:sp>
        <p:nvSpPr>
          <p:cNvPr id="14" name="Text 12"/>
          <p:cNvSpPr/>
          <p:nvPr/>
        </p:nvSpPr>
        <p:spPr>
          <a:xfrm>
            <a:off x="342900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in your inbox</a:t>
            </a:r>
            <a:endParaRPr lang="en-US" sz="1100" dirty="0"/>
          </a:p>
        </p:txBody>
      </p:sp>
      <p:sp>
        <p:nvSpPr>
          <p:cNvPr id="15" name="Shape 13"/>
          <p:cNvSpPr/>
          <p:nvPr/>
        </p:nvSpPr>
        <p:spPr>
          <a:xfrm>
            <a:off x="6126480" y="1371600"/>
            <a:ext cx="2697480" cy="3383280"/>
          </a:xfrm>
          <a:prstGeom prst="rect">
            <a:avLst/>
          </a:prstGeom>
          <a:solidFill>
            <a:srgbClr val="FFFFFF"/>
          </a:solidFill>
          <a:ln w="12700">
            <a:solidFill>
              <a:srgbClr val="E2E1DC"/>
            </a:solidFill>
            <a:prstDash val="solid"/>
          </a:ln>
        </p:spPr>
      </p:sp>
      <p:sp>
        <p:nvSpPr>
          <p:cNvPr id="16" name="Shape 14"/>
          <p:cNvSpPr/>
          <p:nvPr/>
        </p:nvSpPr>
        <p:spPr>
          <a:xfrm>
            <a:off x="6126480" y="1371600"/>
            <a:ext cx="2697480" cy="365760"/>
          </a:xfrm>
          <a:prstGeom prst="rect">
            <a:avLst/>
          </a:prstGeom>
          <a:solidFill>
            <a:srgbClr val="2A4365"/>
          </a:solidFill>
          <a:ln w="12700">
            <a:solidFill>
              <a:srgbClr val="2A4365"/>
            </a:solidFill>
            <a:prstDash val="solid"/>
          </a:ln>
        </p:spPr>
      </p:sp>
      <p:sp>
        <p:nvSpPr>
          <p:cNvPr id="17" name="Text 15"/>
          <p:cNvSpPr/>
          <p:nvPr/>
        </p:nvSpPr>
        <p:spPr>
          <a:xfrm>
            <a:off x="626364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GO DEEPER</a:t>
            </a:r>
            <a:endParaRPr lang="en-US" sz="1100" dirty="0"/>
          </a:p>
        </p:txBody>
      </p:sp>
      <p:sp>
        <p:nvSpPr>
          <p:cNvPr id="18" name="Text 16"/>
          <p:cNvSpPr/>
          <p:nvPr/>
        </p:nvSpPr>
        <p:spPr>
          <a:xfrm>
            <a:off x="630936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Advancing into Analytics</a:t>
            </a:r>
            <a:endParaRPr lang="en-US" sz="1800" dirty="0"/>
          </a:p>
        </p:txBody>
      </p:sp>
      <p:sp>
        <p:nvSpPr>
          <p:cNvPr id="19" name="Text 17"/>
          <p:cNvSpPr/>
          <p:nvPr/>
        </p:nvSpPr>
        <p:spPr>
          <a:xfrm>
            <a:off x="630936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My O’Reilly book, From Excel to Python and R. Builds on today’s mindset — taking spreadsheet skills into a real analytics stack with statistics, EDA, and your first scripts in both languages.</a:t>
            </a:r>
            <a:endParaRPr lang="en-US" sz="1200" dirty="0"/>
          </a:p>
        </p:txBody>
      </p:sp>
      <p:sp>
        <p:nvSpPr>
          <p:cNvPr id="20" name="Text 18"/>
          <p:cNvSpPr/>
          <p:nvPr/>
        </p:nvSpPr>
        <p:spPr>
          <a:xfrm>
            <a:off x="630936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stringfestanalytics.com/book</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Three things to remember tomorrow</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Save yourself the support ticket.</a:t>
            </a:r>
            <a:endParaRPr lang="en-US" sz="1400" dirty="0"/>
          </a:p>
        </p:txBody>
      </p:sp>
      <p:sp>
        <p:nvSpPr>
          <p:cNvPr id="4" name="Shape 2"/>
          <p:cNvSpPr/>
          <p:nvPr/>
        </p:nvSpPr>
        <p:spPr>
          <a:xfrm>
            <a:off x="457200" y="1554480"/>
            <a:ext cx="640080" cy="640080"/>
          </a:xfrm>
          <a:prstGeom prst="ellipse">
            <a:avLst/>
          </a:prstGeom>
          <a:solidFill>
            <a:srgbClr val="2A4365"/>
          </a:solidFill>
          <a:ln w="12700">
            <a:solidFill>
              <a:srgbClr val="2A4365"/>
            </a:solidFill>
            <a:prstDash val="solid"/>
          </a:ln>
        </p:spPr>
      </p:sp>
      <p:sp>
        <p:nvSpPr>
          <p:cNvPr id="5" name="Text 3"/>
          <p:cNvSpPr/>
          <p:nvPr/>
        </p:nvSpPr>
        <p:spPr>
          <a:xfrm>
            <a:off x="457200" y="15544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1</a:t>
            </a:r>
            <a:endParaRPr lang="en-US" sz="2400" dirty="0"/>
          </a:p>
        </p:txBody>
      </p:sp>
      <p:sp>
        <p:nvSpPr>
          <p:cNvPr id="6" name="Text 4"/>
          <p:cNvSpPr/>
          <p:nvPr/>
        </p:nvSpPr>
        <p:spPr>
          <a:xfrm>
            <a:off x="1280160" y="155448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Cells run top-left to bottom-right.</a:t>
            </a:r>
            <a:endParaRPr lang="en-US" sz="1700" dirty="0"/>
          </a:p>
        </p:txBody>
      </p:sp>
      <p:sp>
        <p:nvSpPr>
          <p:cNvPr id="7" name="Text 5"/>
          <p:cNvSpPr/>
          <p:nvPr/>
        </p:nvSpPr>
        <p:spPr>
          <a:xfrm>
            <a:off x="1280160" y="192024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If you reference a variable in a cell above or to the left of where it's defined, you'll get #PYTHON. Put your imports in the top-left and build down.</a:t>
            </a:r>
            <a:endParaRPr lang="en-US" sz="1300" dirty="0"/>
          </a:p>
        </p:txBody>
      </p:sp>
      <p:sp>
        <p:nvSpPr>
          <p:cNvPr id="8" name="Shape 6"/>
          <p:cNvSpPr/>
          <p:nvPr/>
        </p:nvSpPr>
        <p:spPr>
          <a:xfrm>
            <a:off x="457200" y="2560320"/>
            <a:ext cx="640080" cy="640080"/>
          </a:xfrm>
          <a:prstGeom prst="ellipse">
            <a:avLst/>
          </a:prstGeom>
          <a:solidFill>
            <a:srgbClr val="2A4365"/>
          </a:solidFill>
          <a:ln w="12700">
            <a:solidFill>
              <a:srgbClr val="2A4365"/>
            </a:solidFill>
            <a:prstDash val="solid"/>
          </a:ln>
        </p:spPr>
      </p:sp>
      <p:sp>
        <p:nvSpPr>
          <p:cNvPr id="9" name="Text 7"/>
          <p:cNvSpPr/>
          <p:nvPr/>
        </p:nvSpPr>
        <p:spPr>
          <a:xfrm>
            <a:off x="457200" y="25603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2</a:t>
            </a:r>
            <a:endParaRPr lang="en-US" sz="2400" dirty="0"/>
          </a:p>
        </p:txBody>
      </p:sp>
      <p:sp>
        <p:nvSpPr>
          <p:cNvPr id="10" name="Text 8"/>
          <p:cNvSpPr/>
          <p:nvPr/>
        </p:nvSpPr>
        <p:spPr>
          <a:xfrm>
            <a:off x="1280160" y="256032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It runs in the cloud.</a:t>
            </a:r>
            <a:endParaRPr lang="en-US" sz="1700" dirty="0"/>
          </a:p>
        </p:txBody>
      </p:sp>
      <p:sp>
        <p:nvSpPr>
          <p:cNvPr id="11" name="Text 9"/>
          <p:cNvSpPr/>
          <p:nvPr/>
        </p:nvSpPr>
        <p:spPr>
          <a:xfrm>
            <a:off x="1280160" y="292608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No internet, no PY(). And don't expect web-scraping or local file I/O — you can only pull data from inside the workbook.</a:t>
            </a:r>
            <a:endParaRPr lang="en-US" sz="1300" dirty="0"/>
          </a:p>
        </p:txBody>
      </p:sp>
      <p:sp>
        <p:nvSpPr>
          <p:cNvPr id="12" name="Shape 10"/>
          <p:cNvSpPr/>
          <p:nvPr/>
        </p:nvSpPr>
        <p:spPr>
          <a:xfrm>
            <a:off x="457200" y="3566160"/>
            <a:ext cx="640080" cy="640080"/>
          </a:xfrm>
          <a:prstGeom prst="ellipse">
            <a:avLst/>
          </a:prstGeom>
          <a:solidFill>
            <a:srgbClr val="2A4365"/>
          </a:solidFill>
          <a:ln w="12700">
            <a:solidFill>
              <a:srgbClr val="2A4365"/>
            </a:solidFill>
            <a:prstDash val="solid"/>
          </a:ln>
        </p:spPr>
      </p:sp>
      <p:sp>
        <p:nvSpPr>
          <p:cNvPr id="13" name="Text 11"/>
          <p:cNvSpPr/>
          <p:nvPr/>
        </p:nvSpPr>
        <p:spPr>
          <a:xfrm>
            <a:off x="457200" y="3566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3</a:t>
            </a:r>
            <a:endParaRPr lang="en-US" sz="2400" dirty="0"/>
          </a:p>
        </p:txBody>
      </p:sp>
      <p:sp>
        <p:nvSpPr>
          <p:cNvPr id="14" name="Text 12"/>
          <p:cNvSpPr/>
          <p:nvPr/>
        </p:nvSpPr>
        <p:spPr>
          <a:xfrm>
            <a:off x="1280160" y="356616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Default is Python Object, not Excel Value.</a:t>
            </a:r>
            <a:endParaRPr lang="en-US" sz="1700" dirty="0"/>
          </a:p>
        </p:txBody>
      </p:sp>
      <p:sp>
        <p:nvSpPr>
          <p:cNvPr id="15" name="Text 13"/>
          <p:cNvSpPr/>
          <p:nvPr/>
        </p:nvSpPr>
        <p:spPr>
          <a:xfrm>
            <a:off x="1280160" y="393192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If you want the data to spill into the grid, toggle: Ctrl + Alt + Shift + M. Otherwise you'll think nothing happened.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1645920"/>
            <a:ext cx="8229600" cy="1280160"/>
          </a:xfrm>
          <a:prstGeom prst="rect">
            <a:avLst/>
          </a:prstGeom>
          <a:noFill/>
          <a:ln/>
        </p:spPr>
        <p:txBody>
          <a:bodyPr wrap="square" lIns="0" tIns="0" rIns="0" bIns="0" rtlCol="0" anchor="ctr"/>
          <a:lstStyle/>
          <a:p>
            <a:pPr algn="ctr" indent="0" marL="0">
              <a:buNone/>
            </a:pPr>
            <a:r>
              <a:rPr lang="en-US" sz="8800" b="1" dirty="0">
                <a:solidFill>
                  <a:srgbClr val="2A4365"/>
                </a:solidFill>
                <a:latin typeface="Arial Black" pitchFamily="34" charset="0"/>
                <a:ea typeface="Arial Black" pitchFamily="34" charset="-122"/>
                <a:cs typeface="Arial Black" pitchFamily="34" charset="-120"/>
              </a:rPr>
              <a:t>Questions?</a:t>
            </a:r>
            <a:endParaRPr lang="en-US" sz="8800" dirty="0"/>
          </a:p>
        </p:txBody>
      </p:sp>
      <p:sp>
        <p:nvSpPr>
          <p:cNvPr id="3" name="Text 1"/>
          <p:cNvSpPr/>
          <p:nvPr/>
        </p:nvSpPr>
        <p:spPr>
          <a:xfrm>
            <a:off x="457200" y="3017520"/>
            <a:ext cx="8229600" cy="457200"/>
          </a:xfrm>
          <a:prstGeom prst="rect">
            <a:avLst/>
          </a:prstGeom>
          <a:noFill/>
          <a:ln/>
        </p:spPr>
        <p:txBody>
          <a:bodyPr wrap="square" lIns="0" tIns="0" rIns="0" bIns="0" rtlCol="0" anchor="ctr"/>
          <a:lstStyle/>
          <a:p>
            <a:pPr algn="ctr" indent="0" marL="0">
              <a:buNone/>
            </a:pPr>
            <a:r>
              <a:rPr lang="en-US" sz="2000" i="1" dirty="0">
                <a:solidFill>
                  <a:srgbClr val="1A202C"/>
                </a:solidFill>
                <a:latin typeface="Arial" pitchFamily="34" charset="0"/>
                <a:ea typeface="Arial" pitchFamily="34" charset="-122"/>
                <a:cs typeface="Arial" pitchFamily="34" charset="-120"/>
              </a:rPr>
              <a:t>Drop them in chat — we'll work through as many as we can.</a:t>
            </a:r>
            <a:endParaRPr lang="en-US" sz="2000" dirty="0"/>
          </a:p>
        </p:txBody>
      </p:sp>
      <p:sp>
        <p:nvSpPr>
          <p:cNvPr id="4" name="Text 2"/>
          <p:cNvSpPr/>
          <p:nvPr/>
        </p:nvSpPr>
        <p:spPr>
          <a:xfrm>
            <a:off x="457200" y="3657600"/>
            <a:ext cx="8229600" cy="365760"/>
          </a:xfrm>
          <a:prstGeom prst="rect">
            <a:avLst/>
          </a:prstGeom>
          <a:noFill/>
          <a:ln/>
        </p:spPr>
        <p:txBody>
          <a:bodyPr wrap="square" lIns="0" tIns="0" rIns="0" bIns="0" rtlCol="0" anchor="ctr"/>
          <a:lstStyle/>
          <a:p>
            <a:pPr algn="ctr" indent="0" marL="0">
              <a:buNone/>
            </a:pPr>
            <a:r>
              <a:rPr lang="en-US" sz="1400" dirty="0">
                <a:solidFill>
                  <a:srgbClr val="4A5568"/>
                </a:solidFill>
                <a:latin typeface="Arial" pitchFamily="34" charset="0"/>
                <a:ea typeface="Arial" pitchFamily="34" charset="-122"/>
                <a:cs typeface="Arial" pitchFamily="34" charset="-120"/>
              </a:rPr>
              <a:t>Cheat sheet + sample files in your inbox after we wrap.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in Excel: Your First Hour</dc:title>
  <dc:subject>PptxGenJS Presentation</dc:subject>
  <dc:creator>PptxGenJS</dc:creator>
  <cp:lastModifiedBy>PptxGenJS</cp:lastModifiedBy>
  <cp:revision>1</cp:revision>
  <dcterms:created xsi:type="dcterms:W3CDTF">2026-05-18T13:45:11Z</dcterms:created>
  <dcterms:modified xsi:type="dcterms:W3CDTF">2026-05-18T13:45:11Z</dcterms:modified>
</cp:coreProperties>
</file>